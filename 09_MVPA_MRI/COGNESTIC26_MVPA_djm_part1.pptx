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78"/>
  </p:notesMasterIdLst>
  <p:handoutMasterIdLst>
    <p:handoutMasterId r:id="rId79"/>
  </p:handoutMasterIdLst>
  <p:sldIdLst>
    <p:sldId id="574" r:id="rId2"/>
    <p:sldId id="737" r:id="rId3"/>
    <p:sldId id="534" r:id="rId4"/>
    <p:sldId id="575" r:id="rId5"/>
    <p:sldId id="576" r:id="rId6"/>
    <p:sldId id="577" r:id="rId7"/>
    <p:sldId id="578" r:id="rId8"/>
    <p:sldId id="579" r:id="rId9"/>
    <p:sldId id="580" r:id="rId10"/>
    <p:sldId id="581" r:id="rId11"/>
    <p:sldId id="582" r:id="rId12"/>
    <p:sldId id="583" r:id="rId13"/>
    <p:sldId id="659" r:id="rId14"/>
    <p:sldId id="648" r:id="rId15"/>
    <p:sldId id="727" r:id="rId16"/>
    <p:sldId id="674" r:id="rId17"/>
    <p:sldId id="678" r:id="rId18"/>
    <p:sldId id="680" r:id="rId19"/>
    <p:sldId id="663" r:id="rId20"/>
    <p:sldId id="590" r:id="rId21"/>
    <p:sldId id="685" r:id="rId22"/>
    <p:sldId id="686" r:id="rId23"/>
    <p:sldId id="687" r:id="rId24"/>
    <p:sldId id="705" r:id="rId25"/>
    <p:sldId id="706" r:id="rId26"/>
    <p:sldId id="707" r:id="rId27"/>
    <p:sldId id="708" r:id="rId28"/>
    <p:sldId id="709" r:id="rId29"/>
    <p:sldId id="746" r:id="rId30"/>
    <p:sldId id="710" r:id="rId31"/>
    <p:sldId id="711" r:id="rId32"/>
    <p:sldId id="712" r:id="rId33"/>
    <p:sldId id="713" r:id="rId34"/>
    <p:sldId id="714" r:id="rId35"/>
    <p:sldId id="715" r:id="rId36"/>
    <p:sldId id="716" r:id="rId37"/>
    <p:sldId id="702" r:id="rId38"/>
    <p:sldId id="703" r:id="rId39"/>
    <p:sldId id="592" r:id="rId40"/>
    <p:sldId id="679" r:id="rId41"/>
    <p:sldId id="593" r:id="rId42"/>
    <p:sldId id="668" r:id="rId43"/>
    <p:sldId id="669" r:id="rId44"/>
    <p:sldId id="738" r:id="rId45"/>
    <p:sldId id="739" r:id="rId46"/>
    <p:sldId id="740" r:id="rId47"/>
    <p:sldId id="741" r:id="rId48"/>
    <p:sldId id="742" r:id="rId49"/>
    <p:sldId id="743" r:id="rId50"/>
    <p:sldId id="744" r:id="rId51"/>
    <p:sldId id="745" r:id="rId52"/>
    <p:sldId id="605" r:id="rId53"/>
    <p:sldId id="733" r:id="rId54"/>
    <p:sldId id="734" r:id="rId55"/>
    <p:sldId id="735" r:id="rId56"/>
    <p:sldId id="607" r:id="rId57"/>
    <p:sldId id="608" r:id="rId58"/>
    <p:sldId id="609" r:id="rId59"/>
    <p:sldId id="610" r:id="rId60"/>
    <p:sldId id="611" r:id="rId61"/>
    <p:sldId id="613" r:id="rId62"/>
    <p:sldId id="723" r:id="rId63"/>
    <p:sldId id="632" r:id="rId64"/>
    <p:sldId id="633" r:id="rId65"/>
    <p:sldId id="634" r:id="rId66"/>
    <p:sldId id="635" r:id="rId67"/>
    <p:sldId id="636" r:id="rId68"/>
    <p:sldId id="637" r:id="rId69"/>
    <p:sldId id="638" r:id="rId70"/>
    <p:sldId id="639" r:id="rId71"/>
    <p:sldId id="640" r:id="rId72"/>
    <p:sldId id="641" r:id="rId73"/>
    <p:sldId id="642" r:id="rId74"/>
    <p:sldId id="643" r:id="rId75"/>
    <p:sldId id="644" r:id="rId76"/>
    <p:sldId id="645" r:id="rId77"/>
  </p:sldIdLst>
  <p:sldSz cx="9144000" cy="6858000" type="screen4x3"/>
  <p:notesSz cx="6797675" cy="9926638"/>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plan/overview" id="{E0A0C6C4-A036-4A9D-8603-7E8121D830EF}">
          <p14:sldIdLst>
            <p14:sldId id="574"/>
            <p14:sldId id="737"/>
            <p14:sldId id="534"/>
          </p14:sldIdLst>
        </p14:section>
        <p14:section name="1st hour" id="{FB95F1A9-A47E-47DD-8139-9E8D930DCC80}">
          <p14:sldIdLst>
            <p14:sldId id="575"/>
            <p14:sldId id="576"/>
            <p14:sldId id="577"/>
            <p14:sldId id="578"/>
            <p14:sldId id="579"/>
            <p14:sldId id="580"/>
            <p14:sldId id="581"/>
            <p14:sldId id="582"/>
            <p14:sldId id="583"/>
            <p14:sldId id="659"/>
            <p14:sldId id="648"/>
            <p14:sldId id="727"/>
            <p14:sldId id="674"/>
            <p14:sldId id="678"/>
            <p14:sldId id="680"/>
            <p14:sldId id="663"/>
          </p14:sldIdLst>
        </p14:section>
        <p14:section name="2nd hour" id="{49558274-D7D9-451B-8BB3-140F6C5CCFBA}">
          <p14:sldIdLst>
            <p14:sldId id="590"/>
            <p14:sldId id="685"/>
            <p14:sldId id="686"/>
            <p14:sldId id="687"/>
            <p14:sldId id="705"/>
            <p14:sldId id="706"/>
            <p14:sldId id="707"/>
            <p14:sldId id="708"/>
            <p14:sldId id="709"/>
            <p14:sldId id="746"/>
            <p14:sldId id="710"/>
            <p14:sldId id="711"/>
            <p14:sldId id="712"/>
            <p14:sldId id="713"/>
            <p14:sldId id="714"/>
            <p14:sldId id="715"/>
            <p14:sldId id="716"/>
            <p14:sldId id="702"/>
            <p14:sldId id="703"/>
            <p14:sldId id="592"/>
            <p14:sldId id="679"/>
            <p14:sldId id="593"/>
            <p14:sldId id="668"/>
            <p14:sldId id="669"/>
            <p14:sldId id="738"/>
            <p14:sldId id="739"/>
            <p14:sldId id="740"/>
            <p14:sldId id="741"/>
            <p14:sldId id="742"/>
            <p14:sldId id="743"/>
            <p14:sldId id="744"/>
            <p14:sldId id="745"/>
          </p14:sldIdLst>
        </p14:section>
        <p14:section name="3rd hour" id="{FB1C2902-8BA3-4567-86BC-9D1D63D654F5}">
          <p14:sldIdLst>
            <p14:sldId id="605"/>
            <p14:sldId id="733"/>
            <p14:sldId id="734"/>
            <p14:sldId id="735"/>
            <p14:sldId id="607"/>
            <p14:sldId id="608"/>
            <p14:sldId id="609"/>
            <p14:sldId id="610"/>
            <p14:sldId id="611"/>
            <p14:sldId id="613"/>
            <p14:sldId id="723"/>
            <p14:sldId id="632"/>
            <p14:sldId id="633"/>
            <p14:sldId id="634"/>
            <p14:sldId id="635"/>
            <p14:sldId id="636"/>
            <p14:sldId id="637"/>
            <p14:sldId id="638"/>
            <p14:sldId id="639"/>
            <p14:sldId id="640"/>
            <p14:sldId id="641"/>
            <p14:sldId id="642"/>
            <p14:sldId id="643"/>
            <p14:sldId id="644"/>
            <p14:sldId id="64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6600"/>
    <a:srgbClr val="FF33CC"/>
    <a:srgbClr val="FFFFFF"/>
    <a:srgbClr val="FFCC00"/>
    <a:srgbClr val="0B00E2"/>
    <a:srgbClr val="0000FF"/>
    <a:srgbClr val="00FF00"/>
    <a:srgbClr val="23CFCF"/>
    <a:srgbClr val="D3917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11" autoAdjust="0"/>
    <p:restoredTop sz="82591" autoAdjust="0"/>
  </p:normalViewPr>
  <p:slideViewPr>
    <p:cSldViewPr>
      <p:cViewPr varScale="1">
        <p:scale>
          <a:sx n="130" d="100"/>
          <a:sy n="130" d="100"/>
        </p:scale>
        <p:origin x="1620"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6189" cy="497923"/>
          </a:xfrm>
          <a:prstGeom prst="rect">
            <a:avLst/>
          </a:prstGeom>
        </p:spPr>
        <p:txBody>
          <a:bodyPr vert="horz" lIns="91568" tIns="45784" rIns="91568" bIns="45784" rtlCol="0"/>
          <a:lstStyle>
            <a:lvl1pPr algn="l">
              <a:defRPr sz="1200"/>
            </a:lvl1pPr>
          </a:lstStyle>
          <a:p>
            <a:endParaRPr lang="en-GB"/>
          </a:p>
        </p:txBody>
      </p:sp>
      <p:sp>
        <p:nvSpPr>
          <p:cNvPr id="3" name="Date Placeholder 2"/>
          <p:cNvSpPr>
            <a:spLocks noGrp="1"/>
          </p:cNvSpPr>
          <p:nvPr>
            <p:ph type="dt" sz="quarter" idx="1"/>
          </p:nvPr>
        </p:nvSpPr>
        <p:spPr>
          <a:xfrm>
            <a:off x="3849899" y="0"/>
            <a:ext cx="2946189" cy="497923"/>
          </a:xfrm>
          <a:prstGeom prst="rect">
            <a:avLst/>
          </a:prstGeom>
        </p:spPr>
        <p:txBody>
          <a:bodyPr vert="horz" lIns="91568" tIns="45784" rIns="91568" bIns="45784" rtlCol="0"/>
          <a:lstStyle>
            <a:lvl1pPr algn="r">
              <a:defRPr sz="1200"/>
            </a:lvl1pPr>
          </a:lstStyle>
          <a:p>
            <a:fld id="{2FBF57AF-D3F5-4F4C-9284-61BFB8C87F6B}" type="datetimeFigureOut">
              <a:rPr lang="en-GB" smtClean="0"/>
              <a:t>21/09/2026</a:t>
            </a:fld>
            <a:endParaRPr lang="en-GB"/>
          </a:p>
        </p:txBody>
      </p:sp>
      <p:sp>
        <p:nvSpPr>
          <p:cNvPr id="4" name="Footer Placeholder 3"/>
          <p:cNvSpPr>
            <a:spLocks noGrp="1"/>
          </p:cNvSpPr>
          <p:nvPr>
            <p:ph type="ftr" sz="quarter" idx="2"/>
          </p:nvPr>
        </p:nvSpPr>
        <p:spPr>
          <a:xfrm>
            <a:off x="1" y="9428716"/>
            <a:ext cx="2946189" cy="497922"/>
          </a:xfrm>
          <a:prstGeom prst="rect">
            <a:avLst/>
          </a:prstGeom>
        </p:spPr>
        <p:txBody>
          <a:bodyPr vert="horz" lIns="91568" tIns="45784" rIns="91568" bIns="45784" rtlCol="0" anchor="b"/>
          <a:lstStyle>
            <a:lvl1pPr algn="l">
              <a:defRPr sz="1200"/>
            </a:lvl1pPr>
          </a:lstStyle>
          <a:p>
            <a:endParaRPr lang="en-GB"/>
          </a:p>
        </p:txBody>
      </p:sp>
      <p:sp>
        <p:nvSpPr>
          <p:cNvPr id="5" name="Slide Number Placeholder 4"/>
          <p:cNvSpPr>
            <a:spLocks noGrp="1"/>
          </p:cNvSpPr>
          <p:nvPr>
            <p:ph type="sldNum" sz="quarter" idx="3"/>
          </p:nvPr>
        </p:nvSpPr>
        <p:spPr>
          <a:xfrm>
            <a:off x="3849899" y="9428716"/>
            <a:ext cx="2946189" cy="497922"/>
          </a:xfrm>
          <a:prstGeom prst="rect">
            <a:avLst/>
          </a:prstGeom>
        </p:spPr>
        <p:txBody>
          <a:bodyPr vert="horz" lIns="91568" tIns="45784" rIns="91568" bIns="45784" rtlCol="0" anchor="b"/>
          <a:lstStyle>
            <a:lvl1pPr algn="r">
              <a:defRPr sz="1200"/>
            </a:lvl1pPr>
          </a:lstStyle>
          <a:p>
            <a:fld id="{9E62675F-B92E-4A65-AFDA-1E220F00B96D}" type="slidenum">
              <a:rPr lang="en-GB" smtClean="0"/>
              <a:t>‹#›</a:t>
            </a:fld>
            <a:endParaRPr lang="en-GB"/>
          </a:p>
        </p:txBody>
      </p:sp>
    </p:spTree>
    <p:extLst>
      <p:ext uri="{BB962C8B-B14F-4D97-AF65-F5344CB8AC3E}">
        <p14:creationId xmlns:p14="http://schemas.microsoft.com/office/powerpoint/2010/main" val="41011964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568" tIns="45784" rIns="91568" bIns="45784"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50444" y="0"/>
            <a:ext cx="2945659" cy="496332"/>
          </a:xfrm>
          <a:prstGeom prst="rect">
            <a:avLst/>
          </a:prstGeom>
        </p:spPr>
        <p:txBody>
          <a:bodyPr vert="horz" lIns="91568" tIns="45784" rIns="91568" bIns="45784" rtlCol="0"/>
          <a:lstStyle>
            <a:lvl1pPr algn="r" eaLnBrk="1" fontAlgn="auto" hangingPunct="1">
              <a:spcBef>
                <a:spcPts val="0"/>
              </a:spcBef>
              <a:spcAft>
                <a:spcPts val="0"/>
              </a:spcAft>
              <a:defRPr sz="1200">
                <a:latin typeface="+mn-lt"/>
              </a:defRPr>
            </a:lvl1pPr>
          </a:lstStyle>
          <a:p>
            <a:pPr>
              <a:defRPr/>
            </a:pPr>
            <a:fld id="{7980DEA8-C52D-4C82-A0F7-53C8005FA717}" type="datetimeFigureOut">
              <a:rPr lang="en-GB"/>
              <a:pPr>
                <a:defRPr/>
              </a:pPr>
              <a:t>21/09/2026</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568" tIns="45784" rIns="91568" bIns="45784" rtlCol="0" anchor="ctr"/>
          <a:lstStyle/>
          <a:p>
            <a:pPr lvl="0"/>
            <a:endParaRPr lang="en-GB" noProof="0" smtClean="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568" tIns="45784" rIns="91568" bIns="45784"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smtClean="0"/>
          </a:p>
        </p:txBody>
      </p:sp>
      <p:sp>
        <p:nvSpPr>
          <p:cNvPr id="6" name="Footer Placeholder 5"/>
          <p:cNvSpPr>
            <a:spLocks noGrp="1"/>
          </p:cNvSpPr>
          <p:nvPr>
            <p:ph type="ftr" sz="quarter" idx="4"/>
          </p:nvPr>
        </p:nvSpPr>
        <p:spPr>
          <a:xfrm>
            <a:off x="0" y="9428583"/>
            <a:ext cx="2945659" cy="496332"/>
          </a:xfrm>
          <a:prstGeom prst="rect">
            <a:avLst/>
          </a:prstGeom>
        </p:spPr>
        <p:txBody>
          <a:bodyPr vert="horz" lIns="91568" tIns="45784" rIns="91568" bIns="45784"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50444" y="9428583"/>
            <a:ext cx="2945659" cy="496332"/>
          </a:xfrm>
          <a:prstGeom prst="rect">
            <a:avLst/>
          </a:prstGeom>
        </p:spPr>
        <p:txBody>
          <a:bodyPr vert="horz" wrap="square" lIns="91568" tIns="45784" rIns="91568" bIns="45784" numCol="1" anchor="b" anchorCtr="0" compatLnSpc="1">
            <a:prstTxWarp prst="textNoShape">
              <a:avLst/>
            </a:prstTxWarp>
          </a:bodyPr>
          <a:lstStyle>
            <a:lvl1pPr algn="r" eaLnBrk="1" hangingPunct="1">
              <a:defRPr sz="1200"/>
            </a:lvl1pPr>
          </a:lstStyle>
          <a:p>
            <a:pPr>
              <a:defRPr/>
            </a:pPr>
            <a:fld id="{B077B847-0E78-4FDE-8257-2FEBC06720F7}" type="slidenum">
              <a:rPr lang="en-GB" altLang="en-US"/>
              <a:pPr>
                <a:defRPr/>
              </a:pPr>
              <a:t>‹#›</a:t>
            </a:fld>
            <a:endParaRPr lang="en-GB" altLang="en-US"/>
          </a:p>
        </p:txBody>
      </p:sp>
    </p:spTree>
    <p:extLst>
      <p:ext uri="{BB962C8B-B14F-4D97-AF65-F5344CB8AC3E}">
        <p14:creationId xmlns:p14="http://schemas.microsoft.com/office/powerpoint/2010/main" val="1148580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imaging.mrc-cbu.cam.ac.uk/methods/COGNESTIC2022"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imaging.mrc-cbu.cam.ac.uk/methods/COGNESTIC2023"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https://www.mrc-cbu.cam.ac.uk/events/cognestic-2026/</a:t>
            </a:r>
          </a:p>
          <a:p>
            <a:endParaRPr lang="en-GB" dirty="0" smtClean="0"/>
          </a:p>
          <a:p>
            <a:r>
              <a:rPr lang="en-GB" dirty="0" smtClean="0"/>
              <a:t>https://github.com/MRC-CBU/COGNESTIC</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a:t>
            </a:fld>
            <a:endParaRPr lang="en-GB" altLang="en-US"/>
          </a:p>
        </p:txBody>
      </p:sp>
    </p:spTree>
    <p:extLst>
      <p:ext uri="{BB962C8B-B14F-4D97-AF65-F5344CB8AC3E}">
        <p14:creationId xmlns:p14="http://schemas.microsoft.com/office/powerpoint/2010/main" val="70512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a:t>
            </a:fld>
            <a:endParaRPr lang="en-GB" altLang="en-US"/>
          </a:p>
        </p:txBody>
      </p:sp>
    </p:spTree>
    <p:extLst>
      <p:ext uri="{BB962C8B-B14F-4D97-AF65-F5344CB8AC3E}">
        <p14:creationId xmlns:p14="http://schemas.microsoft.com/office/powerpoint/2010/main" val="3903585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For Multivariate Bayes, see e.g. </a:t>
            </a:r>
            <a:r>
              <a:rPr lang="en-GB" dirty="0" err="1" smtClean="0"/>
              <a:t>Friston</a:t>
            </a:r>
            <a:r>
              <a:rPr lang="en-GB" dirty="0" smtClean="0"/>
              <a:t> et al., 2008: https://pubmed.ncbi.nlm.nih.gov/17919928/</a:t>
            </a:r>
          </a:p>
          <a:p>
            <a:r>
              <a:rPr lang="en-GB" dirty="0" smtClean="0"/>
              <a:t>For</a:t>
            </a:r>
            <a:r>
              <a:rPr lang="en-GB" baseline="0" dirty="0" smtClean="0"/>
              <a:t> Pattern Component Modelling see </a:t>
            </a:r>
            <a:r>
              <a:rPr lang="en-GB" baseline="0" dirty="0" err="1" smtClean="0"/>
              <a:t>Diedrichsen</a:t>
            </a:r>
            <a:r>
              <a:rPr lang="en-GB" baseline="0" dirty="0" smtClean="0"/>
              <a:t> et al. 2018: https://www.sciencedirect.com/science/article/pii/S1053811917306985 (this uses priors so is a hierarchical Bayesian model)</a:t>
            </a:r>
          </a:p>
          <a:p>
            <a:r>
              <a:rPr lang="en-GB" baseline="0" dirty="0" smtClean="0"/>
              <a:t>For cross-validated MANOVA see </a:t>
            </a:r>
            <a:r>
              <a:rPr lang="en-GB" baseline="0" dirty="0" err="1" smtClean="0"/>
              <a:t>Allefeld</a:t>
            </a:r>
            <a:r>
              <a:rPr lang="en-GB" baseline="0" dirty="0" smtClean="0"/>
              <a:t> &amp; Haynes, 2014: https://pubmed.ncbi.nlm.nih.gov/24296330/  (I think this is equivalent to, or a specific case of, PCM)</a:t>
            </a:r>
          </a:p>
          <a:p>
            <a:r>
              <a:rPr lang="en-GB" baseline="0" dirty="0" smtClean="0"/>
              <a:t>For Inverted Encoding Models, see e.g. Sprague…</a:t>
            </a:r>
            <a:r>
              <a:rPr lang="en-GB" baseline="0" dirty="0" err="1" smtClean="0"/>
              <a:t>Serences</a:t>
            </a:r>
            <a:r>
              <a:rPr lang="en-GB" baseline="0" dirty="0" smtClean="0"/>
              <a:t> 2015: https://www.ncbi.nlm.nih.gov/pmc/articles/PMC4532299/</a:t>
            </a:r>
          </a:p>
          <a:p>
            <a:endParaRPr lang="en-GB" baseline="0" dirty="0" smtClean="0"/>
          </a:p>
          <a:p>
            <a:r>
              <a:rPr lang="en-GB" baseline="0" dirty="0" smtClean="0"/>
              <a:t>(IEM and related reconstruction techniques involve predicting multiple experimental features at once)</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a:t>
            </a:fld>
            <a:endParaRPr lang="en-GB" altLang="en-US"/>
          </a:p>
        </p:txBody>
      </p:sp>
    </p:spTree>
    <p:extLst>
      <p:ext uri="{BB962C8B-B14F-4D97-AF65-F5344CB8AC3E}">
        <p14:creationId xmlns:p14="http://schemas.microsoft.com/office/powerpoint/2010/main" val="334221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…Real data are noisy, so we need to test whether pattern differences are consistent across repeated presentations…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6</a:t>
            </a:fld>
            <a:endParaRPr lang="en-GB" altLang="en-US"/>
          </a:p>
        </p:txBody>
      </p:sp>
    </p:spTree>
    <p:extLst>
      <p:ext uri="{BB962C8B-B14F-4D97-AF65-F5344CB8AC3E}">
        <p14:creationId xmlns:p14="http://schemas.microsoft.com/office/powerpoint/2010/main" val="2871141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7</a:t>
            </a:fld>
            <a:endParaRPr lang="en-GB" altLang="en-US"/>
          </a:p>
        </p:txBody>
      </p:sp>
    </p:spTree>
    <p:extLst>
      <p:ext uri="{BB962C8B-B14F-4D97-AF65-F5344CB8AC3E}">
        <p14:creationId xmlns:p14="http://schemas.microsoft.com/office/powerpoint/2010/main" val="3794235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Listed</a:t>
            </a:r>
            <a:r>
              <a:rPr lang="en-GB" baseline="0" dirty="0" smtClean="0"/>
              <a:t> in r</a:t>
            </a:r>
            <a:r>
              <a:rPr lang="en-GB" dirty="0" smtClean="0"/>
              <a:t>everse order of importance: It’s the sensitivity that allows interesting questions to be addressed, and in turn</a:t>
            </a:r>
            <a:r>
              <a:rPr lang="en-GB" baseline="0" dirty="0" smtClean="0"/>
              <a:t> this makes it popular.</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8</a:t>
            </a:fld>
            <a:endParaRPr lang="en-GB" altLang="en-US"/>
          </a:p>
        </p:txBody>
      </p:sp>
    </p:spTree>
    <p:extLst>
      <p:ext uri="{BB962C8B-B14F-4D97-AF65-F5344CB8AC3E}">
        <p14:creationId xmlns:p14="http://schemas.microsoft.com/office/powerpoint/2010/main" val="946731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5680">
              <a:defRPr/>
            </a:pPr>
            <a:r>
              <a:rPr lang="en-GB" dirty="0" smtClean="0"/>
              <a:t>Each pattern can be interpreted as a point in space. Each feature (e.g. voxel) represents a separate axis of this space, and values are coordinates. Easiest</a:t>
            </a:r>
            <a:r>
              <a:rPr lang="en-GB" baseline="0" dirty="0" smtClean="0"/>
              <a:t> to visualise in 2 dimensions.</a:t>
            </a:r>
          </a:p>
          <a:p>
            <a:pPr defTabSz="915680">
              <a:defRPr/>
            </a:pPr>
            <a:endParaRPr lang="en-GB" dirty="0" smtClean="0"/>
          </a:p>
          <a:p>
            <a:pPr defTabSz="915680">
              <a:defRPr/>
            </a:pPr>
            <a:r>
              <a:rPr lang="en-GB" dirty="0" smtClean="0"/>
              <a:t>Note</a:t>
            </a:r>
            <a:r>
              <a:rPr lang="en-GB" baseline="0" dirty="0" smtClean="0"/>
              <a:t> – we won’t cover multivariate regression, but it’s conceptually similar: instead of predicting a binary label, the model predicts a continuous label. To evaluate performance, the predicted labels across items in the test set can be correlated with their actual labels.</a:t>
            </a:r>
          </a:p>
          <a:p>
            <a:pPr defTabSz="915680">
              <a:defRPr/>
            </a:pPr>
            <a:endParaRPr lang="en-GB" baseline="0" dirty="0" smtClean="0"/>
          </a:p>
          <a:p>
            <a:pPr defTabSz="915680">
              <a:defRPr/>
            </a:pPr>
            <a:r>
              <a:rPr lang="en-GB" dirty="0"/>
              <a:t>“To deal with … a 14 dimensional space, visualize a 3D space and say ‘fourteen’ very loudly. Everyone does it.” (Geoffrey Hinton)</a:t>
            </a:r>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9</a:t>
            </a:fld>
            <a:endParaRPr lang="en-GB" altLang="en-US"/>
          </a:p>
        </p:txBody>
      </p:sp>
    </p:spTree>
    <p:extLst>
      <p:ext uri="{BB962C8B-B14F-4D97-AF65-F5344CB8AC3E}">
        <p14:creationId xmlns:p14="http://schemas.microsoft.com/office/powerpoint/2010/main" val="401604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Point 2 implies that it can be useful to include “noise voxels” in the pattern (to the extent that noise is correlated).</a:t>
            </a:r>
          </a:p>
          <a:p>
            <a:endParaRPr lang="en-GB" dirty="0" smtClean="0"/>
          </a:p>
          <a:p>
            <a:r>
              <a:rPr lang="en-GB" dirty="0" smtClean="0"/>
              <a:t>Note that MVPA</a:t>
            </a:r>
            <a:r>
              <a:rPr lang="en-GB" baseline="0" dirty="0" smtClean="0"/>
              <a:t> is not always more sensitive. Requirement for cross-validation means that 1) model does not use all data at once and 2) there is a risk of overfitting. Univariate analysis on smoothed/averaged data might be more sensitive if its assumptions of homogeneous and consistent activation are correct. (See e.g. </a:t>
            </a:r>
            <a:r>
              <a:rPr lang="en-GB" baseline="0" dirty="0" err="1" smtClean="0"/>
              <a:t>Kriegeskorte</a:t>
            </a:r>
            <a:r>
              <a:rPr lang="en-GB" baseline="0" dirty="0" smtClean="0"/>
              <a:t> 2006)</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11</a:t>
            </a:fld>
            <a:endParaRPr lang="en-GB" altLang="en-US"/>
          </a:p>
        </p:txBody>
      </p:sp>
    </p:spTree>
    <p:extLst>
      <p:ext uri="{BB962C8B-B14F-4D97-AF65-F5344CB8AC3E}">
        <p14:creationId xmlns:p14="http://schemas.microsoft.com/office/powerpoint/2010/main" val="1093854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Orientation column in human is about 0.8mm</a:t>
            </a:r>
            <a:r>
              <a:rPr lang="en-GB" baseline="0" dirty="0" smtClean="0"/>
              <a:t> diameter (</a:t>
            </a:r>
            <a:r>
              <a:rPr lang="en-GB" baseline="0" dirty="0" err="1" smtClean="0"/>
              <a:t>Yacoub</a:t>
            </a:r>
            <a:r>
              <a:rPr lang="en-GB" baseline="0" dirty="0" smtClean="0"/>
              <a:t> 2008)</a:t>
            </a:r>
          </a:p>
          <a:p>
            <a:endParaRPr lang="en-GB" baseline="0" dirty="0" smtClean="0"/>
          </a:p>
          <a:p>
            <a:r>
              <a:rPr lang="en-GB" dirty="0"/>
              <a:t>In general, the matched filter theorem (see </a:t>
            </a:r>
            <a:r>
              <a:rPr lang="en-GB" dirty="0" err="1"/>
              <a:t>Rik’s</a:t>
            </a:r>
            <a:r>
              <a:rPr lang="en-GB" dirty="0"/>
              <a:t> session) implies that it is optimal to smooth your data with a kernel matched to the spatial resolution at which you think your experimental feature is encoded in the brain patterns.</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12</a:t>
            </a:fld>
            <a:endParaRPr lang="en-GB" altLang="en-US"/>
          </a:p>
        </p:txBody>
      </p:sp>
    </p:spTree>
    <p:extLst>
      <p:ext uri="{BB962C8B-B14F-4D97-AF65-F5344CB8AC3E}">
        <p14:creationId xmlns:p14="http://schemas.microsoft.com/office/powerpoint/2010/main" val="1743707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601"/>
              </a:spcAft>
              <a:buFont typeface="Wingdings" panose="05000000000000000000" pitchFamily="2" charset="2"/>
              <a:buChar char="Ø"/>
            </a:pPr>
            <a:r>
              <a:rPr lang="en-US" dirty="0"/>
              <a:t>For </a:t>
            </a:r>
            <a:r>
              <a:rPr lang="en-US" b="1" dirty="0" err="1"/>
              <a:t>Matlab</a:t>
            </a:r>
            <a:r>
              <a:rPr lang="en-US" b="1" dirty="0"/>
              <a:t> demos using The Decoding Toolbox</a:t>
            </a:r>
            <a:r>
              <a:rPr lang="en-US" dirty="0"/>
              <a:t>, see:</a:t>
            </a:r>
            <a:br>
              <a:rPr lang="en-US" dirty="0"/>
            </a:br>
            <a:r>
              <a:rPr lang="en-US" dirty="0">
                <a:cs typeface="Arial" panose="020B0604020202020204" pitchFamily="34" charset="0"/>
                <a:hlinkClick r:id="rId3"/>
              </a:rPr>
              <a:t>https://imaging.mrc-cbu.cam.ac.uk/methods/COGNESTIC2022</a:t>
            </a:r>
            <a:r>
              <a:rPr lang="en-US" dirty="0">
                <a:cs typeface="Arial" panose="020B0604020202020204" pitchFamily="34" charset="0"/>
              </a:rPr>
              <a:t>    </a:t>
            </a:r>
          </a:p>
          <a:p>
            <a:pPr>
              <a:spcBef>
                <a:spcPts val="0"/>
              </a:spcBef>
              <a:spcAft>
                <a:spcPts val="601"/>
              </a:spcAft>
              <a:buFont typeface="Wingdings" panose="05000000000000000000" pitchFamily="2" charset="2"/>
              <a:buChar char="Ø"/>
            </a:pPr>
            <a:endParaRPr lang="en-US" dirty="0">
              <a:cs typeface="Arial" panose="020B0604020202020204" pitchFamily="34" charset="0"/>
            </a:endParaRPr>
          </a:p>
          <a:p>
            <a:pPr>
              <a:spcBef>
                <a:spcPts val="0"/>
              </a:spcBef>
              <a:spcAft>
                <a:spcPts val="601"/>
              </a:spcAft>
              <a:buFont typeface="Wingdings" panose="05000000000000000000" pitchFamily="2" charset="2"/>
              <a:buChar char="Ø"/>
            </a:pPr>
            <a:r>
              <a:rPr lang="en-US" dirty="0"/>
              <a:t>For </a:t>
            </a:r>
            <a:r>
              <a:rPr lang="en-US" b="1" dirty="0"/>
              <a:t>Octave demos using </a:t>
            </a:r>
            <a:r>
              <a:rPr lang="en-US" b="1" dirty="0" err="1"/>
              <a:t>CoSMoMVPA</a:t>
            </a:r>
            <a:r>
              <a:rPr lang="en-US" dirty="0"/>
              <a:t>, see:</a:t>
            </a:r>
            <a:br>
              <a:rPr lang="en-US" dirty="0"/>
            </a:br>
            <a:r>
              <a:rPr lang="en-US" dirty="0">
                <a:cs typeface="Arial" panose="020B0604020202020204" pitchFamily="34" charset="0"/>
                <a:hlinkClick r:id="rId4"/>
              </a:rPr>
              <a:t>https://imaging.mrc-cbu.cam.ac.uk/methods/COGNESTIC2023</a:t>
            </a:r>
            <a:r>
              <a:rPr lang="en-US" dirty="0">
                <a:cs typeface="Arial" panose="020B0604020202020204" pitchFamily="34" charset="0"/>
              </a:rPr>
              <a:t> </a:t>
            </a:r>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13</a:t>
            </a:fld>
            <a:endParaRPr lang="en-GB" altLang="en-US"/>
          </a:p>
        </p:txBody>
      </p:sp>
    </p:spTree>
    <p:extLst>
      <p:ext uri="{BB962C8B-B14F-4D97-AF65-F5344CB8AC3E}">
        <p14:creationId xmlns:p14="http://schemas.microsoft.com/office/powerpoint/2010/main" val="3225544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14</a:t>
            </a:fld>
            <a:endParaRPr lang="en-GB" altLang="en-US"/>
          </a:p>
        </p:txBody>
      </p:sp>
    </p:spTree>
    <p:extLst>
      <p:ext uri="{BB962C8B-B14F-4D97-AF65-F5344CB8AC3E}">
        <p14:creationId xmlns:p14="http://schemas.microsoft.com/office/powerpoint/2010/main" val="1378995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5680">
              <a:defRPr/>
            </a:pPr>
            <a:r>
              <a:rPr lang="en-GB" dirty="0" smtClean="0"/>
              <a:t>To start VM:</a:t>
            </a:r>
          </a:p>
          <a:p>
            <a:pPr defTabSz="915680">
              <a:defRPr/>
            </a:pPr>
            <a:r>
              <a:rPr lang="en-GB" baseline="0" dirty="0" smtClean="0"/>
              <a:t> - </a:t>
            </a:r>
            <a:r>
              <a:rPr lang="en-GB" dirty="0" smtClean="0"/>
              <a:t>go to labs.azure.com (https://labs.azure.com/virtualmachines) </a:t>
            </a:r>
          </a:p>
          <a:p>
            <a:pPr defTabSz="915680">
              <a:defRPr/>
            </a:pPr>
            <a:r>
              <a:rPr lang="en-GB" dirty="0" smtClean="0"/>
              <a:t> - (Reset password if needed, e.g. first time or if re-imaged)</a:t>
            </a:r>
          </a:p>
          <a:p>
            <a:pPr defTabSz="915680">
              <a:defRPr/>
            </a:pPr>
            <a:r>
              <a:rPr lang="en-GB" dirty="0" smtClean="0"/>
              <a:t> - Start machine if not running;</a:t>
            </a:r>
          </a:p>
          <a:p>
            <a:pPr defTabSz="915680">
              <a:defRPr/>
            </a:pPr>
            <a:r>
              <a:rPr lang="en-GB" dirty="0" smtClean="0"/>
              <a:t> - Connect via RDP (can save</a:t>
            </a:r>
            <a:r>
              <a:rPr lang="en-GB" baseline="0" dirty="0" smtClean="0"/>
              <a:t> and reuse link)</a:t>
            </a:r>
            <a:endParaRPr lang="en-GB" dirty="0" smtClean="0"/>
          </a:p>
          <a:p>
            <a:pPr defTabSz="915680">
              <a:defRPr/>
            </a:pPr>
            <a:endParaRPr lang="en-GB" dirty="0" smtClean="0"/>
          </a:p>
          <a:p>
            <a:pPr defTabSz="915680">
              <a:defRPr/>
            </a:pPr>
            <a:r>
              <a:rPr lang="en-GB" dirty="0" smtClean="0"/>
              <a:t>Some other potentially useful packages:</a:t>
            </a:r>
          </a:p>
          <a:p>
            <a:pPr defTabSz="915680">
              <a:defRPr/>
            </a:pPr>
            <a:r>
              <a:rPr lang="en-GB" dirty="0" smtClean="0"/>
              <a:t>- </a:t>
            </a:r>
            <a:r>
              <a:rPr lang="en-GB" dirty="0" err="1" smtClean="0"/>
              <a:t>scipy</a:t>
            </a:r>
            <a:r>
              <a:rPr lang="en-GB" dirty="0" smtClean="0"/>
              <a:t> can load .mat files with </a:t>
            </a:r>
            <a:r>
              <a:rPr lang="en-GB" dirty="0" err="1" smtClean="0"/>
              <a:t>io.loadmat</a:t>
            </a:r>
            <a:r>
              <a:rPr lang="en-GB" dirty="0" smtClean="0"/>
              <a:t> and adds other </a:t>
            </a:r>
            <a:r>
              <a:rPr lang="en-GB" dirty="0" err="1" smtClean="0"/>
              <a:t>matlab</a:t>
            </a:r>
            <a:r>
              <a:rPr lang="en-GB" dirty="0" smtClean="0"/>
              <a:t> functionality like </a:t>
            </a:r>
            <a:r>
              <a:rPr lang="en-GB" dirty="0" err="1" smtClean="0"/>
              <a:t>squareform</a:t>
            </a:r>
            <a:r>
              <a:rPr lang="en-GB" dirty="0" smtClean="0"/>
              <a:t> and </a:t>
            </a:r>
            <a:r>
              <a:rPr lang="en-GB" baseline="0" dirty="0" smtClean="0"/>
              <a:t>standard statistics (e.g. t-tests)</a:t>
            </a:r>
          </a:p>
          <a:p>
            <a:pPr defTabSz="915680">
              <a:defRPr/>
            </a:pPr>
            <a:r>
              <a:rPr lang="en-GB" baseline="0" dirty="0" smtClean="0"/>
              <a:t>- glob to search filenames with wildcards (not used here)</a:t>
            </a:r>
          </a:p>
          <a:p>
            <a:r>
              <a:rPr lang="en-GB" baseline="0" dirty="0" smtClean="0"/>
              <a:t>- collections provides extra datatypes e.g. </a:t>
            </a:r>
            <a:r>
              <a:rPr lang="en-GB" baseline="0" dirty="0" err="1" smtClean="0"/>
              <a:t>defaultdict</a:t>
            </a:r>
            <a:endParaRPr lang="en-GB" baseline="0" dirty="0" smtClean="0"/>
          </a:p>
          <a:p>
            <a:pPr defTabSz="915680">
              <a:defRPr/>
            </a:pPr>
            <a:r>
              <a:rPr lang="en-GB" baseline="0" dirty="0" smtClean="0"/>
              <a:t>- </a:t>
            </a:r>
            <a:r>
              <a:rPr lang="en-GB" baseline="0" dirty="0" err="1" smtClean="0"/>
              <a:t>nibabel</a:t>
            </a:r>
            <a:r>
              <a:rPr lang="en-GB" baseline="0" dirty="0" smtClean="0"/>
              <a:t> can process </a:t>
            </a:r>
            <a:r>
              <a:rPr lang="en-GB" baseline="0" dirty="0" err="1" smtClean="0"/>
              <a:t>analyze</a:t>
            </a:r>
            <a:r>
              <a:rPr lang="en-GB" baseline="0" dirty="0" smtClean="0"/>
              <a:t>/</a:t>
            </a:r>
            <a:r>
              <a:rPr lang="en-GB" baseline="0" dirty="0" err="1" smtClean="0"/>
              <a:t>nifti</a:t>
            </a:r>
            <a:r>
              <a:rPr lang="en-GB" baseline="0" dirty="0" smtClean="0"/>
              <a:t> files with load() and load().</a:t>
            </a:r>
            <a:r>
              <a:rPr lang="en-GB" baseline="0" dirty="0" err="1" smtClean="0"/>
              <a:t>get_fdata</a:t>
            </a:r>
            <a:endParaRPr lang="en-GB" baseline="0" dirty="0" smtClean="0"/>
          </a:p>
          <a:p>
            <a:endParaRPr lang="en-GB" baseline="0" dirty="0" smtClean="0"/>
          </a:p>
          <a:p>
            <a:r>
              <a:rPr lang="en-GB" baseline="0" dirty="0" smtClean="0"/>
              <a:t>Can do: from [package] import [module] as [</a:t>
            </a:r>
            <a:r>
              <a:rPr lang="en-GB" baseline="0" dirty="0" err="1" smtClean="0"/>
              <a:t>newname</a:t>
            </a:r>
            <a:r>
              <a:rPr lang="en-GB" baseline="0" dirty="0" smtClean="0"/>
              <a:t>]</a:t>
            </a:r>
          </a:p>
          <a:p>
            <a:endParaRPr lang="en-GB" baseline="0" dirty="0" smtClean="0"/>
          </a:p>
          <a:p>
            <a:r>
              <a:rPr lang="en-GB" baseline="0" dirty="0" smtClean="0"/>
              <a:t>To use </a:t>
            </a:r>
            <a:r>
              <a:rPr lang="en-GB" baseline="0" dirty="0" err="1" smtClean="0"/>
              <a:t>VScode</a:t>
            </a:r>
            <a:r>
              <a:rPr lang="en-GB" baseline="0" dirty="0" smtClean="0"/>
              <a:t>:</a:t>
            </a:r>
          </a:p>
          <a:p>
            <a:r>
              <a:rPr lang="en-GB" baseline="0" dirty="0" smtClean="0"/>
              <a:t>Install Remote SSH</a:t>
            </a:r>
          </a:p>
          <a:p>
            <a:r>
              <a:rPr lang="en-GB" baseline="0" dirty="0" smtClean="0"/>
              <a:t>Click green button at bottom left; connect current window to host</a:t>
            </a:r>
          </a:p>
          <a:p>
            <a:r>
              <a:rPr lang="en-GB" baseline="0" dirty="0" smtClean="0"/>
              <a:t>Enter e.g. dm01@login-j03 + password</a:t>
            </a:r>
          </a:p>
          <a:p>
            <a:endParaRPr lang="en-GB" baseline="0" dirty="0" smtClean="0"/>
          </a:p>
          <a:p>
            <a:r>
              <a:rPr lang="en-GB" baseline="0" dirty="0" smtClean="0"/>
              <a:t>Some other </a:t>
            </a:r>
            <a:r>
              <a:rPr lang="en-GB" baseline="0" dirty="0" err="1" smtClean="0"/>
              <a:t>conda</a:t>
            </a:r>
            <a:r>
              <a:rPr lang="en-GB" baseline="0" dirty="0" smtClean="0"/>
              <a:t> commands:</a:t>
            </a:r>
          </a:p>
          <a:p>
            <a:r>
              <a:rPr lang="en-GB" baseline="0" dirty="0" smtClean="0"/>
              <a:t>“</a:t>
            </a:r>
            <a:r>
              <a:rPr lang="en-GB" baseline="0" dirty="0" err="1" smtClean="0"/>
              <a:t>conda</a:t>
            </a:r>
            <a:r>
              <a:rPr lang="en-GB" baseline="0" dirty="0" smtClean="0"/>
              <a:t> </a:t>
            </a:r>
            <a:r>
              <a:rPr lang="en-GB" baseline="0" dirty="0" err="1" smtClean="0"/>
              <a:t>env</a:t>
            </a:r>
            <a:r>
              <a:rPr lang="en-GB" baseline="0" dirty="0" smtClean="0"/>
              <a:t> list” to see available environments</a:t>
            </a:r>
          </a:p>
          <a:p>
            <a:r>
              <a:rPr lang="en-GB" baseline="0" dirty="0" smtClean="0"/>
              <a:t>“</a:t>
            </a:r>
            <a:r>
              <a:rPr lang="en-GB" baseline="0" dirty="0" err="1" smtClean="0"/>
              <a:t>conda</a:t>
            </a:r>
            <a:r>
              <a:rPr lang="en-GB" baseline="0" dirty="0" smtClean="0"/>
              <a:t> list” to see software in active environment</a:t>
            </a:r>
          </a:p>
          <a:p>
            <a:endParaRPr lang="en-GB" baseline="0" dirty="0" smtClean="0"/>
          </a:p>
          <a:p>
            <a:r>
              <a:rPr lang="en-GB" baseline="0" dirty="0" smtClean="0"/>
              <a:t>Note: for this demo, important to start </a:t>
            </a:r>
            <a:r>
              <a:rPr lang="en-GB" baseline="0" dirty="0" err="1" smtClean="0"/>
              <a:t>jupyter</a:t>
            </a:r>
            <a:r>
              <a:rPr lang="en-GB" baseline="0" dirty="0" smtClean="0"/>
              <a:t> lab in the COGNESTIC folder, to have access to data in module 06.</a:t>
            </a:r>
          </a:p>
          <a:p>
            <a:endParaRPr lang="en-GB" baseline="0" dirty="0" smtClean="0"/>
          </a:p>
          <a:p>
            <a:endParaRPr lang="en-GB" baseline="0" dirty="0" smtClean="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15</a:t>
            </a:fld>
            <a:endParaRPr lang="en-GB" altLang="en-US"/>
          </a:p>
        </p:txBody>
      </p:sp>
    </p:spTree>
    <p:extLst>
      <p:ext uri="{BB962C8B-B14F-4D97-AF65-F5344CB8AC3E}">
        <p14:creationId xmlns:p14="http://schemas.microsoft.com/office/powerpoint/2010/main" val="3830375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16</a:t>
            </a:fld>
            <a:endParaRPr lang="en-GB" altLang="en-US"/>
          </a:p>
        </p:txBody>
      </p:sp>
    </p:spTree>
    <p:extLst>
      <p:ext uri="{BB962C8B-B14F-4D97-AF65-F5344CB8AC3E}">
        <p14:creationId xmlns:p14="http://schemas.microsoft.com/office/powerpoint/2010/main" val="137689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17</a:t>
            </a:fld>
            <a:endParaRPr lang="en-GB" altLang="en-US"/>
          </a:p>
        </p:txBody>
      </p:sp>
    </p:spTree>
    <p:extLst>
      <p:ext uri="{BB962C8B-B14F-4D97-AF65-F5344CB8AC3E}">
        <p14:creationId xmlns:p14="http://schemas.microsoft.com/office/powerpoint/2010/main" val="227554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18</a:t>
            </a:fld>
            <a:endParaRPr lang="en-GB" altLang="en-US"/>
          </a:p>
        </p:txBody>
      </p:sp>
    </p:spTree>
    <p:extLst>
      <p:ext uri="{BB962C8B-B14F-4D97-AF65-F5344CB8AC3E}">
        <p14:creationId xmlns:p14="http://schemas.microsoft.com/office/powerpoint/2010/main" val="1732718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5680">
              <a:defRPr/>
            </a:pPr>
            <a:r>
              <a:rPr lang="en-GB" dirty="0" smtClean="0"/>
              <a:t>(Coffee</a:t>
            </a:r>
            <a:r>
              <a:rPr lang="en-GB" baseline="0" dirty="0" smtClean="0"/>
              <a:t> break around here?)</a:t>
            </a:r>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19</a:t>
            </a:fld>
            <a:endParaRPr lang="en-GB" altLang="en-US"/>
          </a:p>
        </p:txBody>
      </p:sp>
    </p:spTree>
    <p:extLst>
      <p:ext uri="{BB962C8B-B14F-4D97-AF65-F5344CB8AC3E}">
        <p14:creationId xmlns:p14="http://schemas.microsoft.com/office/powerpoint/2010/main" val="3160414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This example is from </a:t>
            </a:r>
            <a:r>
              <a:rPr lang="en-GB" dirty="0" err="1" smtClean="0"/>
              <a:t>CosmoMVPA</a:t>
            </a:r>
            <a:r>
              <a:rPr lang="en-GB" dirty="0" smtClean="0"/>
              <a:t>,</a:t>
            </a:r>
            <a:r>
              <a:rPr lang="en-GB" baseline="0" dirty="0" smtClean="0"/>
              <a:t> but same basic idea applies in general.</a:t>
            </a:r>
          </a:p>
          <a:p>
            <a:endParaRPr lang="en-GB" baseline="0" dirty="0" smtClean="0"/>
          </a:p>
          <a:p>
            <a:r>
              <a:rPr lang="en-GB" baseline="0" dirty="0" smtClean="0"/>
              <a:t>For decoding, we provide the “labels” vector, which makes this “supervised” learning.</a:t>
            </a:r>
          </a:p>
          <a:p>
            <a:endParaRPr lang="en-GB" baseline="0" dirty="0" smtClean="0"/>
          </a:p>
          <a:p>
            <a:r>
              <a:rPr lang="en-GB" baseline="0" dirty="0" smtClean="0"/>
              <a:t>What sample attributes can you think of?</a:t>
            </a:r>
          </a:p>
          <a:p>
            <a:pPr defTabSz="915680">
              <a:defRPr/>
            </a:pPr>
            <a:r>
              <a:rPr lang="en-GB" baseline="0" dirty="0" smtClean="0"/>
              <a:t>What feature attributes can you think of?</a:t>
            </a:r>
          </a:p>
          <a:p>
            <a:pPr defTabSz="915680">
              <a:defRPr/>
            </a:pPr>
            <a:r>
              <a:rPr lang="en-GB" baseline="0" dirty="0" smtClean="0"/>
              <a:t>What dataset attributes can you think of?</a:t>
            </a:r>
          </a:p>
          <a:p>
            <a:endParaRPr lang="en-GB" baseline="0" dirty="0" smtClean="0"/>
          </a:p>
          <a:p>
            <a:r>
              <a:rPr lang="en-GB" baseline="0" dirty="0" smtClean="0"/>
              <a:t>For fMRI, features might be surface nodes rather than voxels.</a:t>
            </a:r>
          </a:p>
          <a:p>
            <a:r>
              <a:rPr lang="en-GB" baseline="0" dirty="0" smtClean="0"/>
              <a:t>For EMEG, features might be sensors and/or </a:t>
            </a:r>
            <a:r>
              <a:rPr lang="en-GB" baseline="0" dirty="0" err="1" smtClean="0"/>
              <a:t>timepoints</a:t>
            </a:r>
            <a:r>
              <a:rPr lang="en-GB" baseline="0" dirty="0" smtClean="0"/>
              <a:t> and/or frequency bands</a:t>
            </a:r>
          </a:p>
          <a:p>
            <a:endParaRPr lang="en-GB" baseline="0" dirty="0" smtClean="0"/>
          </a:p>
          <a:p>
            <a:r>
              <a:rPr lang="en-GB" baseline="0" dirty="0" smtClean="0"/>
              <a:t>Samples can be defined as GLM estimates (per trial, or per condition etc.) or time-points.</a:t>
            </a:r>
          </a:p>
          <a:p>
            <a:r>
              <a:rPr lang="en-GB" baseline="0" dirty="0" smtClean="0"/>
              <a:t>Getting all samples from a single GLM is sometimes called the Least-squares all (LSA) approach.</a:t>
            </a:r>
          </a:p>
          <a:p>
            <a:r>
              <a:rPr lang="en-GB" dirty="0"/>
              <a:t>The least-squares separate (LSS) design involves fitting a separate model per trial. Each model contains one regressor for the trial that you want to estimate and, for each condition in your experimental design (in case of a categorical design), another regressor containing all other trials.</a:t>
            </a:r>
            <a:endParaRPr lang="en-GB" baseline="0" dirty="0" smtClean="0"/>
          </a:p>
          <a:p>
            <a:r>
              <a:rPr lang="en-GB" baseline="0" dirty="0" smtClean="0"/>
              <a:t>(See Mumford et al. &amp; </a:t>
            </a:r>
            <a:r>
              <a:rPr lang="en-GB" baseline="0" dirty="0" err="1" smtClean="0"/>
              <a:t>Abdulrahman</a:t>
            </a:r>
            <a:r>
              <a:rPr lang="en-GB" baseline="0" dirty="0" smtClean="0"/>
              <a:t> &amp; Henson, 2016.)</a:t>
            </a:r>
          </a:p>
          <a:p>
            <a:r>
              <a:rPr lang="en-GB" baseline="0" dirty="0" smtClean="0"/>
              <a:t>(The “</a:t>
            </a:r>
            <a:r>
              <a:rPr lang="en-GB" baseline="0" dirty="0" err="1" smtClean="0"/>
              <a:t>nibetaseries</a:t>
            </a:r>
            <a:r>
              <a:rPr lang="en-GB" baseline="0" dirty="0" smtClean="0"/>
              <a:t>” package could be considered for trial-wise estimates in python.)</a:t>
            </a:r>
          </a:p>
          <a:p>
            <a:r>
              <a:rPr lang="en-GB" dirty="0"/>
              <a:t>It’s not obvious which is best: “ratio of trial-to-trial variability to scan noise impacts both the optimal SOA and optimal GLM, especially for short SOAs b 5 s: LSA is better when this ratio is high, whereas LSS [is] better when the ratio is low.”</a:t>
            </a:r>
          </a:p>
          <a:p>
            <a:r>
              <a:rPr lang="en-GB" dirty="0" err="1"/>
              <a:t>Soch</a:t>
            </a:r>
            <a:r>
              <a:rPr lang="en-GB" dirty="0"/>
              <a:t> et al 2020 looks like an interesting alternative method to account for correlation between overlapping regressors? (Adjust patterns matrix R, by calculating:  (X</a:t>
            </a:r>
            <a:r>
              <a:rPr lang="en-GB" baseline="30000" dirty="0"/>
              <a:t>T</a:t>
            </a:r>
            <a:r>
              <a:rPr lang="en-GB" dirty="0"/>
              <a:t>X)</a:t>
            </a:r>
            <a:r>
              <a:rPr lang="en-GB" baseline="30000" dirty="0"/>
              <a:t>0.5</a:t>
            </a:r>
            <a:r>
              <a:rPr lang="en-GB" dirty="0"/>
              <a:t>R )</a:t>
            </a:r>
          </a:p>
          <a:p>
            <a:r>
              <a:rPr lang="en-GB" dirty="0"/>
              <a:t> </a:t>
            </a:r>
          </a:p>
          <a:p>
            <a:r>
              <a:rPr lang="en-GB" dirty="0"/>
              <a:t>If using GLM, could use t-stats instead of beta/contrast estimates to implement univariate noise normalisation.</a:t>
            </a:r>
            <a:endParaRPr lang="en-GB" baseline="0" dirty="0" smtClean="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20</a:t>
            </a:fld>
            <a:endParaRPr lang="en-GB" altLang="en-US"/>
          </a:p>
        </p:txBody>
      </p:sp>
    </p:spTree>
    <p:extLst>
      <p:ext uri="{BB962C8B-B14F-4D97-AF65-F5344CB8AC3E}">
        <p14:creationId xmlns:p14="http://schemas.microsoft.com/office/powerpoint/2010/main" val="791294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a:t>
            </a:r>
            <a:r>
              <a:rPr lang="en-GB" altLang="en-US" b="1" dirty="0" err="1"/>
              <a:t>Haxby</a:t>
            </a:r>
            <a:r>
              <a:rPr lang="en-GB" altLang="en-US" b="1" dirty="0"/>
              <a:t>-style” split-half correlation: </a:t>
            </a:r>
            <a:r>
              <a:rPr lang="en-GB" dirty="0" smtClean="0"/>
              <a:t>Many of the examples in the </a:t>
            </a:r>
            <a:r>
              <a:rPr lang="en-GB" dirty="0" err="1" smtClean="0"/>
              <a:t>CoSMoMVPA</a:t>
            </a:r>
            <a:r>
              <a:rPr lang="en-GB" baseline="0" dirty="0" smtClean="0"/>
              <a:t> toolbox use this approach.</a:t>
            </a:r>
          </a:p>
          <a:p>
            <a:r>
              <a:rPr lang="en-GB" baseline="0" dirty="0" smtClean="0"/>
              <a:t>It’s fast and sensitive, but outperformed by other classifiers e.g. SVM. (See e.g. </a:t>
            </a:r>
            <a:r>
              <a:rPr lang="en-GB" baseline="0" dirty="0" err="1" smtClean="0"/>
              <a:t>Haxby</a:t>
            </a:r>
            <a:r>
              <a:rPr lang="en-GB" baseline="0" dirty="0" smtClean="0"/>
              <a:t> et al 2011; </a:t>
            </a:r>
            <a:r>
              <a:rPr lang="en-GB" baseline="0" dirty="0" err="1" smtClean="0"/>
              <a:t>Haxby</a:t>
            </a:r>
            <a:r>
              <a:rPr lang="en-GB" baseline="0" dirty="0" smtClean="0"/>
              <a:t> 2012), so we won’t use it here.</a:t>
            </a:r>
            <a:endParaRPr lang="en-GB" dirty="0" smtClean="0"/>
          </a:p>
          <a:p>
            <a:pPr defTabSz="915680">
              <a:defRPr/>
            </a:pPr>
            <a:r>
              <a:rPr lang="en-GB" dirty="0" smtClean="0"/>
              <a:t>It</a:t>
            </a:r>
            <a:r>
              <a:rPr lang="en-GB" baseline="0" dirty="0" smtClean="0"/>
              <a:t> c</a:t>
            </a:r>
            <a:r>
              <a:rPr lang="en-GB" dirty="0" smtClean="0"/>
              <a:t>an be thought of as 1-nearest neighbour</a:t>
            </a:r>
            <a:r>
              <a:rPr lang="en-GB" baseline="0" dirty="0" smtClean="0"/>
              <a:t> classification, using correlation as a distance measure and one particular partition.</a:t>
            </a:r>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21</a:t>
            </a:fld>
            <a:endParaRPr lang="en-GB" altLang="en-US"/>
          </a:p>
        </p:txBody>
      </p:sp>
    </p:spTree>
    <p:extLst>
      <p:ext uri="{BB962C8B-B14F-4D97-AF65-F5344CB8AC3E}">
        <p14:creationId xmlns:p14="http://schemas.microsoft.com/office/powerpoint/2010/main" val="1996123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Figure from </a:t>
            </a:r>
            <a:r>
              <a:rPr lang="en-GB" dirty="0" err="1" smtClean="0"/>
              <a:t>CoSMoMVPA</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22</a:t>
            </a:fld>
            <a:endParaRPr lang="en-GB" altLang="en-US"/>
          </a:p>
        </p:txBody>
      </p:sp>
    </p:spTree>
    <p:extLst>
      <p:ext uri="{BB962C8B-B14F-4D97-AF65-F5344CB8AC3E}">
        <p14:creationId xmlns:p14="http://schemas.microsoft.com/office/powerpoint/2010/main" val="3781635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5680">
              <a:defRPr/>
            </a:pPr>
            <a:r>
              <a:rPr lang="en-GB" dirty="0" smtClean="0"/>
              <a:t>Figure from </a:t>
            </a:r>
            <a:r>
              <a:rPr lang="en-GB" dirty="0" err="1" smtClean="0"/>
              <a:t>CoSMoMVPA</a:t>
            </a:r>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23</a:t>
            </a:fld>
            <a:endParaRPr lang="en-GB" altLang="en-US"/>
          </a:p>
        </p:txBody>
      </p:sp>
    </p:spTree>
    <p:extLst>
      <p:ext uri="{BB962C8B-B14F-4D97-AF65-F5344CB8AC3E}">
        <p14:creationId xmlns:p14="http://schemas.microsoft.com/office/powerpoint/2010/main" val="638605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LDA</a:t>
            </a:r>
            <a:r>
              <a:rPr lang="en-US" altLang="en-US" baseline="0" dirty="0" smtClean="0"/>
              <a:t> is equivalent to “Linearly Constrained Minimum Variance </a:t>
            </a:r>
            <a:r>
              <a:rPr lang="en-US" altLang="en-US" baseline="0" dirty="0" err="1" smtClean="0"/>
              <a:t>Beamformer</a:t>
            </a:r>
            <a:r>
              <a:rPr lang="en-US" altLang="en-US" baseline="0" dirty="0" smtClean="0"/>
              <a:t>”?</a:t>
            </a:r>
          </a:p>
          <a:p>
            <a:endParaRPr lang="en-US" altLang="en-US" baseline="0" dirty="0" smtClean="0"/>
          </a:p>
          <a:p>
            <a:r>
              <a:rPr lang="en-US" altLang="en-US" baseline="0" dirty="0" smtClean="0"/>
              <a:t>Another option is logistic regression (LR) </a:t>
            </a:r>
          </a:p>
          <a:p>
            <a:endParaRPr lang="en-US" altLang="en-US" baseline="0" dirty="0" smtClean="0"/>
          </a:p>
          <a:p>
            <a:pPr defTabSz="915680">
              <a:defRPr/>
            </a:pPr>
            <a:r>
              <a:rPr lang="en-US" altLang="en-US" baseline="0" dirty="0" smtClean="0"/>
              <a:t>GNB, LDA and QDA are generative/parametric models.</a:t>
            </a:r>
          </a:p>
          <a:p>
            <a:r>
              <a:rPr lang="en-GB" altLang="en-US" dirty="0" smtClean="0"/>
              <a:t>Logistic regression (LR) &amp; linear</a:t>
            </a:r>
            <a:r>
              <a:rPr lang="en-GB" altLang="en-US" baseline="0" dirty="0" smtClean="0"/>
              <a:t> </a:t>
            </a:r>
            <a:r>
              <a:rPr lang="en-GB" altLang="en-US" dirty="0" smtClean="0"/>
              <a:t>SVM are discriminative models. SVM has a hinge loss, whereas LR has a smoother loss.</a:t>
            </a:r>
          </a:p>
          <a:p>
            <a:r>
              <a:rPr lang="en-GB" altLang="en-US" dirty="0" smtClean="0"/>
              <a:t>Nearest</a:t>
            </a:r>
            <a:r>
              <a:rPr lang="en-GB" altLang="en-US" baseline="0" dirty="0" smtClean="0"/>
              <a:t> neighbour classifiers are simpler in that no parameters are learned, but require a choice of distance metric and of neighbourhood definition</a:t>
            </a:r>
            <a:endParaRPr lang="en-GB" altLang="en-US" dirty="0" smtClean="0"/>
          </a:p>
          <a:p>
            <a:endParaRPr lang="en-GB" altLang="en-US" dirty="0" smtClean="0"/>
          </a:p>
          <a:p>
            <a:r>
              <a:rPr lang="en-GB" altLang="en-US" dirty="0" smtClean="0"/>
              <a:t>For the SVM (and similarly LR), decreasing C increases regularisation, which means that more data points become support vectors. For</a:t>
            </a:r>
            <a:r>
              <a:rPr lang="en-GB" altLang="en-US" baseline="0" dirty="0" smtClean="0"/>
              <a:t> neuroimaging, with typically more dimensions than samples, all data points are support vectors anyway, so this has minimal effect. It also has less effect for the standard L2 penalty than an L1 penalty (See </a:t>
            </a:r>
            <a:r>
              <a:rPr lang="en-GB" altLang="en-US" baseline="0" dirty="0" err="1" smtClean="0"/>
              <a:t>Varoquaux</a:t>
            </a:r>
            <a:r>
              <a:rPr lang="en-GB" altLang="en-US" baseline="0" dirty="0" smtClean="0"/>
              <a:t> et al., 2017).</a:t>
            </a:r>
          </a:p>
          <a:p>
            <a:endParaRPr lang="en-GB" altLang="en-US" baseline="0" dirty="0" smtClean="0"/>
          </a:p>
          <a:p>
            <a:r>
              <a:rPr lang="en-GB" altLang="en-US" baseline="0" dirty="0" smtClean="0"/>
              <a:t>(Note that an L1 loss for neuroimaging data would typically lead to unstable voxel selection because of spatial autocorrelation (selecting a random subset of similar voxels.) </a:t>
            </a:r>
            <a:endParaRPr lang="en-GB" altLang="en-US" dirty="0" smtClean="0"/>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747C55E-4138-4B2B-9351-4DFFE8F7452F}" type="slidenum">
              <a:rPr lang="en-GB" altLang="en-US" smtClean="0"/>
              <a:pPr>
                <a:spcBef>
                  <a:spcPct val="0"/>
                </a:spcBef>
              </a:pPr>
              <a:t>24</a:t>
            </a:fld>
            <a:endParaRPr lang="en-GB" altLang="en-US" smtClean="0"/>
          </a:p>
        </p:txBody>
      </p:sp>
    </p:spTree>
    <p:extLst>
      <p:ext uri="{BB962C8B-B14F-4D97-AF65-F5344CB8AC3E}">
        <p14:creationId xmlns:p14="http://schemas.microsoft.com/office/powerpoint/2010/main" val="3326452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LDA can do simultaneous multiclass classification, but SVM needs to combine pairwise classifications.</a:t>
            </a:r>
          </a:p>
          <a:p>
            <a:r>
              <a:rPr lang="en-GB" dirty="0" smtClean="0"/>
              <a:t>Covariance matrix estimation can be slow, especially for many voxels.</a:t>
            </a:r>
          </a:p>
          <a:p>
            <a:r>
              <a:rPr lang="en-GB" dirty="0" smtClean="0"/>
              <a:t>So with</a:t>
            </a:r>
            <a:r>
              <a:rPr lang="en-GB" baseline="0" dirty="0" smtClean="0"/>
              <a:t> few voxels and many classes, perhaps prefer LDA? With few classes and many voxels, perhaps prefer SVM?</a:t>
            </a:r>
          </a:p>
          <a:p>
            <a:endParaRPr lang="en-GB" baseline="0" dirty="0" smtClean="0"/>
          </a:p>
          <a:p>
            <a:r>
              <a:rPr lang="en-GB" baseline="0" dirty="0" smtClean="0"/>
              <a:t>They will also differ somewhat in their sensitivity to outliers.</a:t>
            </a:r>
          </a:p>
          <a:p>
            <a:r>
              <a:rPr lang="en-GB" baseline="0" dirty="0" smtClean="0"/>
              <a:t>LDA gives a more direct measure of class membership probability</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25</a:t>
            </a:fld>
            <a:endParaRPr lang="en-GB" altLang="en-US"/>
          </a:p>
        </p:txBody>
      </p:sp>
    </p:spTree>
    <p:extLst>
      <p:ext uri="{BB962C8B-B14F-4D97-AF65-F5344CB8AC3E}">
        <p14:creationId xmlns:p14="http://schemas.microsoft.com/office/powerpoint/2010/main" val="1584127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26</a:t>
            </a:fld>
            <a:endParaRPr lang="en-GB" altLang="en-US"/>
          </a:p>
        </p:txBody>
      </p:sp>
    </p:spTree>
    <p:extLst>
      <p:ext uri="{BB962C8B-B14F-4D97-AF65-F5344CB8AC3E}">
        <p14:creationId xmlns:p14="http://schemas.microsoft.com/office/powerpoint/2010/main" val="18285543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smtClean="0"/>
              <a:t>Regularisation</a:t>
            </a:r>
            <a:r>
              <a:rPr lang="en-US" altLang="en-US" dirty="0" smtClean="0"/>
              <a:t>: use prior assumptions to constrain the ways in which the boundary is shaped and shifted so as to discriminate the categories in the training data.</a:t>
            </a:r>
          </a:p>
          <a:p>
            <a:endParaRPr lang="en-US" altLang="en-US" dirty="0" smtClean="0"/>
          </a:p>
          <a:p>
            <a:r>
              <a:rPr lang="en-US" altLang="en-US" dirty="0" smtClean="0"/>
              <a:t>See </a:t>
            </a:r>
            <a:r>
              <a:rPr lang="en-US" altLang="en-US" dirty="0" err="1" smtClean="0"/>
              <a:t>Poldrack</a:t>
            </a:r>
            <a:r>
              <a:rPr lang="en-US" altLang="en-US" dirty="0" smtClean="0"/>
              <a:t> et al 2020 for simulations of overfitting as functions of model order, number of variables, and sample size.</a:t>
            </a:r>
          </a:p>
          <a:p>
            <a:endParaRPr lang="en-US" altLang="en-US" dirty="0" smtClean="0"/>
          </a:p>
          <a:p>
            <a:pPr defTabSz="915680">
              <a:defRPr/>
            </a:pPr>
            <a:r>
              <a:rPr lang="en-US" altLang="en-US" dirty="0" smtClean="0"/>
              <a:t>Reduced dimensionality can also</a:t>
            </a:r>
            <a:r>
              <a:rPr lang="en-US" altLang="en-US" baseline="0" dirty="0" smtClean="0"/>
              <a:t> be achieved by “sparse random projection”, while preserving pairwise sample distances. (See </a:t>
            </a:r>
            <a:r>
              <a:rPr lang="en-GB" dirty="0"/>
              <a:t>Johnson-</a:t>
            </a:r>
            <a:r>
              <a:rPr lang="en-GB" dirty="0" err="1"/>
              <a:t>Lindenstrauss</a:t>
            </a:r>
            <a:r>
              <a:rPr lang="en-GB" dirty="0"/>
              <a:t> lemma)</a:t>
            </a:r>
          </a:p>
          <a:p>
            <a:endParaRPr lang="en-GB" altLang="en-US" dirty="0" smtClean="0"/>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6810767-52C5-421F-BEEB-99016DEA7716}" type="slidenum">
              <a:rPr lang="en-GB" altLang="en-US" smtClean="0"/>
              <a:pPr>
                <a:spcBef>
                  <a:spcPct val="0"/>
                </a:spcBef>
              </a:pPr>
              <a:t>36</a:t>
            </a:fld>
            <a:endParaRPr lang="en-GB" altLang="en-US" smtClean="0"/>
          </a:p>
        </p:txBody>
      </p:sp>
    </p:spTree>
    <p:extLst>
      <p:ext uri="{BB962C8B-B14F-4D97-AF65-F5344CB8AC3E}">
        <p14:creationId xmlns:p14="http://schemas.microsoft.com/office/powerpoint/2010/main" val="2826175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dirty="0" smtClean="0"/>
              <a:t>(Table converted to image because otherwise it flickers</a:t>
            </a:r>
            <a:r>
              <a:rPr lang="en-GB" altLang="en-US" baseline="0" dirty="0" smtClean="0"/>
              <a:t> during other animations)</a:t>
            </a:r>
          </a:p>
          <a:p>
            <a:endParaRPr lang="en-GB" altLang="en-US" baseline="0" dirty="0" smtClean="0"/>
          </a:p>
          <a:p>
            <a:r>
              <a:rPr lang="en-GB" altLang="en-US" baseline="0" dirty="0" smtClean="0"/>
              <a:t>A simple Pearson correlation between the binary vectors (aka Phi, or Matthew’s correlation coefficient) might be even better than AUROC in terms of simplicity/intuitiveness and sensitivity (see e.g. </a:t>
            </a:r>
            <a:r>
              <a:rPr lang="en-GB" altLang="en-US" baseline="0" dirty="0" err="1" smtClean="0"/>
              <a:t>Chicco</a:t>
            </a:r>
            <a:r>
              <a:rPr lang="en-GB" altLang="en-US" baseline="0" dirty="0" smtClean="0"/>
              <a:t> &amp; </a:t>
            </a:r>
            <a:r>
              <a:rPr lang="en-GB" altLang="en-US" baseline="0" dirty="0" err="1" smtClean="0"/>
              <a:t>Jurman</a:t>
            </a:r>
            <a:r>
              <a:rPr lang="en-GB" altLang="en-US" baseline="0" dirty="0" smtClean="0"/>
              <a:t>, 2023), but might not be suitable for imbalanced classes (Zhu, 2020). Wikipedia also says “</a:t>
            </a:r>
            <a:r>
              <a:rPr lang="en-GB" dirty="0"/>
              <a:t>if MCC equals neither −1, 0, or +1, it is not a reliable indicator of how similar a predictor is to random guessing because MCC is dependent on the dataset” (see </a:t>
            </a:r>
            <a:r>
              <a:rPr lang="en-GB" dirty="0" err="1"/>
              <a:t>Chicco</a:t>
            </a:r>
            <a:r>
              <a:rPr lang="en-GB" dirty="0"/>
              <a:t> et al 2021).</a:t>
            </a:r>
            <a:endParaRPr lang="en-GB" altLang="en-US" dirty="0" smtClean="0"/>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BCF4F69-1589-4E74-BBF9-800CA29AD74A}" type="slidenum">
              <a:rPr lang="en-GB" altLang="en-US" smtClean="0"/>
              <a:pPr>
                <a:spcBef>
                  <a:spcPct val="0"/>
                </a:spcBef>
              </a:pPr>
              <a:t>37</a:t>
            </a:fld>
            <a:endParaRPr lang="en-GB" altLang="en-US" smtClean="0"/>
          </a:p>
        </p:txBody>
      </p:sp>
    </p:spTree>
    <p:extLst>
      <p:ext uri="{BB962C8B-B14F-4D97-AF65-F5344CB8AC3E}">
        <p14:creationId xmlns:p14="http://schemas.microsoft.com/office/powerpoint/2010/main" val="1970216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Two</a:t>
            </a:r>
            <a:r>
              <a:rPr lang="en-GB" baseline="0" dirty="0" smtClean="0"/>
              <a:t> theoretical normal distributions of evidence, for class A and class B, along a dimension of “A-ness”.</a:t>
            </a:r>
          </a:p>
          <a:p>
            <a:r>
              <a:rPr lang="en-GB" baseline="0" dirty="0" smtClean="0"/>
              <a:t>By measuring the proportions of hits, misses, false alarms and correct rejections, we can estimate the separation of the distributions (sensitivity, d’) and the decision criterion (bias).</a:t>
            </a:r>
          </a:p>
          <a:p>
            <a:r>
              <a:rPr lang="en-GB" baseline="0" dirty="0" smtClean="0"/>
              <a:t>Thus signal detection theory makes parametric assumptions, and estimates a single criterion.</a:t>
            </a:r>
          </a:p>
          <a:p>
            <a:endParaRPr lang="en-GB" baseline="0" dirty="0" smtClean="0"/>
          </a:p>
          <a:p>
            <a:r>
              <a:rPr lang="en-GB" baseline="0" dirty="0" smtClean="0"/>
              <a:t>The ROC maps out the performance (ratio of hit rate to FA rate) non-parametrically, as a function of the criterion.</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38</a:t>
            </a:fld>
            <a:endParaRPr lang="en-GB" altLang="en-US"/>
          </a:p>
        </p:txBody>
      </p:sp>
    </p:spTree>
    <p:extLst>
      <p:ext uri="{BB962C8B-B14F-4D97-AF65-F5344CB8AC3E}">
        <p14:creationId xmlns:p14="http://schemas.microsoft.com/office/powerpoint/2010/main" val="36968215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89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2F34730-6A55-48C7-89D2-4C202CF40F51}" type="slidenum">
              <a:rPr lang="en-GB" altLang="en-US" smtClean="0"/>
              <a:pPr>
                <a:spcBef>
                  <a:spcPct val="0"/>
                </a:spcBef>
              </a:pPr>
              <a:t>41</a:t>
            </a:fld>
            <a:endParaRPr lang="en-GB" altLang="en-US" smtClean="0"/>
          </a:p>
        </p:txBody>
      </p:sp>
    </p:spTree>
    <p:extLst>
      <p:ext uri="{BB962C8B-B14F-4D97-AF65-F5344CB8AC3E}">
        <p14:creationId xmlns:p14="http://schemas.microsoft.com/office/powerpoint/2010/main" val="764959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42</a:t>
            </a:fld>
            <a:endParaRPr lang="en-GB" altLang="en-US"/>
          </a:p>
        </p:txBody>
      </p:sp>
    </p:spTree>
    <p:extLst>
      <p:ext uri="{BB962C8B-B14F-4D97-AF65-F5344CB8AC3E}">
        <p14:creationId xmlns:p14="http://schemas.microsoft.com/office/powerpoint/2010/main" val="27088867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(Coffee</a:t>
            </a:r>
            <a:r>
              <a:rPr lang="en-GB" baseline="0" dirty="0" smtClean="0"/>
              <a:t> break around here?)</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43</a:t>
            </a:fld>
            <a:endParaRPr lang="en-GB" altLang="en-US"/>
          </a:p>
        </p:txBody>
      </p:sp>
    </p:spTree>
    <p:extLst>
      <p:ext uri="{BB962C8B-B14F-4D97-AF65-F5344CB8AC3E}">
        <p14:creationId xmlns:p14="http://schemas.microsoft.com/office/powerpoint/2010/main" val="2794421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t>
            </a:r>
            <a:r>
              <a:rPr lang="en-GB" dirty="0" err="1" smtClean="0"/>
              <a:t>emojis</a:t>
            </a:r>
            <a:r>
              <a:rPr lang="en-GB" dirty="0" smtClean="0"/>
              <a:t> from bluemoji.io)</a:t>
            </a:r>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44</a:t>
            </a:fld>
            <a:endParaRPr lang="en-GB" altLang="en-US"/>
          </a:p>
        </p:txBody>
      </p:sp>
    </p:spTree>
    <p:extLst>
      <p:ext uri="{BB962C8B-B14F-4D97-AF65-F5344CB8AC3E}">
        <p14:creationId xmlns:p14="http://schemas.microsoft.com/office/powerpoint/2010/main" val="12105296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45</a:t>
            </a:fld>
            <a:endParaRPr lang="en-GB" altLang="en-US"/>
          </a:p>
        </p:txBody>
      </p:sp>
    </p:spTree>
    <p:extLst>
      <p:ext uri="{BB962C8B-B14F-4D97-AF65-F5344CB8AC3E}">
        <p14:creationId xmlns:p14="http://schemas.microsoft.com/office/powerpoint/2010/main" val="37063357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49</a:t>
            </a:fld>
            <a:endParaRPr lang="en-GB" altLang="en-US"/>
          </a:p>
        </p:txBody>
      </p:sp>
    </p:spTree>
    <p:extLst>
      <p:ext uri="{BB962C8B-B14F-4D97-AF65-F5344CB8AC3E}">
        <p14:creationId xmlns:p14="http://schemas.microsoft.com/office/powerpoint/2010/main" val="3681374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52</a:t>
            </a:fld>
            <a:endParaRPr lang="en-GB" altLang="en-US"/>
          </a:p>
        </p:txBody>
      </p:sp>
    </p:spTree>
    <p:extLst>
      <p:ext uri="{BB962C8B-B14F-4D97-AF65-F5344CB8AC3E}">
        <p14:creationId xmlns:p14="http://schemas.microsoft.com/office/powerpoint/2010/main" val="184542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55</a:t>
            </a:fld>
            <a:endParaRPr lang="en-GB" altLang="en-US"/>
          </a:p>
        </p:txBody>
      </p:sp>
    </p:spTree>
    <p:extLst>
      <p:ext uri="{BB962C8B-B14F-4D97-AF65-F5344CB8AC3E}">
        <p14:creationId xmlns:p14="http://schemas.microsoft.com/office/powerpoint/2010/main" val="24143698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dirty="0" smtClean="0"/>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A875155-C60E-45A8-867F-A5E546AD3F46}" type="slidenum">
              <a:rPr lang="en-GB" altLang="en-US" smtClean="0"/>
              <a:pPr>
                <a:spcBef>
                  <a:spcPct val="0"/>
                </a:spcBef>
              </a:pPr>
              <a:t>56</a:t>
            </a:fld>
            <a:endParaRPr lang="en-GB" altLang="en-US" smtClean="0"/>
          </a:p>
        </p:txBody>
      </p:sp>
    </p:spTree>
    <p:extLst>
      <p:ext uri="{BB962C8B-B14F-4D97-AF65-F5344CB8AC3E}">
        <p14:creationId xmlns:p14="http://schemas.microsoft.com/office/powerpoint/2010/main" val="9775084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dirty="0" smtClean="0"/>
          </a:p>
        </p:txBody>
      </p:sp>
      <p:sp>
        <p:nvSpPr>
          <p:cNvPr id="99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2F143BD-6173-488B-8572-F65280D0995B}" type="slidenum">
              <a:rPr lang="en-GB" altLang="en-US" smtClean="0"/>
              <a:pPr>
                <a:spcBef>
                  <a:spcPct val="0"/>
                </a:spcBef>
              </a:pPr>
              <a:t>57</a:t>
            </a:fld>
            <a:endParaRPr lang="en-GB" altLang="en-US" smtClean="0"/>
          </a:p>
        </p:txBody>
      </p:sp>
    </p:spTree>
    <p:extLst>
      <p:ext uri="{BB962C8B-B14F-4D97-AF65-F5344CB8AC3E}">
        <p14:creationId xmlns:p14="http://schemas.microsoft.com/office/powerpoint/2010/main" val="33397238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1013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13E5636-7227-42CB-A0E2-A184D8B366DF}" type="slidenum">
              <a:rPr lang="en-GB" altLang="en-US" smtClean="0"/>
              <a:pPr>
                <a:spcBef>
                  <a:spcPct val="0"/>
                </a:spcBef>
              </a:pPr>
              <a:t>58</a:t>
            </a:fld>
            <a:endParaRPr lang="en-GB" altLang="en-US" smtClean="0"/>
          </a:p>
        </p:txBody>
      </p:sp>
    </p:spTree>
    <p:extLst>
      <p:ext uri="{BB962C8B-B14F-4D97-AF65-F5344CB8AC3E}">
        <p14:creationId xmlns:p14="http://schemas.microsoft.com/office/powerpoint/2010/main" val="11033305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dirty="0" smtClean="0"/>
              <a:t>See Valente et al. (2021) on “Cross-validation and permutations in MVPA”</a:t>
            </a:r>
            <a:endParaRPr lang="en-GB" altLang="en-US" dirty="0" smtClean="0"/>
          </a:p>
        </p:txBody>
      </p:sp>
      <p:sp>
        <p:nvSpPr>
          <p:cNvPr id="103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530CB51-0692-4B0F-B611-31BF8FD9E5F5}" type="slidenum">
              <a:rPr lang="en-GB" altLang="en-US" smtClean="0"/>
              <a:pPr>
                <a:spcBef>
                  <a:spcPct val="0"/>
                </a:spcBef>
              </a:pPr>
              <a:t>59</a:t>
            </a:fld>
            <a:endParaRPr lang="en-GB" altLang="en-US" smtClean="0"/>
          </a:p>
        </p:txBody>
      </p:sp>
    </p:spTree>
    <p:extLst>
      <p:ext uri="{BB962C8B-B14F-4D97-AF65-F5344CB8AC3E}">
        <p14:creationId xmlns:p14="http://schemas.microsoft.com/office/powerpoint/2010/main" val="31021463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dirty="0" smtClean="0"/>
          </a:p>
        </p:txBody>
      </p:sp>
      <p:sp>
        <p:nvSpPr>
          <p:cNvPr id="110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3990" indent="-286150">
              <a:defRPr>
                <a:solidFill>
                  <a:schemeClr val="tx1"/>
                </a:solidFill>
                <a:latin typeface="Calibri" panose="020F0502020204030204" pitchFamily="34" charset="0"/>
              </a:defRPr>
            </a:lvl2pPr>
            <a:lvl3pPr marL="1144600" indent="-228920">
              <a:defRPr>
                <a:solidFill>
                  <a:schemeClr val="tx1"/>
                </a:solidFill>
                <a:latin typeface="Calibri" panose="020F0502020204030204" pitchFamily="34" charset="0"/>
              </a:defRPr>
            </a:lvl3pPr>
            <a:lvl4pPr marL="1602440" indent="-228920">
              <a:defRPr>
                <a:solidFill>
                  <a:schemeClr val="tx1"/>
                </a:solidFill>
                <a:latin typeface="Calibri" panose="020F0502020204030204" pitchFamily="34" charset="0"/>
              </a:defRPr>
            </a:lvl4pPr>
            <a:lvl5pPr marL="2060280" indent="-228920">
              <a:defRPr>
                <a:solidFill>
                  <a:schemeClr val="tx1"/>
                </a:solidFill>
                <a:latin typeface="Calibri" panose="020F0502020204030204" pitchFamily="34" charset="0"/>
              </a:defRPr>
            </a:lvl5pPr>
            <a:lvl6pPr marL="2518120" indent="-228920" eaLnBrk="0" fontAlgn="base" hangingPunct="0">
              <a:spcBef>
                <a:spcPct val="0"/>
              </a:spcBef>
              <a:spcAft>
                <a:spcPct val="0"/>
              </a:spcAft>
              <a:defRPr>
                <a:solidFill>
                  <a:schemeClr val="tx1"/>
                </a:solidFill>
                <a:latin typeface="Calibri" panose="020F0502020204030204" pitchFamily="34" charset="0"/>
              </a:defRPr>
            </a:lvl6pPr>
            <a:lvl7pPr marL="2975961" indent="-228920" eaLnBrk="0" fontAlgn="base" hangingPunct="0">
              <a:spcBef>
                <a:spcPct val="0"/>
              </a:spcBef>
              <a:spcAft>
                <a:spcPct val="0"/>
              </a:spcAft>
              <a:defRPr>
                <a:solidFill>
                  <a:schemeClr val="tx1"/>
                </a:solidFill>
                <a:latin typeface="Calibri" panose="020F0502020204030204" pitchFamily="34" charset="0"/>
              </a:defRPr>
            </a:lvl7pPr>
            <a:lvl8pPr marL="3433801" indent="-228920" eaLnBrk="0" fontAlgn="base" hangingPunct="0">
              <a:spcBef>
                <a:spcPct val="0"/>
              </a:spcBef>
              <a:spcAft>
                <a:spcPct val="0"/>
              </a:spcAft>
              <a:defRPr>
                <a:solidFill>
                  <a:schemeClr val="tx1"/>
                </a:solidFill>
                <a:latin typeface="Calibri" panose="020F0502020204030204" pitchFamily="34" charset="0"/>
              </a:defRPr>
            </a:lvl8pPr>
            <a:lvl9pPr marL="3891641" indent="-228920" eaLnBrk="0" fontAlgn="base" hangingPunct="0">
              <a:spcBef>
                <a:spcPct val="0"/>
              </a:spcBef>
              <a:spcAft>
                <a:spcPct val="0"/>
              </a:spcAft>
              <a:defRPr>
                <a:solidFill>
                  <a:schemeClr val="tx1"/>
                </a:solidFill>
                <a:latin typeface="Calibri" panose="020F0502020204030204" pitchFamily="34" charset="0"/>
              </a:defRPr>
            </a:lvl9pPr>
          </a:lstStyle>
          <a:p>
            <a:fld id="{E6B87C2B-F45B-4F2A-BD03-C46A9BEE3039}" type="slidenum">
              <a:rPr lang="en-GB" altLang="en-US" smtClean="0"/>
              <a:pPr/>
              <a:t>61</a:t>
            </a:fld>
            <a:endParaRPr lang="en-GB" altLang="en-US" smtClean="0"/>
          </a:p>
        </p:txBody>
      </p:sp>
    </p:spTree>
    <p:extLst>
      <p:ext uri="{BB962C8B-B14F-4D97-AF65-F5344CB8AC3E}">
        <p14:creationId xmlns:p14="http://schemas.microsoft.com/office/powerpoint/2010/main" val="2345874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1249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6D7ADAC-7272-4853-A411-278294C77EEE}" type="slidenum">
              <a:rPr lang="en-GB" altLang="en-US" smtClean="0"/>
              <a:pPr>
                <a:spcBef>
                  <a:spcPct val="0"/>
                </a:spcBef>
              </a:pPr>
              <a:t>74</a:t>
            </a:fld>
            <a:endParaRPr lang="en-GB" altLang="en-US" smtClean="0"/>
          </a:p>
        </p:txBody>
      </p:sp>
    </p:spTree>
    <p:extLst>
      <p:ext uri="{BB962C8B-B14F-4D97-AF65-F5344CB8AC3E}">
        <p14:creationId xmlns:p14="http://schemas.microsoft.com/office/powerpoint/2010/main" val="15232887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smtClean="0"/>
          </a:p>
        </p:txBody>
      </p:sp>
      <p:sp>
        <p:nvSpPr>
          <p:cNvPr id="1269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3990" indent="-286150">
              <a:spcBef>
                <a:spcPct val="30000"/>
              </a:spcBef>
              <a:defRPr sz="1200">
                <a:solidFill>
                  <a:schemeClr val="tx1"/>
                </a:solidFill>
                <a:latin typeface="Calibri" panose="020F0502020204030204" pitchFamily="34" charset="0"/>
              </a:defRPr>
            </a:lvl2pPr>
            <a:lvl3pPr marL="1144600" indent="-228920">
              <a:spcBef>
                <a:spcPct val="30000"/>
              </a:spcBef>
              <a:defRPr sz="1200">
                <a:solidFill>
                  <a:schemeClr val="tx1"/>
                </a:solidFill>
                <a:latin typeface="Calibri" panose="020F0502020204030204" pitchFamily="34" charset="0"/>
              </a:defRPr>
            </a:lvl3pPr>
            <a:lvl4pPr marL="1602440" indent="-228920">
              <a:spcBef>
                <a:spcPct val="30000"/>
              </a:spcBef>
              <a:defRPr sz="1200">
                <a:solidFill>
                  <a:schemeClr val="tx1"/>
                </a:solidFill>
                <a:latin typeface="Calibri" panose="020F0502020204030204" pitchFamily="34" charset="0"/>
              </a:defRPr>
            </a:lvl4pPr>
            <a:lvl5pPr marL="2060280" indent="-228920">
              <a:spcBef>
                <a:spcPct val="30000"/>
              </a:spcBef>
              <a:defRPr sz="1200">
                <a:solidFill>
                  <a:schemeClr val="tx1"/>
                </a:solidFill>
                <a:latin typeface="Calibri" panose="020F0502020204030204" pitchFamily="34" charset="0"/>
              </a:defRPr>
            </a:lvl5pPr>
            <a:lvl6pPr marL="2518120" indent="-228920" eaLnBrk="0" fontAlgn="base" hangingPunct="0">
              <a:spcBef>
                <a:spcPct val="30000"/>
              </a:spcBef>
              <a:spcAft>
                <a:spcPct val="0"/>
              </a:spcAft>
              <a:defRPr sz="1200">
                <a:solidFill>
                  <a:schemeClr val="tx1"/>
                </a:solidFill>
                <a:latin typeface="Calibri" panose="020F0502020204030204" pitchFamily="34" charset="0"/>
              </a:defRPr>
            </a:lvl6pPr>
            <a:lvl7pPr marL="2975961" indent="-228920" eaLnBrk="0" fontAlgn="base" hangingPunct="0">
              <a:spcBef>
                <a:spcPct val="30000"/>
              </a:spcBef>
              <a:spcAft>
                <a:spcPct val="0"/>
              </a:spcAft>
              <a:defRPr sz="1200">
                <a:solidFill>
                  <a:schemeClr val="tx1"/>
                </a:solidFill>
                <a:latin typeface="Calibri" panose="020F0502020204030204" pitchFamily="34" charset="0"/>
              </a:defRPr>
            </a:lvl7pPr>
            <a:lvl8pPr marL="3433801" indent="-228920" eaLnBrk="0" fontAlgn="base" hangingPunct="0">
              <a:spcBef>
                <a:spcPct val="30000"/>
              </a:spcBef>
              <a:spcAft>
                <a:spcPct val="0"/>
              </a:spcAft>
              <a:defRPr sz="1200">
                <a:solidFill>
                  <a:schemeClr val="tx1"/>
                </a:solidFill>
                <a:latin typeface="Calibri" panose="020F0502020204030204" pitchFamily="34" charset="0"/>
              </a:defRPr>
            </a:lvl8pPr>
            <a:lvl9pPr marL="3891641" indent="-22892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3CDC1B2-E4F5-4956-BA61-348CDBE4328C}" type="slidenum">
              <a:rPr lang="en-GB" altLang="en-US" smtClean="0"/>
              <a:pPr>
                <a:spcBef>
                  <a:spcPct val="0"/>
                </a:spcBef>
              </a:pPr>
              <a:t>75</a:t>
            </a:fld>
            <a:endParaRPr lang="en-GB" altLang="en-US" smtClean="0"/>
          </a:p>
        </p:txBody>
      </p:sp>
    </p:spTree>
    <p:extLst>
      <p:ext uri="{BB962C8B-B14F-4D97-AF65-F5344CB8AC3E}">
        <p14:creationId xmlns:p14="http://schemas.microsoft.com/office/powerpoint/2010/main" val="13809266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B077B847-0E78-4FDE-8257-2FEBC06720F7}" type="slidenum">
              <a:rPr lang="en-GB" altLang="en-US" smtClean="0"/>
              <a:pPr>
                <a:defRPr/>
              </a:pPr>
              <a:t>76</a:t>
            </a:fld>
            <a:endParaRPr lang="en-GB" altLang="en-US"/>
          </a:p>
        </p:txBody>
      </p:sp>
    </p:spTree>
    <p:extLst>
      <p:ext uri="{BB962C8B-B14F-4D97-AF65-F5344CB8AC3E}">
        <p14:creationId xmlns:p14="http://schemas.microsoft.com/office/powerpoint/2010/main" val="2522164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065C218E-F352-46D1-982C-6A958C14BB32}"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8B29890-843E-4A4E-A949-F5C93750B9E5}" type="slidenum">
              <a:rPr lang="en-GB" altLang="en-US"/>
              <a:pPr>
                <a:defRPr/>
              </a:pPr>
              <a:t>‹#›</a:t>
            </a:fld>
            <a:endParaRPr lang="en-GB" altLang="en-US"/>
          </a:p>
        </p:txBody>
      </p:sp>
    </p:spTree>
    <p:extLst>
      <p:ext uri="{BB962C8B-B14F-4D97-AF65-F5344CB8AC3E}">
        <p14:creationId xmlns:p14="http://schemas.microsoft.com/office/powerpoint/2010/main" val="1999517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0E4CC8C-FC0E-4302-8FC3-258CE703ABB9}"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F38675C-BF31-4376-A672-40E311BF14BB}" type="slidenum">
              <a:rPr lang="en-GB" altLang="en-US"/>
              <a:pPr>
                <a:defRPr/>
              </a:pPr>
              <a:t>‹#›</a:t>
            </a:fld>
            <a:endParaRPr lang="en-GB" altLang="en-US"/>
          </a:p>
        </p:txBody>
      </p:sp>
    </p:spTree>
    <p:extLst>
      <p:ext uri="{BB962C8B-B14F-4D97-AF65-F5344CB8AC3E}">
        <p14:creationId xmlns:p14="http://schemas.microsoft.com/office/powerpoint/2010/main" val="3362549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5EBA6C-2B77-4B16-B3D4-0E5667EECE55}"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6576F08B-EA2D-4C4A-9480-0A3A1DB4FD39}" type="slidenum">
              <a:rPr lang="en-GB" altLang="en-US"/>
              <a:pPr>
                <a:defRPr/>
              </a:pPr>
              <a:t>‹#›</a:t>
            </a:fld>
            <a:endParaRPr lang="en-GB" altLang="en-US"/>
          </a:p>
        </p:txBody>
      </p:sp>
    </p:spTree>
    <p:extLst>
      <p:ext uri="{BB962C8B-B14F-4D97-AF65-F5344CB8AC3E}">
        <p14:creationId xmlns:p14="http://schemas.microsoft.com/office/powerpoint/2010/main" val="109359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53A94A40-3AFE-48B6-9F63-C153C7019734}" type="datetimeFigureOut">
              <a:rPr lang="en-GB"/>
              <a:pPr>
                <a:defRPr/>
              </a:pPr>
              <a:t>21/09/2026</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8D475E8B-059F-4553-AB96-620E0BC492F2}" type="slidenum">
              <a:rPr lang="en-GB" altLang="en-US"/>
              <a:pPr>
                <a:defRPr/>
              </a:pPr>
              <a:t>‹#›</a:t>
            </a:fld>
            <a:endParaRPr lang="en-GB" altLang="en-US"/>
          </a:p>
        </p:txBody>
      </p:sp>
    </p:spTree>
    <p:extLst>
      <p:ext uri="{BB962C8B-B14F-4D97-AF65-F5344CB8AC3E}">
        <p14:creationId xmlns:p14="http://schemas.microsoft.com/office/powerpoint/2010/main" val="144991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E2A30D46-CCB8-4EFC-8D81-C45CA2CB17BA}" type="datetimeFigureOut">
              <a:rPr lang="en-GB"/>
              <a:pPr>
                <a:defRPr/>
              </a:pPr>
              <a:t>21/09/2026</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4E91FF07-4CCF-4958-A3C9-E89050C3B0E3}" type="slidenum">
              <a:rPr lang="en-GB" altLang="en-US"/>
              <a:pPr>
                <a:defRPr/>
              </a:pPr>
              <a:t>‹#›</a:t>
            </a:fld>
            <a:endParaRPr lang="en-GB" altLang="en-US"/>
          </a:p>
        </p:txBody>
      </p:sp>
    </p:spTree>
    <p:extLst>
      <p:ext uri="{BB962C8B-B14F-4D97-AF65-F5344CB8AC3E}">
        <p14:creationId xmlns:p14="http://schemas.microsoft.com/office/powerpoint/2010/main" val="181909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F0A11F33-3F54-41FF-9E74-B81C5A428A76}" type="datetimeFigureOut">
              <a:rPr lang="en-GB"/>
              <a:pPr>
                <a:defRPr/>
              </a:pPr>
              <a:t>21/09/2026</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F34D8D20-DA66-491F-840D-4EC1E036F3DE}" type="slidenum">
              <a:rPr lang="en-GB" altLang="en-US"/>
              <a:pPr>
                <a:defRPr/>
              </a:pPr>
              <a:t>‹#›</a:t>
            </a:fld>
            <a:endParaRPr lang="en-GB" altLang="en-US"/>
          </a:p>
        </p:txBody>
      </p:sp>
    </p:spTree>
    <p:extLst>
      <p:ext uri="{BB962C8B-B14F-4D97-AF65-F5344CB8AC3E}">
        <p14:creationId xmlns:p14="http://schemas.microsoft.com/office/powerpoint/2010/main" val="45483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675174F-9F05-4FD8-BCB6-19C7E055052D}" type="datetimeFigureOut">
              <a:rPr lang="en-GB"/>
              <a:pPr>
                <a:defRPr/>
              </a:pPr>
              <a:t>21/09/2026</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4AB9B427-EF74-4520-9FF1-22994A13E83D}" type="slidenum">
              <a:rPr lang="en-GB" altLang="en-US"/>
              <a:pPr>
                <a:defRPr/>
              </a:pPr>
              <a:t>‹#›</a:t>
            </a:fld>
            <a:endParaRPr lang="en-GB" altLang="en-US"/>
          </a:p>
        </p:txBody>
      </p:sp>
    </p:spTree>
    <p:extLst>
      <p:ext uri="{BB962C8B-B14F-4D97-AF65-F5344CB8AC3E}">
        <p14:creationId xmlns:p14="http://schemas.microsoft.com/office/powerpoint/2010/main" val="213851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902C3BE-6DA8-4974-8A1E-9BF36E5F49A7}" type="datetimeFigureOut">
              <a:rPr lang="en-GB"/>
              <a:pPr>
                <a:defRPr/>
              </a:pPr>
              <a:t>21/09/2026</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89629F87-2342-4EFF-B4F7-76AB30BBBCD1}" type="slidenum">
              <a:rPr lang="en-GB" altLang="en-US"/>
              <a:pPr>
                <a:defRPr/>
              </a:pPr>
              <a:t>‹#›</a:t>
            </a:fld>
            <a:endParaRPr lang="en-GB" altLang="en-US"/>
          </a:p>
        </p:txBody>
      </p:sp>
    </p:spTree>
    <p:extLst>
      <p:ext uri="{BB962C8B-B14F-4D97-AF65-F5344CB8AC3E}">
        <p14:creationId xmlns:p14="http://schemas.microsoft.com/office/powerpoint/2010/main" val="289514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F878C8D-467B-44AF-93D5-2A327DD5288B}" type="datetimeFigureOut">
              <a:rPr lang="en-GB"/>
              <a:pPr>
                <a:defRPr/>
              </a:pPr>
              <a:t>21/09/2026</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8D433AA-BB30-4B61-A6AC-2861F4F110DD}" type="slidenum">
              <a:rPr lang="en-GB" altLang="en-US"/>
              <a:pPr>
                <a:defRPr/>
              </a:pPr>
              <a:t>‹#›</a:t>
            </a:fld>
            <a:endParaRPr lang="en-GB" altLang="en-US"/>
          </a:p>
        </p:txBody>
      </p:sp>
    </p:spTree>
    <p:extLst>
      <p:ext uri="{BB962C8B-B14F-4D97-AF65-F5344CB8AC3E}">
        <p14:creationId xmlns:p14="http://schemas.microsoft.com/office/powerpoint/2010/main" val="4063884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72138F9-3AD7-4937-804A-5E3B6AE7CE11}"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28C49CE-F4FB-41A5-9064-FF617E64F138}" type="slidenum">
              <a:rPr lang="en-GB" altLang="en-US"/>
              <a:pPr>
                <a:defRPr/>
              </a:pPr>
              <a:t>‹#›</a:t>
            </a:fld>
            <a:endParaRPr lang="en-GB" altLang="en-US"/>
          </a:p>
        </p:txBody>
      </p:sp>
    </p:spTree>
    <p:extLst>
      <p:ext uri="{BB962C8B-B14F-4D97-AF65-F5344CB8AC3E}">
        <p14:creationId xmlns:p14="http://schemas.microsoft.com/office/powerpoint/2010/main" val="3659527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BFF61350-4417-4D0D-B4D1-8A8117B953B7}" type="datetimeFigureOut">
              <a:rPr lang="en-GB"/>
              <a:pPr>
                <a:defRPr/>
              </a:pPr>
              <a:t>21/09/2026</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9205D7B-135B-45E8-BCFD-C5376BF5BA06}" type="slidenum">
              <a:rPr lang="en-GB" altLang="en-US"/>
              <a:pPr>
                <a:defRPr/>
              </a:pPr>
              <a:t>‹#›</a:t>
            </a:fld>
            <a:endParaRPr lang="en-GB" altLang="en-US"/>
          </a:p>
        </p:txBody>
      </p:sp>
    </p:spTree>
    <p:extLst>
      <p:ext uri="{BB962C8B-B14F-4D97-AF65-F5344CB8AC3E}">
        <p14:creationId xmlns:p14="http://schemas.microsoft.com/office/powerpoint/2010/main" val="36054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C3C0DB2-ABB2-4597-92E0-50E42C3FDF8E}" type="datetimeFigureOut">
              <a:rPr lang="en-GB"/>
              <a:pPr>
                <a:defRPr/>
              </a:pPr>
              <a:t>21/09/2026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2B8D27A1-E359-4959-B171-49B632E5F5E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hyperlink" Target="https://www.csie.ntu.edu.tw/~cjlin/libsv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hyperlink" Target="https://nilearn.github.io/stable" TargetMode="External"/><Relationship Id="rId13" Type="http://schemas.openxmlformats.org/officeDocument/2006/relationships/hyperlink" Target="https://git.fmrib.ox.ac.uk/hnili/rsa" TargetMode="External"/><Relationship Id="rId18" Type="http://schemas.openxmlformats.org/officeDocument/2006/relationships/image" Target="../media/image25.png"/><Relationship Id="rId3" Type="http://schemas.openxmlformats.org/officeDocument/2006/relationships/hyperlink" Target="http://cosmomvpa.org/" TargetMode="External"/><Relationship Id="rId21" Type="http://schemas.openxmlformats.org/officeDocument/2006/relationships/image" Target="../media/image28.png"/><Relationship Id="rId7" Type="http://schemas.openxmlformats.org/officeDocument/2006/relationships/hyperlink" Target="http://www.mlnl.cs.ucl.ac.uk/pronto/" TargetMode="External"/><Relationship Id="rId12" Type="http://schemas.openxmlformats.org/officeDocument/2006/relationships/hyperlink" Target="https://scikit-learn.org/" TargetMode="External"/><Relationship Id="rId17" Type="http://schemas.openxmlformats.org/officeDocument/2006/relationships/image" Target="../media/image24.png"/><Relationship Id="rId2" Type="http://schemas.openxmlformats.org/officeDocument/2006/relationships/notesSlide" Target="../notesSlides/notesSlide10.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hyperlink" Target="https://mne.tools/stable" TargetMode="External"/><Relationship Id="rId11" Type="http://schemas.openxmlformats.org/officeDocument/2006/relationships/hyperlink" Target="http://www.franciscopereira.org/searchmight/" TargetMode="External"/><Relationship Id="rId5" Type="http://schemas.openxmlformats.org/officeDocument/2006/relationships/hyperlink" Target="https://sites.google.com/site/tdtdecodingtoolbox/" TargetMode="External"/><Relationship Id="rId15" Type="http://schemas.openxmlformats.org/officeDocument/2006/relationships/image" Target="../media/image22.png"/><Relationship Id="rId10" Type="http://schemas.openxmlformats.org/officeDocument/2006/relationships/hyperlink" Target="https://github.com/treder/MVPA-Light" TargetMode="External"/><Relationship Id="rId19" Type="http://schemas.openxmlformats.org/officeDocument/2006/relationships/image" Target="../media/image26.png"/><Relationship Id="rId4" Type="http://schemas.openxmlformats.org/officeDocument/2006/relationships/hyperlink" Target="http://www.pymvpa.org/" TargetMode="External"/><Relationship Id="rId9" Type="http://schemas.openxmlformats.org/officeDocument/2006/relationships/hyperlink" Target="https://brainiak.org/" TargetMode="External"/><Relationship Id="rId14" Type="http://schemas.openxmlformats.org/officeDocument/2006/relationships/hyperlink" Target="https://github.com/rsagroup/rsatoolbox"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scikit-learn.org/stabl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image" Target="../media/image53.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6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6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6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7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0" y="1124744"/>
            <a:ext cx="9144000" cy="4392488"/>
          </a:xfrm>
        </p:spPr>
        <p:txBody>
          <a:bodyPr/>
          <a:lstStyle/>
          <a:p>
            <a:pPr eaLnBrk="1" hangingPunct="1"/>
            <a:r>
              <a:rPr lang="en-GB" altLang="en-US" sz="2800" b="1" dirty="0" smtClean="0"/>
              <a:t>An introduction to</a:t>
            </a:r>
            <a:r>
              <a:rPr lang="en-GB" altLang="en-US" b="1" dirty="0" smtClean="0"/>
              <a:t/>
            </a:r>
            <a:br>
              <a:rPr lang="en-GB" altLang="en-US" b="1" dirty="0" smtClean="0"/>
            </a:br>
            <a:r>
              <a:rPr lang="en-GB" altLang="en-US" sz="4000" b="1" dirty="0" smtClean="0"/>
              <a:t>Multi-Variate Pattern Analysis (MVPA)</a:t>
            </a:r>
            <a:br>
              <a:rPr lang="en-GB" altLang="en-US" sz="4000" b="1" dirty="0" smtClean="0"/>
            </a:br>
            <a:r>
              <a:rPr lang="en-GB" altLang="en-US" sz="2800" b="1" dirty="0" smtClean="0"/>
              <a:t>in Python, using </a:t>
            </a:r>
            <a:r>
              <a:rPr lang="en-GB" altLang="en-US" b="1" dirty="0" smtClean="0"/>
              <a:t/>
            </a:r>
            <a:br>
              <a:rPr lang="en-GB" altLang="en-US" b="1" dirty="0" smtClean="0"/>
            </a:br>
            <a:r>
              <a:rPr lang="en-GB" altLang="en-US" sz="4000" b="1" dirty="0" err="1" smtClean="0"/>
              <a:t>scikit</a:t>
            </a:r>
            <a:r>
              <a:rPr lang="en-GB" altLang="en-US" sz="4000" b="1" dirty="0" smtClean="0"/>
              <a:t>-learn &amp; </a:t>
            </a:r>
            <a:r>
              <a:rPr lang="en-GB" altLang="en-US" sz="4000" b="1" dirty="0" err="1" smtClean="0"/>
              <a:t>nilearn</a:t>
            </a:r>
            <a:r>
              <a:rPr lang="en-GB" altLang="en-US" b="1" dirty="0" smtClean="0"/>
              <a:t/>
            </a:r>
            <a:br>
              <a:rPr lang="en-GB" altLang="en-US" b="1" dirty="0" smtClean="0"/>
            </a:br>
            <a:r>
              <a:rPr lang="en-GB" altLang="en-US" sz="2800" b="1" dirty="0" smtClean="0">
                <a:solidFill>
                  <a:schemeClr val="bg1">
                    <a:lumMod val="75000"/>
                  </a:schemeClr>
                </a:solidFill>
              </a:rPr>
              <a:t>and</a:t>
            </a:r>
            <a:r>
              <a:rPr lang="en-GB" altLang="en-US" b="1" dirty="0" smtClean="0">
                <a:solidFill>
                  <a:schemeClr val="bg1">
                    <a:lumMod val="75000"/>
                  </a:schemeClr>
                </a:solidFill>
              </a:rPr>
              <a:t/>
            </a:r>
            <a:br>
              <a:rPr lang="en-GB" altLang="en-US" b="1" dirty="0" smtClean="0">
                <a:solidFill>
                  <a:schemeClr val="bg1">
                    <a:lumMod val="75000"/>
                  </a:schemeClr>
                </a:solidFill>
              </a:rPr>
            </a:br>
            <a:r>
              <a:rPr lang="en-GB" altLang="en-US" sz="4000" b="1" dirty="0" smtClean="0">
                <a:solidFill>
                  <a:schemeClr val="bg1">
                    <a:lumMod val="75000"/>
                  </a:schemeClr>
                </a:solidFill>
              </a:rPr>
              <a:t>The RSA Toolbox</a:t>
            </a:r>
            <a:endParaRPr lang="en-GB" altLang="en-US" sz="2800" b="1" dirty="0" smtClean="0">
              <a:solidFill>
                <a:schemeClr val="bg1">
                  <a:lumMod val="75000"/>
                </a:schemeClr>
              </a:solidFill>
            </a:endParaRPr>
          </a:p>
        </p:txBody>
      </p:sp>
      <p:sp>
        <p:nvSpPr>
          <p:cNvPr id="3" name="Subtitle 2"/>
          <p:cNvSpPr>
            <a:spLocks noGrp="1"/>
          </p:cNvSpPr>
          <p:nvPr>
            <p:ph type="subTitle" idx="1"/>
          </p:nvPr>
        </p:nvSpPr>
        <p:spPr>
          <a:xfrm>
            <a:off x="0" y="5373217"/>
            <a:ext cx="9144000" cy="1008112"/>
          </a:xfrm>
        </p:spPr>
        <p:txBody>
          <a:bodyPr rtlCol="0">
            <a:normAutofit fontScale="62500" lnSpcReduction="20000"/>
          </a:bodyPr>
          <a:lstStyle/>
          <a:p>
            <a:pPr eaLnBrk="1" fontAlgn="auto" hangingPunct="1">
              <a:spcAft>
                <a:spcPts val="0"/>
              </a:spcAft>
              <a:defRPr/>
            </a:pPr>
            <a:r>
              <a:rPr lang="en-US" sz="3600" dirty="0" smtClean="0"/>
              <a:t>COGNESTIC, 2026, Thursday 24</a:t>
            </a:r>
            <a:r>
              <a:rPr lang="en-US" sz="3600" baseline="30000" dirty="0" smtClean="0"/>
              <a:t>th</a:t>
            </a:r>
            <a:r>
              <a:rPr lang="en-US" sz="3600" dirty="0" smtClean="0"/>
              <a:t> Sept.</a:t>
            </a:r>
          </a:p>
          <a:p>
            <a:pPr eaLnBrk="1" fontAlgn="auto" hangingPunct="1">
              <a:spcAft>
                <a:spcPts val="0"/>
              </a:spcAft>
              <a:defRPr/>
            </a:pPr>
            <a:r>
              <a:rPr lang="en-US" sz="3600" dirty="0" smtClean="0"/>
              <a:t>Daniel Mitchell</a:t>
            </a:r>
            <a:endParaRPr lang="en-US" sz="3600" dirty="0"/>
          </a:p>
          <a:p>
            <a:pPr eaLnBrk="1" fontAlgn="auto" hangingPunct="1">
              <a:spcAft>
                <a:spcPts val="0"/>
              </a:spcAft>
              <a:defRPr/>
            </a:pPr>
            <a:r>
              <a:rPr lang="en-US" sz="2800" dirty="0" smtClean="0"/>
              <a:t>Daniel.Mitchell@mrc-cbu.cam.ac.uk</a:t>
            </a:r>
          </a:p>
        </p:txBody>
      </p:sp>
      <p:pic>
        <p:nvPicPr>
          <p:cNvPr id="4" name="Picture 3" descr="A close-up of a logo&#10;&#10;Description automatically generated with low confidence">
            <a:extLst>
              <a:ext uri="{FF2B5EF4-FFF2-40B4-BE49-F238E27FC236}">
                <a16:creationId xmlns:a16="http://schemas.microsoft.com/office/drawing/2014/main" id="{F6977EFE-A528-B64A-9FC1-E2D34F468507}"/>
              </a:ext>
            </a:extLst>
          </p:cNvPr>
          <p:cNvPicPr>
            <a:picLocks noChangeAspect="1"/>
          </p:cNvPicPr>
          <p:nvPr/>
        </p:nvPicPr>
        <p:blipFill>
          <a:blip r:embed="rId2"/>
          <a:stretch>
            <a:fillRect/>
          </a:stretch>
        </p:blipFill>
        <p:spPr>
          <a:xfrm>
            <a:off x="184702" y="87784"/>
            <a:ext cx="8801100" cy="1397000"/>
          </a:xfrm>
          <a:prstGeom prst="rect">
            <a:avLst/>
          </a:prstGeom>
        </p:spPr>
      </p:pic>
    </p:spTree>
    <p:extLst>
      <p:ext uri="{BB962C8B-B14F-4D97-AF65-F5344CB8AC3E}">
        <p14:creationId xmlns:p14="http://schemas.microsoft.com/office/powerpoint/2010/main" val="41645158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457200" y="0"/>
            <a:ext cx="8229600"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Plan for the day</a:t>
            </a:r>
            <a:endParaRPr lang="en-GB" altLang="en-US" sz="3600" b="1" dirty="0"/>
          </a:p>
        </p:txBody>
      </p:sp>
      <p:graphicFrame>
        <p:nvGraphicFramePr>
          <p:cNvPr id="2" name="Table 1"/>
          <p:cNvGraphicFramePr>
            <a:graphicFrameLocks noGrp="1"/>
          </p:cNvGraphicFramePr>
          <p:nvPr>
            <p:extLst>
              <p:ext uri="{D42A27DB-BD31-4B8C-83A1-F6EECF244321}">
                <p14:modId xmlns:p14="http://schemas.microsoft.com/office/powerpoint/2010/main" val="3225691819"/>
              </p:ext>
            </p:extLst>
          </p:nvPr>
        </p:nvGraphicFramePr>
        <p:xfrm>
          <a:off x="683568" y="650241"/>
          <a:ext cx="7776864" cy="5958799"/>
        </p:xfrm>
        <a:graphic>
          <a:graphicData uri="http://schemas.openxmlformats.org/drawingml/2006/table">
            <a:tbl>
              <a:tblPr bandRow="1">
                <a:tableStyleId>{3B4B98B0-60AC-42C2-AFA5-B58CD77FA1E5}</a:tableStyleId>
              </a:tblPr>
              <a:tblGrid>
                <a:gridCol w="1660902">
                  <a:extLst>
                    <a:ext uri="{9D8B030D-6E8A-4147-A177-3AD203B41FA5}">
                      <a16:colId xmlns:a16="http://schemas.microsoft.com/office/drawing/2014/main" val="1722292224"/>
                    </a:ext>
                  </a:extLst>
                </a:gridCol>
                <a:gridCol w="6115962">
                  <a:extLst>
                    <a:ext uri="{9D8B030D-6E8A-4147-A177-3AD203B41FA5}">
                      <a16:colId xmlns:a16="http://schemas.microsoft.com/office/drawing/2014/main" val="1650833295"/>
                    </a:ext>
                  </a:extLst>
                </a:gridCol>
              </a:tblGrid>
              <a:tr h="810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500" dirty="0" smtClean="0">
                          <a:latin typeface="Arial" panose="020B0604020202020204" pitchFamily="34" charset="0"/>
                          <a:cs typeface="Arial" panose="020B0604020202020204" pitchFamily="34" charset="0"/>
                        </a:rPr>
                        <a:t>9:05 – 10:00</a:t>
                      </a:r>
                    </a:p>
                  </a:txBody>
                  <a:tcPr marT="0" marB="0" anchor="ctr"/>
                </a:tc>
                <a:tc>
                  <a:txBody>
                    <a:bodyPr/>
                    <a:lstStyle/>
                    <a:p>
                      <a:r>
                        <a:rPr lang="en-GB" sz="1500" dirty="0" smtClean="0">
                          <a:solidFill>
                            <a:schemeClr val="tx1"/>
                          </a:solidFill>
                          <a:latin typeface="Arial" panose="020B0604020202020204" pitchFamily="34" charset="0"/>
                          <a:cs typeface="Arial" panose="020B0604020202020204" pitchFamily="34" charset="0"/>
                        </a:rPr>
                        <a:t>Introduction to MVPA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6"/>
                          </a:solidFill>
                          <a:latin typeface="Arial" panose="020B0604020202020204" pitchFamily="34" charset="0"/>
                          <a:cs typeface="Arial" panose="020B0604020202020204" pitchFamily="34" charset="0"/>
                        </a:rPr>
                        <a:t>Introduction to </a:t>
                      </a:r>
                      <a:r>
                        <a:rPr lang="en-GB" sz="1500" dirty="0" err="1" smtClean="0">
                          <a:solidFill>
                            <a:schemeClr val="accent6"/>
                          </a:solidFill>
                          <a:latin typeface="Arial" panose="020B0604020202020204" pitchFamily="34" charset="0"/>
                          <a:cs typeface="Arial" panose="020B0604020202020204" pitchFamily="34" charset="0"/>
                        </a:rPr>
                        <a:t>scikit</a:t>
                      </a:r>
                      <a:r>
                        <a:rPr lang="en-GB" sz="1500" dirty="0" smtClean="0">
                          <a:solidFill>
                            <a:schemeClr val="accent6"/>
                          </a:solidFill>
                          <a:latin typeface="Arial" panose="020B0604020202020204" pitchFamily="34" charset="0"/>
                          <a:cs typeface="Arial" panose="020B0604020202020204" pitchFamily="34" charset="0"/>
                        </a:rPr>
                        <a:t>-learn </a:t>
                      </a:r>
                      <a:r>
                        <a:rPr lang="en-GB" sz="1500" baseline="0" dirty="0" smtClean="0">
                          <a:solidFill>
                            <a:schemeClr val="accent6"/>
                          </a:solidFill>
                          <a:latin typeface="Arial" panose="020B0604020202020204" pitchFamily="34" charset="0"/>
                          <a:cs typeface="Arial" panose="020B0604020202020204" pitchFamily="34" charset="0"/>
                        </a:rPr>
                        <a:t>(</a:t>
                      </a:r>
                      <a:r>
                        <a:rPr lang="en-GB" sz="1500" dirty="0" smtClean="0">
                          <a:solidFill>
                            <a:schemeClr val="accent6"/>
                          </a:solidFill>
                          <a:latin typeface="Arial" panose="020B0604020202020204" pitchFamily="34" charset="0"/>
                          <a:cs typeface="Arial" panose="020B0604020202020204" pitchFamily="34" charset="0"/>
                        </a:rPr>
                        <a:t>and alternative</a:t>
                      </a:r>
                      <a:r>
                        <a:rPr lang="en-GB" sz="1500" baseline="0" dirty="0" smtClean="0">
                          <a:solidFill>
                            <a:schemeClr val="accent6"/>
                          </a:solidFill>
                          <a:latin typeface="Arial" panose="020B0604020202020204" pitchFamily="34" charset="0"/>
                          <a:cs typeface="Arial" panose="020B0604020202020204" pitchFamily="34" charset="0"/>
                        </a:rPr>
                        <a:t> toolboxes</a:t>
                      </a:r>
                      <a:r>
                        <a:rPr lang="en-GB" sz="1500" dirty="0" smtClean="0">
                          <a:solidFill>
                            <a:schemeClr val="accent6"/>
                          </a:solidFill>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6"/>
                          </a:solidFill>
                          <a:latin typeface="Arial" panose="020B0604020202020204" pitchFamily="34" charset="0"/>
                          <a:cs typeface="Arial" panose="020B0604020202020204" pitchFamily="34" charset="0"/>
                        </a:rPr>
                        <a:t>First</a:t>
                      </a:r>
                      <a:r>
                        <a:rPr lang="en-GB" sz="1500" baseline="0" dirty="0" smtClean="0">
                          <a:solidFill>
                            <a:schemeClr val="accent6"/>
                          </a:solidFill>
                          <a:latin typeface="Arial" panose="020B0604020202020204" pitchFamily="34" charset="0"/>
                          <a:cs typeface="Arial" panose="020B0604020202020204" pitchFamily="34" charset="0"/>
                        </a:rPr>
                        <a:t> example – simulated data, with true effect across two voxels</a:t>
                      </a:r>
                      <a:endParaRPr lang="en-GB" sz="1500" dirty="0" smtClean="0">
                        <a:solidFill>
                          <a:schemeClr val="accent6"/>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3103334842"/>
                  </a:ext>
                </a:extLst>
              </a:tr>
              <a:tr h="257837">
                <a:tc gridSpan="2">
                  <a:txBody>
                    <a:bodyPr/>
                    <a:lstStyle/>
                    <a:p>
                      <a:pPr algn="ctr"/>
                      <a:r>
                        <a:rPr lang="en-GB" sz="1500" dirty="0" smtClean="0">
                          <a:solidFill>
                            <a:schemeClr val="accent1"/>
                          </a:solidFill>
                          <a:latin typeface="Arial" panose="020B0604020202020204" pitchFamily="34" charset="0"/>
                          <a:cs typeface="Arial" panose="020B0604020202020204" pitchFamily="34" charset="0"/>
                        </a:rPr>
                        <a:t>Break</a:t>
                      </a:r>
                      <a:endParaRPr lang="en-GB" sz="1500" dirty="0">
                        <a:solidFill>
                          <a:schemeClr val="accent1"/>
                        </a:solidFill>
                        <a:latin typeface="Arial" panose="020B0604020202020204" pitchFamily="34" charset="0"/>
                        <a:cs typeface="Arial" panose="020B0604020202020204" pitchFamily="34" charset="0"/>
                      </a:endParaRPr>
                    </a:p>
                  </a:txBody>
                  <a:tcPr marT="0" marB="0" anchor="ctr"/>
                </a:tc>
                <a:tc hMerge="1">
                  <a:txBody>
                    <a:bodyPr/>
                    <a:lstStyle/>
                    <a:p>
                      <a:endParaRPr lang="en-GB" dirty="0"/>
                    </a:p>
                  </a:txBody>
                  <a:tcPr/>
                </a:tc>
                <a:extLst>
                  <a:ext uri="{0D108BD9-81ED-4DB2-BD59-A6C34878D82A}">
                    <a16:rowId xmlns:a16="http://schemas.microsoft.com/office/drawing/2014/main" val="503799809"/>
                  </a:ext>
                </a:extLst>
              </a:tr>
              <a:tr h="830541">
                <a:tc>
                  <a:txBody>
                    <a:bodyPr/>
                    <a:lstStyle/>
                    <a:p>
                      <a:r>
                        <a:rPr lang="en-GB" sz="1500" dirty="0" smtClean="0">
                          <a:latin typeface="Arial" panose="020B0604020202020204" pitchFamily="34" charset="0"/>
                          <a:cs typeface="Arial" panose="020B0604020202020204" pitchFamily="34" charset="0"/>
                        </a:rPr>
                        <a:t>10:15 – 11:00</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Partitions and cross-validation</a:t>
                      </a:r>
                      <a:endParaRPr lang="en-GB" sz="1500" dirty="0" smtClean="0">
                        <a:solidFill>
                          <a:schemeClr val="accent6"/>
                        </a:solidFill>
                        <a:latin typeface="Arial" panose="020B0604020202020204" pitchFamily="34" charset="0"/>
                        <a:cs typeface="Arial" panose="020B0604020202020204" pitchFamily="34" charset="0"/>
                      </a:endParaRPr>
                    </a:p>
                    <a:p>
                      <a:r>
                        <a:rPr lang="en-GB" sz="1500" baseline="0" dirty="0" smtClean="0">
                          <a:solidFill>
                            <a:schemeClr val="accent6"/>
                          </a:solidFill>
                          <a:latin typeface="Arial" panose="020B0604020202020204" pitchFamily="34" charset="0"/>
                          <a:cs typeface="Arial" panose="020B0604020202020204" pitchFamily="34" charset="0"/>
                        </a:rPr>
                        <a:t>Different classifiers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Different output measures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Exercises</a:t>
                      </a:r>
                      <a:endParaRPr lang="en-GB" sz="1500" dirty="0" smtClean="0">
                        <a:solidFill>
                          <a:schemeClr val="accent6"/>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2376462315"/>
                  </a:ext>
                </a:extLst>
              </a:tr>
              <a:tr h="257837">
                <a:tc gridSpan="2">
                  <a:txBody>
                    <a:bodyPr/>
                    <a:lstStyle/>
                    <a:p>
                      <a:pPr algn="ctr"/>
                      <a:r>
                        <a:rPr lang="en-GB" sz="1500" dirty="0" smtClean="0">
                          <a:solidFill>
                            <a:schemeClr val="accent1"/>
                          </a:solidFill>
                          <a:latin typeface="Arial" panose="020B0604020202020204" pitchFamily="34" charset="0"/>
                          <a:cs typeface="Arial" panose="020B0604020202020204" pitchFamily="34" charset="0"/>
                        </a:rPr>
                        <a:t>Break</a:t>
                      </a:r>
                      <a:endParaRPr lang="en-GB" sz="1500" dirty="0">
                        <a:solidFill>
                          <a:schemeClr val="accent1"/>
                        </a:solidFill>
                        <a:latin typeface="Arial" panose="020B0604020202020204" pitchFamily="34" charset="0"/>
                        <a:cs typeface="Arial" panose="020B0604020202020204" pitchFamily="34" charset="0"/>
                      </a:endParaRPr>
                    </a:p>
                  </a:txBody>
                  <a:tcPr marT="0" marB="0" anchor="ctr"/>
                </a:tc>
                <a:tc hMerge="1">
                  <a:txBody>
                    <a:bodyPr/>
                    <a:lstStyle/>
                    <a:p>
                      <a:endParaRPr lang="en-GB" dirty="0"/>
                    </a:p>
                  </a:txBody>
                  <a:tcPr/>
                </a:tc>
                <a:extLst>
                  <a:ext uri="{0D108BD9-81ED-4DB2-BD59-A6C34878D82A}">
                    <a16:rowId xmlns:a16="http://schemas.microsoft.com/office/drawing/2014/main" val="2020836358"/>
                  </a:ext>
                </a:extLst>
              </a:tr>
              <a:tr h="935579">
                <a:tc>
                  <a:txBody>
                    <a:bodyPr/>
                    <a:lstStyle/>
                    <a:p>
                      <a:r>
                        <a:rPr lang="en-GB" sz="1500" dirty="0" smtClean="0">
                          <a:latin typeface="Arial" panose="020B0604020202020204" pitchFamily="34" charset="0"/>
                          <a:cs typeface="Arial" panose="020B0604020202020204" pitchFamily="34" charset="0"/>
                        </a:rPr>
                        <a:t>11:15</a:t>
                      </a:r>
                      <a:r>
                        <a:rPr lang="en-GB" sz="1500" baseline="0" dirty="0" smtClean="0">
                          <a:latin typeface="Arial" panose="020B0604020202020204" pitchFamily="34" charset="0"/>
                          <a:cs typeface="Arial" panose="020B0604020202020204" pitchFamily="34" charset="0"/>
                        </a:rPr>
                        <a:t> – 12:00</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Exercises continued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Examples with real fMRI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Which features to use (ROIs, searchlights)?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500" baseline="0" dirty="0" smtClean="0">
                          <a:solidFill>
                            <a:schemeClr val="accent6"/>
                          </a:solidFill>
                          <a:latin typeface="Arial" panose="020B0604020202020204" pitchFamily="34" charset="0"/>
                          <a:cs typeface="Arial" panose="020B0604020202020204" pitchFamily="34" charset="0"/>
                        </a:rPr>
                        <a:t>S</a:t>
                      </a:r>
                      <a:r>
                        <a:rPr lang="en-GB" sz="1500" dirty="0" smtClean="0">
                          <a:solidFill>
                            <a:schemeClr val="accent6"/>
                          </a:solidFill>
                          <a:latin typeface="Arial" panose="020B0604020202020204" pitchFamily="34" charset="0"/>
                          <a:cs typeface="Arial" panose="020B0604020202020204" pitchFamily="34" charset="0"/>
                        </a:rPr>
                        <a:t>tatistics</a:t>
                      </a:r>
                      <a:r>
                        <a:rPr lang="en-GB" sz="1500" baseline="0" dirty="0" smtClean="0">
                          <a:solidFill>
                            <a:schemeClr val="accent6"/>
                          </a:solidFill>
                          <a:latin typeface="Arial" panose="020B0604020202020204" pitchFamily="34" charset="0"/>
                          <a:cs typeface="Arial" panose="020B0604020202020204" pitchFamily="34" charset="0"/>
                        </a:rPr>
                        <a:t> &amp; permutation</a:t>
                      </a:r>
                    </a:p>
                  </a:txBody>
                  <a:tcPr marT="0" marB="0" anchor="ctr"/>
                </a:tc>
                <a:extLst>
                  <a:ext uri="{0D108BD9-81ED-4DB2-BD59-A6C34878D82A}">
                    <a16:rowId xmlns:a16="http://schemas.microsoft.com/office/drawing/2014/main" val="702048638"/>
                  </a:ext>
                </a:extLst>
              </a:tr>
              <a:tr h="257837">
                <a:tc gridSpan="2">
                  <a:txBody>
                    <a:bodyPr/>
                    <a:lstStyle/>
                    <a:p>
                      <a:pPr algn="ctr"/>
                      <a:r>
                        <a:rPr lang="en-GB" sz="1500" dirty="0" smtClean="0">
                          <a:solidFill>
                            <a:schemeClr val="accent1"/>
                          </a:solidFill>
                          <a:latin typeface="Arial" panose="020B0604020202020204" pitchFamily="34" charset="0"/>
                          <a:cs typeface="Arial" panose="020B0604020202020204" pitchFamily="34" charset="0"/>
                        </a:rPr>
                        <a:t>LUNCH</a:t>
                      </a:r>
                      <a:endParaRPr lang="en-GB" sz="1500" dirty="0">
                        <a:solidFill>
                          <a:schemeClr val="accent1"/>
                        </a:solidFill>
                        <a:latin typeface="Arial" panose="020B0604020202020204" pitchFamily="34" charset="0"/>
                        <a:cs typeface="Arial" panose="020B0604020202020204" pitchFamily="34" charset="0"/>
                      </a:endParaRPr>
                    </a:p>
                  </a:txBody>
                  <a:tcPr marT="0" marB="0" anchor="ctr"/>
                </a:tc>
                <a:tc hMerge="1">
                  <a:txBody>
                    <a:bodyPr/>
                    <a:lstStyle/>
                    <a:p>
                      <a:endParaRPr lang="en-GB" dirty="0"/>
                    </a:p>
                  </a:txBody>
                  <a:tcPr/>
                </a:tc>
                <a:extLst>
                  <a:ext uri="{0D108BD9-81ED-4DB2-BD59-A6C34878D82A}">
                    <a16:rowId xmlns:a16="http://schemas.microsoft.com/office/drawing/2014/main" val="288298302"/>
                  </a:ext>
                </a:extLst>
              </a:tr>
              <a:tr h="796845">
                <a:tc>
                  <a:txBody>
                    <a:bodyPr/>
                    <a:lstStyle/>
                    <a:p>
                      <a:r>
                        <a:rPr lang="en-GB" sz="1500" dirty="0" smtClean="0">
                          <a:latin typeface="Arial" panose="020B0604020202020204" pitchFamily="34" charset="0"/>
                          <a:cs typeface="Arial" panose="020B0604020202020204" pitchFamily="34" charset="0"/>
                        </a:rPr>
                        <a:t>13:00 – 14:00</a:t>
                      </a:r>
                      <a:endParaRPr lang="en-GB" sz="1500" dirty="0">
                        <a:latin typeface="Arial" panose="020B0604020202020204" pitchFamily="34" charset="0"/>
                        <a:cs typeface="Arial" panose="020B0604020202020204" pitchFamily="34" charset="0"/>
                      </a:endParaRPr>
                    </a:p>
                  </a:txBody>
                  <a:tcPr marT="0" marB="0" anchor="ctr"/>
                </a:tc>
                <a:tc>
                  <a:txBody>
                    <a:bodyPr/>
                    <a:lstStyle/>
                    <a:p>
                      <a:r>
                        <a:rPr lang="en-GB" sz="1500" dirty="0" smtClean="0">
                          <a:solidFill>
                            <a:schemeClr val="tx1"/>
                          </a:solidFill>
                          <a:latin typeface="Arial" panose="020B0604020202020204" pitchFamily="34" charset="0"/>
                          <a:cs typeface="Arial" panose="020B0604020202020204" pitchFamily="34" charset="0"/>
                        </a:rPr>
                        <a:t>Introduction to RSA</a:t>
                      </a:r>
                    </a:p>
                    <a:p>
                      <a:r>
                        <a:rPr lang="en-GB" sz="1500" dirty="0" smtClean="0">
                          <a:solidFill>
                            <a:schemeClr val="accent2"/>
                          </a:solidFill>
                          <a:latin typeface="Arial" panose="020B0604020202020204" pitchFamily="34" charset="0"/>
                          <a:cs typeface="Arial" panose="020B0604020202020204" pitchFamily="34" charset="0"/>
                        </a:rPr>
                        <a:t>Introduction to the RSA Toolbox; dataset demos</a:t>
                      </a:r>
                    </a:p>
                  </a:txBody>
                  <a:tcPr marT="0" marB="0" anchor="ctr"/>
                </a:tc>
                <a:extLst>
                  <a:ext uri="{0D108BD9-81ED-4DB2-BD59-A6C34878D82A}">
                    <a16:rowId xmlns:a16="http://schemas.microsoft.com/office/drawing/2014/main" val="481977363"/>
                  </a:ext>
                </a:extLst>
              </a:tr>
              <a:tr h="28803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1"/>
                          </a:solidFill>
                          <a:latin typeface="Arial" panose="020B0604020202020204" pitchFamily="34" charset="0"/>
                          <a:cs typeface="Arial" panose="020B0604020202020204" pitchFamily="34" charset="0"/>
                        </a:rPr>
                        <a:t>Break</a:t>
                      </a:r>
                    </a:p>
                  </a:txBody>
                  <a:tcPr marT="0" marB="0" anchor="ctr"/>
                </a:tc>
                <a:tc hMerge="1">
                  <a:txBody>
                    <a:bodyPr/>
                    <a:lstStyle/>
                    <a:p>
                      <a:endParaRPr lang="en-GB" dirty="0"/>
                    </a:p>
                  </a:txBody>
                  <a:tcPr/>
                </a:tc>
                <a:extLst>
                  <a:ext uri="{0D108BD9-81ED-4DB2-BD59-A6C34878D82A}">
                    <a16:rowId xmlns:a16="http://schemas.microsoft.com/office/drawing/2014/main" val="371365515"/>
                  </a:ext>
                </a:extLst>
              </a:tr>
              <a:tr h="488599">
                <a:tc>
                  <a:txBody>
                    <a:bodyPr/>
                    <a:lstStyle/>
                    <a:p>
                      <a:r>
                        <a:rPr lang="en-GB" sz="1500" dirty="0" smtClean="0">
                          <a:latin typeface="Arial" panose="020B0604020202020204" pitchFamily="34" charset="0"/>
                          <a:cs typeface="Arial" panose="020B0604020202020204" pitchFamily="34" charset="0"/>
                        </a:rPr>
                        <a:t>14:15 – 15:00</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2"/>
                          </a:solidFill>
                          <a:latin typeface="Arial" panose="020B0604020202020204" pitchFamily="34" charset="0"/>
                          <a:cs typeface="Arial" panose="020B0604020202020204" pitchFamily="34" charset="0"/>
                        </a:rPr>
                        <a:t>Dissimilarities, RDMs,</a:t>
                      </a:r>
                      <a:r>
                        <a:rPr lang="en-GB" sz="1500" baseline="0" dirty="0" smtClean="0">
                          <a:solidFill>
                            <a:schemeClr val="accent2"/>
                          </a:solidFill>
                          <a:latin typeface="Arial" panose="020B0604020202020204" pitchFamily="34" charset="0"/>
                          <a:cs typeface="Arial" panose="020B0604020202020204" pitchFamily="34" charset="0"/>
                        </a:rPr>
                        <a:t> visualisations</a:t>
                      </a:r>
                      <a:endParaRPr lang="en-GB" sz="1500" dirty="0" smtClean="0">
                        <a:solidFill>
                          <a:schemeClr val="accent2"/>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1923948523"/>
                  </a:ext>
                </a:extLst>
              </a:tr>
              <a:tr h="25783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dirty="0" smtClean="0">
                          <a:solidFill>
                            <a:schemeClr val="accent1"/>
                          </a:solidFill>
                          <a:latin typeface="Arial" panose="020B0604020202020204" pitchFamily="34" charset="0"/>
                          <a:cs typeface="Arial" panose="020B0604020202020204" pitchFamily="34" charset="0"/>
                        </a:rPr>
                        <a:t>Break</a:t>
                      </a:r>
                    </a:p>
                  </a:txBody>
                  <a:tcPr marT="0" marB="0" anchor="ctr"/>
                </a:tc>
                <a:tc hMerge="1">
                  <a:txBody>
                    <a:bodyPr/>
                    <a:lstStyle/>
                    <a:p>
                      <a:endParaRPr lang="en-GB" dirty="0"/>
                    </a:p>
                  </a:txBody>
                  <a:tcPr/>
                </a:tc>
                <a:extLst>
                  <a:ext uri="{0D108BD9-81ED-4DB2-BD59-A6C34878D82A}">
                    <a16:rowId xmlns:a16="http://schemas.microsoft.com/office/drawing/2014/main" val="1181615666"/>
                  </a:ext>
                </a:extLst>
              </a:tr>
              <a:tr h="435724">
                <a:tc>
                  <a:txBody>
                    <a:bodyPr/>
                    <a:lstStyle/>
                    <a:p>
                      <a:r>
                        <a:rPr lang="en-GB" sz="1500" dirty="0" smtClean="0">
                          <a:latin typeface="Arial" panose="020B0604020202020204" pitchFamily="34" charset="0"/>
                          <a:cs typeface="Arial" panose="020B0604020202020204" pitchFamily="34" charset="0"/>
                        </a:rPr>
                        <a:t>15:15 – 16:00</a:t>
                      </a:r>
                      <a:endParaRPr lang="en-GB" sz="1500" dirty="0">
                        <a:latin typeface="Arial" panose="020B0604020202020204" pitchFamily="34" charset="0"/>
                        <a:cs typeface="Arial" panose="020B0604020202020204" pitchFamily="34" charset="0"/>
                      </a:endParaRPr>
                    </a:p>
                  </a:txBody>
                  <a:tcPr marT="0" marB="0" anchor="ctr"/>
                </a:tc>
                <a:tc>
                  <a:txBody>
                    <a:bodyPr/>
                    <a:lstStyle/>
                    <a:p>
                      <a:r>
                        <a:rPr lang="en-GB" sz="1500" dirty="0" smtClean="0">
                          <a:solidFill>
                            <a:schemeClr val="accent2"/>
                          </a:solidFill>
                          <a:latin typeface="Arial" panose="020B0604020202020204" pitchFamily="34" charset="0"/>
                          <a:cs typeface="Arial" panose="020B0604020202020204" pitchFamily="34" charset="0"/>
                        </a:rPr>
                        <a:t>More RSA Toolbox demos: Model RDMs,</a:t>
                      </a:r>
                      <a:r>
                        <a:rPr lang="en-GB" sz="1500" baseline="0" dirty="0" smtClean="0">
                          <a:solidFill>
                            <a:schemeClr val="accent2"/>
                          </a:solidFill>
                          <a:latin typeface="Arial" panose="020B0604020202020204" pitchFamily="34" charset="0"/>
                          <a:cs typeface="Arial" panose="020B0604020202020204" pitchFamily="34" charset="0"/>
                        </a:rPr>
                        <a:t> statistics, searchlight</a:t>
                      </a:r>
                      <a:endParaRPr lang="en-GB" sz="1500" dirty="0">
                        <a:solidFill>
                          <a:schemeClr val="accent2"/>
                        </a:solidFill>
                        <a:latin typeface="Arial" panose="020B0604020202020204" pitchFamily="34" charset="0"/>
                        <a:cs typeface="Arial" panose="020B0604020202020204" pitchFamily="34" charset="0"/>
                      </a:endParaRPr>
                    </a:p>
                  </a:txBody>
                  <a:tcPr marT="0" marB="0" anchor="ctr"/>
                </a:tc>
                <a:extLst>
                  <a:ext uri="{0D108BD9-81ED-4DB2-BD59-A6C34878D82A}">
                    <a16:rowId xmlns:a16="http://schemas.microsoft.com/office/drawing/2014/main" val="3223637752"/>
                  </a:ext>
                </a:extLst>
              </a:tr>
              <a:tr h="257837">
                <a:tc>
                  <a:txBody>
                    <a:bodyPr/>
                    <a:lstStyle/>
                    <a:p>
                      <a:pPr algn="l"/>
                      <a:r>
                        <a:rPr lang="en-GB" sz="1500" dirty="0" smtClean="0">
                          <a:latin typeface="Arial" panose="020B0604020202020204" pitchFamily="34" charset="0"/>
                          <a:cs typeface="Arial" panose="020B0604020202020204" pitchFamily="34" charset="0"/>
                        </a:rPr>
                        <a:t>16:30 - </a:t>
                      </a:r>
                      <a:endParaRPr lang="en-GB" sz="1500" dirty="0">
                        <a:latin typeface="Arial" panose="020B0604020202020204" pitchFamily="34" charset="0"/>
                        <a:cs typeface="Arial" panose="020B0604020202020204" pitchFamily="34" charset="0"/>
                      </a:endParaRPr>
                    </a:p>
                  </a:txBody>
                  <a:tcPr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kern="1200" dirty="0" smtClean="0">
                          <a:solidFill>
                            <a:schemeClr val="accent1"/>
                          </a:solidFill>
                          <a:latin typeface="Arial" panose="020B0604020202020204" pitchFamily="34" charset="0"/>
                          <a:ea typeface="+mn-ea"/>
                          <a:cs typeface="Arial" panose="020B0604020202020204" pitchFamily="34" charset="0"/>
                        </a:rPr>
                        <a:t>                         PI talk by Kate Baker</a:t>
                      </a:r>
                    </a:p>
                  </a:txBody>
                  <a:tcPr marT="0" marB="0" anchor="ctr"/>
                </a:tc>
                <a:extLst>
                  <a:ext uri="{0D108BD9-81ED-4DB2-BD59-A6C34878D82A}">
                    <a16:rowId xmlns:a16="http://schemas.microsoft.com/office/drawing/2014/main" val="3210239441"/>
                  </a:ext>
                </a:extLst>
              </a:tr>
            </a:tbl>
          </a:graphicData>
        </a:graphic>
      </p:graphicFrame>
    </p:spTree>
    <p:extLst>
      <p:ext uri="{BB962C8B-B14F-4D97-AF65-F5344CB8AC3E}">
        <p14:creationId xmlns:p14="http://schemas.microsoft.com/office/powerpoint/2010/main" val="20589049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23528" y="774576"/>
            <a:ext cx="4242204" cy="5822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algn="ctr">
              <a:buNone/>
            </a:pPr>
            <a:r>
              <a:rPr lang="en-GB" sz="2000" b="1" u="sng" dirty="0" smtClean="0">
                <a:latin typeface="Arial" panose="020B0604020202020204" pitchFamily="34" charset="0"/>
                <a:cs typeface="Arial" panose="020B0604020202020204" pitchFamily="34" charset="0"/>
              </a:rPr>
              <a:t>Morning</a:t>
            </a:r>
          </a:p>
          <a:p>
            <a:pPr lvl="0" algn="ctr">
              <a:buNone/>
            </a:pPr>
            <a:endParaRPr lang="en-GB" sz="2000" u="sng" dirty="0" smtClean="0">
              <a:latin typeface="Arial" panose="020B0604020202020204" pitchFamily="34" charset="0"/>
              <a:cs typeface="Arial" panose="020B0604020202020204" pitchFamily="34" charset="0"/>
            </a:endParaRPr>
          </a:p>
          <a:p>
            <a:pPr lvl="0"/>
            <a:r>
              <a:rPr lang="en-GB" sz="2000" b="1" dirty="0">
                <a:latin typeface="Arial" panose="020B0604020202020204" pitchFamily="34" charset="0"/>
                <a:cs typeface="Arial" panose="020B0604020202020204" pitchFamily="34" charset="0"/>
              </a:rPr>
              <a:t> </a:t>
            </a:r>
            <a:r>
              <a:rPr lang="en-GB" sz="2000" b="1" dirty="0" smtClean="0">
                <a:latin typeface="Arial" panose="020B0604020202020204" pitchFamily="34" charset="0"/>
                <a:cs typeface="Arial" panose="020B0604020202020204" pitchFamily="34" charset="0"/>
              </a:rPr>
              <a:t>Introduction to MVPA</a:t>
            </a:r>
            <a:endParaRPr lang="en-GB" sz="2000" b="1" dirty="0">
              <a:latin typeface="Arial" panose="020B0604020202020204" pitchFamily="34" charset="0"/>
              <a:cs typeface="Arial" panose="020B0604020202020204" pitchFamily="34" charset="0"/>
            </a:endParaRPr>
          </a:p>
          <a:p>
            <a:pPr lvl="1"/>
            <a:r>
              <a:rPr lang="en-GB" sz="2000" dirty="0">
                <a:solidFill>
                  <a:srgbClr val="C00000"/>
                </a:solidFill>
                <a:latin typeface="Arial" panose="020B0604020202020204" pitchFamily="34" charset="0"/>
                <a:cs typeface="Arial" panose="020B0604020202020204" pitchFamily="34" charset="0"/>
              </a:rPr>
              <a:t>What</a:t>
            </a:r>
            <a:r>
              <a:rPr lang="en-GB" sz="2000" dirty="0">
                <a:latin typeface="Arial" panose="020B0604020202020204" pitchFamily="34" charset="0"/>
                <a:cs typeface="Arial" panose="020B0604020202020204" pitchFamily="34" charset="0"/>
              </a:rPr>
              <a:t> is </a:t>
            </a:r>
            <a:r>
              <a:rPr lang="en-GB" sz="2000" dirty="0" smtClean="0">
                <a:latin typeface="Arial" panose="020B0604020202020204" pitchFamily="34" charset="0"/>
                <a:cs typeface="Arial" panose="020B0604020202020204" pitchFamily="34" charset="0"/>
              </a:rPr>
              <a:t>MVPA?</a:t>
            </a:r>
            <a:endParaRPr lang="en-GB" sz="2000" dirty="0">
              <a:latin typeface="Arial" panose="020B0604020202020204" pitchFamily="34" charset="0"/>
              <a:cs typeface="Arial" panose="020B0604020202020204" pitchFamily="34" charset="0"/>
            </a:endParaRPr>
          </a:p>
          <a:p>
            <a:pPr lvl="1"/>
            <a:r>
              <a:rPr lang="en-GB" sz="2000" dirty="0">
                <a:solidFill>
                  <a:srgbClr val="0070C0"/>
                </a:solidFill>
                <a:latin typeface="Arial" panose="020B0604020202020204" pitchFamily="34" charset="0"/>
                <a:cs typeface="Arial" panose="020B0604020202020204" pitchFamily="34" charset="0"/>
              </a:rPr>
              <a:t>Why</a:t>
            </a:r>
            <a:r>
              <a:rPr lang="en-GB" sz="2000" dirty="0">
                <a:latin typeface="Arial" panose="020B0604020202020204" pitchFamily="34" charset="0"/>
                <a:cs typeface="Arial" panose="020B0604020202020204" pitchFamily="34" charset="0"/>
              </a:rPr>
              <a:t> do it?</a:t>
            </a:r>
          </a:p>
          <a:p>
            <a:pPr lvl="1"/>
            <a:r>
              <a:rPr lang="en-GB" sz="2000" dirty="0">
                <a:solidFill>
                  <a:schemeClr val="accent6">
                    <a:lumMod val="75000"/>
                  </a:schemeClr>
                </a:solidFill>
                <a:latin typeface="Arial" panose="020B0604020202020204" pitchFamily="34" charset="0"/>
                <a:cs typeface="Arial" panose="020B0604020202020204" pitchFamily="34" charset="0"/>
              </a:rPr>
              <a:t>How</a:t>
            </a:r>
            <a:r>
              <a:rPr lang="en-GB" sz="2000" dirty="0">
                <a:latin typeface="Arial" panose="020B0604020202020204" pitchFamily="34" charset="0"/>
                <a:cs typeface="Arial" panose="020B0604020202020204" pitchFamily="34" charset="0"/>
              </a:rPr>
              <a:t> does it </a:t>
            </a:r>
            <a:r>
              <a:rPr lang="en-GB" sz="2000" dirty="0" smtClean="0">
                <a:latin typeface="Arial" panose="020B0604020202020204" pitchFamily="34" charset="0"/>
                <a:cs typeface="Arial" panose="020B0604020202020204" pitchFamily="34" charset="0"/>
              </a:rPr>
              <a:t>work?</a:t>
            </a:r>
            <a:r>
              <a:rPr lang="en-GB" sz="2000" dirty="0">
                <a:latin typeface="Arial" panose="020B0604020202020204" pitchFamily="34" charset="0"/>
                <a:cs typeface="Arial" panose="020B0604020202020204" pitchFamily="34" charset="0"/>
              </a:rPr>
              <a:t/>
            </a:r>
            <a:br>
              <a:rPr lang="en-GB" sz="2000" dirty="0">
                <a:latin typeface="Arial" panose="020B0604020202020204" pitchFamily="34" charset="0"/>
                <a:cs typeface="Arial" panose="020B0604020202020204" pitchFamily="34" charset="0"/>
              </a:rPr>
            </a:br>
            <a:endParaRPr lang="en-GB" sz="2000" dirty="0">
              <a:latin typeface="Arial" panose="020B0604020202020204" pitchFamily="34" charset="0"/>
              <a:cs typeface="Arial" panose="020B0604020202020204" pitchFamily="34" charset="0"/>
            </a:endParaRPr>
          </a:p>
          <a:p>
            <a:pPr lvl="0"/>
            <a:r>
              <a:rPr lang="en-GB" sz="2000" dirty="0" smtClean="0">
                <a:latin typeface="Arial" panose="020B0604020202020204" pitchFamily="34" charset="0"/>
                <a:cs typeface="Arial" panose="020B0604020202020204" pitchFamily="34" charset="0"/>
              </a:rPr>
              <a:t> </a:t>
            </a:r>
            <a:r>
              <a:rPr lang="en-GB" sz="2000" b="1" dirty="0" err="1" smtClean="0">
                <a:latin typeface="Arial" panose="020B0604020202020204" pitchFamily="34" charset="0"/>
                <a:cs typeface="Arial" panose="020B0604020202020204" pitchFamily="34" charset="0"/>
              </a:rPr>
              <a:t>scikit</a:t>
            </a:r>
            <a:r>
              <a:rPr lang="en-GB" sz="2000" b="1" dirty="0" smtClean="0">
                <a:latin typeface="Arial" panose="020B0604020202020204" pitchFamily="34" charset="0"/>
                <a:cs typeface="Arial" panose="020B0604020202020204" pitchFamily="34" charset="0"/>
              </a:rPr>
              <a:t>-learn</a:t>
            </a:r>
            <a:endParaRPr lang="en-GB" sz="2000" b="1" dirty="0">
              <a:latin typeface="Arial" panose="020B0604020202020204" pitchFamily="34" charset="0"/>
              <a:cs typeface="Arial" panose="020B0604020202020204" pitchFamily="34" charset="0"/>
            </a:endParaRPr>
          </a:p>
          <a:p>
            <a:pPr lvl="1"/>
            <a:r>
              <a:rPr lang="en-GB" sz="2000" dirty="0">
                <a:solidFill>
                  <a:srgbClr val="C00000"/>
                </a:solidFill>
                <a:latin typeface="Arial" panose="020B0604020202020204" pitchFamily="34" charset="0"/>
                <a:cs typeface="Arial" panose="020B0604020202020204" pitchFamily="34" charset="0"/>
              </a:rPr>
              <a:t>What</a:t>
            </a:r>
            <a:r>
              <a:rPr lang="en-GB" sz="2000" dirty="0">
                <a:latin typeface="Arial" panose="020B0604020202020204" pitchFamily="34" charset="0"/>
                <a:cs typeface="Arial" panose="020B0604020202020204" pitchFamily="34" charset="0"/>
              </a:rPr>
              <a:t> is it?</a:t>
            </a:r>
          </a:p>
          <a:p>
            <a:pPr lvl="1"/>
            <a:r>
              <a:rPr lang="en-GB" sz="2000" dirty="0">
                <a:solidFill>
                  <a:srgbClr val="0070C0"/>
                </a:solidFill>
                <a:latin typeface="Arial" panose="020B0604020202020204" pitchFamily="34" charset="0"/>
                <a:cs typeface="Arial" panose="020B0604020202020204" pitchFamily="34" charset="0"/>
              </a:rPr>
              <a:t>Why</a:t>
            </a:r>
            <a:r>
              <a:rPr lang="en-GB" sz="2000" dirty="0">
                <a:latin typeface="Arial" panose="020B0604020202020204" pitchFamily="34" charset="0"/>
                <a:cs typeface="Arial" panose="020B0604020202020204" pitchFamily="34" charset="0"/>
              </a:rPr>
              <a:t> you might want to use </a:t>
            </a:r>
            <a:r>
              <a:rPr lang="en-GB" sz="2000" dirty="0" smtClean="0">
                <a:latin typeface="Arial" panose="020B0604020202020204" pitchFamily="34" charset="0"/>
                <a:cs typeface="Arial" panose="020B0604020202020204" pitchFamily="34" charset="0"/>
              </a:rPr>
              <a:t>it</a:t>
            </a:r>
            <a:br>
              <a:rPr lang="en-GB" sz="2000" dirty="0" smtClean="0">
                <a:latin typeface="Arial" panose="020B0604020202020204" pitchFamily="34" charset="0"/>
                <a:cs typeface="Arial" panose="020B0604020202020204" pitchFamily="34" charset="0"/>
              </a:rPr>
            </a:br>
            <a:r>
              <a:rPr lang="en-GB" sz="2000" dirty="0" smtClean="0">
                <a:latin typeface="Arial" panose="020B0604020202020204" pitchFamily="34" charset="0"/>
                <a:cs typeface="Arial" panose="020B0604020202020204" pitchFamily="34" charset="0"/>
              </a:rPr>
              <a:t>(plus alternatives) </a:t>
            </a:r>
          </a:p>
          <a:p>
            <a:pPr lvl="1"/>
            <a:r>
              <a:rPr lang="en-GB" sz="2000" dirty="0" smtClean="0">
                <a:solidFill>
                  <a:schemeClr val="accent6">
                    <a:lumMod val="75000"/>
                  </a:schemeClr>
                </a:solidFill>
                <a:latin typeface="Arial" panose="020B0604020202020204" pitchFamily="34" charset="0"/>
                <a:cs typeface="Arial" panose="020B0604020202020204" pitchFamily="34" charset="0"/>
              </a:rPr>
              <a:t>How</a:t>
            </a:r>
            <a:r>
              <a:rPr lang="en-GB" sz="2000" dirty="0" smtClean="0">
                <a:latin typeface="Arial" panose="020B0604020202020204" pitchFamily="34" charset="0"/>
                <a:cs typeface="Arial" panose="020B0604020202020204" pitchFamily="34" charset="0"/>
              </a:rPr>
              <a:t> does it work?</a:t>
            </a:r>
          </a:p>
          <a:p>
            <a:pPr lvl="2"/>
            <a:r>
              <a:rPr lang="en-GB" sz="1600" dirty="0" smtClean="0">
                <a:latin typeface="Arial" panose="020B0604020202020204" pitchFamily="34" charset="0"/>
                <a:cs typeface="Arial" panose="020B0604020202020204" pitchFamily="34" charset="0"/>
              </a:rPr>
              <a:t>decoding demos </a:t>
            </a:r>
            <a:r>
              <a:rPr lang="en-GB" sz="1600" b="1" dirty="0" smtClean="0">
                <a:latin typeface="Arial" panose="020B0604020202020204" pitchFamily="34" charset="0"/>
                <a:cs typeface="Arial" panose="020B0604020202020204" pitchFamily="34" charset="0"/>
              </a:rPr>
              <a:t>focusing on classification</a:t>
            </a:r>
            <a:r>
              <a:rPr lang="en-GB" sz="1600" dirty="0" smtClean="0">
                <a:latin typeface="Arial" panose="020B0604020202020204" pitchFamily="34" charset="0"/>
                <a:cs typeface="Arial" panose="020B0604020202020204" pitchFamily="34" charset="0"/>
              </a:rPr>
              <a:t>, using simulated data and fMRI data</a:t>
            </a:r>
          </a:p>
          <a:p>
            <a:pPr marL="514350" lvl="1" indent="0">
              <a:buNone/>
            </a:pPr>
            <a:endParaRPr lang="en-GB" sz="1400" dirty="0">
              <a:latin typeface="Arial" panose="020B0604020202020204" pitchFamily="34" charset="0"/>
              <a:cs typeface="Arial" panose="020B0604020202020204" pitchFamily="34" charset="0"/>
            </a:endParaRPr>
          </a:p>
          <a:p>
            <a:pPr marL="514350" lvl="1" indent="0">
              <a:buNone/>
            </a:pPr>
            <a:endParaRPr lang="en-GB" sz="1600" dirty="0" smtClean="0">
              <a:latin typeface="Arial" panose="020B0604020202020204" pitchFamily="34" charset="0"/>
              <a:cs typeface="Arial" panose="020B0604020202020204" pitchFamily="34" charset="0"/>
            </a:endParaRPr>
          </a:p>
          <a:p>
            <a:pPr marL="514350" lvl="1" indent="0">
              <a:buNone/>
            </a:pPr>
            <a:endParaRPr lang="en-GB" sz="1600" dirty="0">
              <a:latin typeface="Arial" panose="020B0604020202020204" pitchFamily="34" charset="0"/>
              <a:cs typeface="Arial" panose="020B0604020202020204" pitchFamily="34" charset="0"/>
            </a:endParaRPr>
          </a:p>
        </p:txBody>
      </p:sp>
      <p:sp>
        <p:nvSpPr>
          <p:cNvPr id="4" name="Title 1"/>
          <p:cNvSpPr txBox="1">
            <a:spLocks/>
          </p:cNvSpPr>
          <p:nvPr/>
        </p:nvSpPr>
        <p:spPr bwMode="auto">
          <a:xfrm>
            <a:off x="107504" y="404664"/>
            <a:ext cx="8877672"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Overview</a:t>
            </a:r>
            <a:endParaRPr lang="en-GB" altLang="en-US" sz="3600" b="1" dirty="0"/>
          </a:p>
        </p:txBody>
      </p:sp>
      <p:sp>
        <p:nvSpPr>
          <p:cNvPr id="6" name="Title 1"/>
          <p:cNvSpPr txBox="1">
            <a:spLocks/>
          </p:cNvSpPr>
          <p:nvPr/>
        </p:nvSpPr>
        <p:spPr bwMode="auto">
          <a:xfrm>
            <a:off x="4716016" y="774576"/>
            <a:ext cx="4176464" cy="575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algn="ctr">
              <a:buNone/>
            </a:pPr>
            <a:r>
              <a:rPr lang="en-GB" sz="2000" b="1" u="sng" dirty="0" smtClean="0">
                <a:latin typeface="Arial" panose="020B0604020202020204" pitchFamily="34" charset="0"/>
                <a:cs typeface="Arial" panose="020B0604020202020204" pitchFamily="34" charset="0"/>
              </a:rPr>
              <a:t>Afternoon</a:t>
            </a:r>
          </a:p>
          <a:p>
            <a:pPr lvl="0" algn="ctr">
              <a:buNone/>
            </a:pPr>
            <a:endParaRPr lang="en-GB" sz="2000" u="sng" dirty="0" smtClean="0">
              <a:latin typeface="Arial" panose="020B0604020202020204" pitchFamily="34" charset="0"/>
              <a:cs typeface="Arial" panose="020B0604020202020204" pitchFamily="34" charset="0"/>
            </a:endParaRPr>
          </a:p>
          <a:p>
            <a:pPr lvl="0"/>
            <a:r>
              <a:rPr lang="en-GB" sz="2000" b="1" dirty="0">
                <a:latin typeface="Arial" panose="020B0604020202020204" pitchFamily="34" charset="0"/>
                <a:cs typeface="Arial" panose="020B0604020202020204" pitchFamily="34" charset="0"/>
              </a:rPr>
              <a:t> </a:t>
            </a:r>
            <a:r>
              <a:rPr lang="en-GB" sz="2000" b="1" dirty="0" smtClean="0">
                <a:latin typeface="Arial" panose="020B0604020202020204" pitchFamily="34" charset="0"/>
                <a:cs typeface="Arial" panose="020B0604020202020204" pitchFamily="34" charset="0"/>
              </a:rPr>
              <a:t>Introduction to RSA</a:t>
            </a:r>
            <a:endParaRPr lang="en-GB" sz="2000" b="1" dirty="0">
              <a:latin typeface="Arial" panose="020B0604020202020204" pitchFamily="34" charset="0"/>
              <a:cs typeface="Arial" panose="020B0604020202020204" pitchFamily="34" charset="0"/>
            </a:endParaRPr>
          </a:p>
          <a:p>
            <a:pPr lvl="1"/>
            <a:r>
              <a:rPr lang="en-GB" sz="2000" dirty="0">
                <a:solidFill>
                  <a:srgbClr val="C00000"/>
                </a:solidFill>
                <a:latin typeface="Arial" panose="020B0604020202020204" pitchFamily="34" charset="0"/>
                <a:cs typeface="Arial" panose="020B0604020202020204" pitchFamily="34" charset="0"/>
              </a:rPr>
              <a:t>What</a:t>
            </a:r>
            <a:r>
              <a:rPr lang="en-GB" sz="2000" dirty="0">
                <a:latin typeface="Arial" panose="020B0604020202020204" pitchFamily="34" charset="0"/>
                <a:cs typeface="Arial" panose="020B0604020202020204" pitchFamily="34" charset="0"/>
              </a:rPr>
              <a:t> is </a:t>
            </a:r>
            <a:r>
              <a:rPr lang="en-GB" sz="2000" dirty="0" smtClean="0">
                <a:latin typeface="Arial" panose="020B0604020202020204" pitchFamily="34" charset="0"/>
                <a:cs typeface="Arial" panose="020B0604020202020204" pitchFamily="34" charset="0"/>
              </a:rPr>
              <a:t>RSA?</a:t>
            </a:r>
            <a:endParaRPr lang="en-GB" sz="2000" dirty="0">
              <a:latin typeface="Arial" panose="020B0604020202020204" pitchFamily="34" charset="0"/>
              <a:cs typeface="Arial" panose="020B0604020202020204" pitchFamily="34" charset="0"/>
            </a:endParaRPr>
          </a:p>
          <a:p>
            <a:pPr lvl="1"/>
            <a:r>
              <a:rPr lang="en-GB" sz="2000" dirty="0">
                <a:solidFill>
                  <a:srgbClr val="0070C0"/>
                </a:solidFill>
                <a:latin typeface="Arial" panose="020B0604020202020204" pitchFamily="34" charset="0"/>
                <a:cs typeface="Arial" panose="020B0604020202020204" pitchFamily="34" charset="0"/>
              </a:rPr>
              <a:t>Why</a:t>
            </a:r>
            <a:r>
              <a:rPr lang="en-GB" sz="2000" dirty="0">
                <a:latin typeface="Arial" panose="020B0604020202020204" pitchFamily="34" charset="0"/>
                <a:cs typeface="Arial" panose="020B0604020202020204" pitchFamily="34" charset="0"/>
              </a:rPr>
              <a:t> do it?</a:t>
            </a:r>
          </a:p>
          <a:p>
            <a:pPr lvl="1"/>
            <a:r>
              <a:rPr lang="en-GB" sz="2000" dirty="0">
                <a:solidFill>
                  <a:schemeClr val="accent6">
                    <a:lumMod val="75000"/>
                  </a:schemeClr>
                </a:solidFill>
                <a:latin typeface="Arial" panose="020B0604020202020204" pitchFamily="34" charset="0"/>
                <a:cs typeface="Arial" panose="020B0604020202020204" pitchFamily="34" charset="0"/>
              </a:rPr>
              <a:t>How</a:t>
            </a:r>
            <a:r>
              <a:rPr lang="en-GB" sz="2000" dirty="0">
                <a:latin typeface="Arial" panose="020B0604020202020204" pitchFamily="34" charset="0"/>
                <a:cs typeface="Arial" panose="020B0604020202020204" pitchFamily="34" charset="0"/>
              </a:rPr>
              <a:t> does it </a:t>
            </a:r>
            <a:r>
              <a:rPr lang="en-GB" sz="2000" dirty="0" smtClean="0">
                <a:latin typeface="Arial" panose="020B0604020202020204" pitchFamily="34" charset="0"/>
                <a:cs typeface="Arial" panose="020B0604020202020204" pitchFamily="34" charset="0"/>
              </a:rPr>
              <a:t>work? </a:t>
            </a:r>
            <a:br>
              <a:rPr lang="en-GB" sz="2000" dirty="0" smtClean="0">
                <a:latin typeface="Arial" panose="020B0604020202020204" pitchFamily="34" charset="0"/>
                <a:cs typeface="Arial" panose="020B0604020202020204" pitchFamily="34" charset="0"/>
              </a:rPr>
            </a:br>
            <a:endParaRPr lang="en-GB" sz="2000" dirty="0">
              <a:latin typeface="Arial" panose="020B0604020202020204" pitchFamily="34" charset="0"/>
              <a:cs typeface="Arial" panose="020B0604020202020204" pitchFamily="34" charset="0"/>
            </a:endParaRPr>
          </a:p>
          <a:p>
            <a:pPr lvl="0"/>
            <a:r>
              <a:rPr lang="en-GB" sz="2000" dirty="0" smtClean="0">
                <a:latin typeface="Arial" panose="020B0604020202020204" pitchFamily="34" charset="0"/>
                <a:cs typeface="Arial" panose="020B0604020202020204" pitchFamily="34" charset="0"/>
              </a:rPr>
              <a:t> </a:t>
            </a:r>
            <a:r>
              <a:rPr lang="en-GB" sz="2000" b="1" dirty="0" smtClean="0">
                <a:latin typeface="Arial" panose="020B0604020202020204" pitchFamily="34" charset="0"/>
                <a:cs typeface="Arial" panose="020B0604020202020204" pitchFamily="34" charset="0"/>
              </a:rPr>
              <a:t>The RSA </a:t>
            </a:r>
            <a:r>
              <a:rPr lang="en-GB" sz="2000" b="1" dirty="0">
                <a:latin typeface="Arial" panose="020B0604020202020204" pitchFamily="34" charset="0"/>
                <a:cs typeface="Arial" panose="020B0604020202020204" pitchFamily="34" charset="0"/>
              </a:rPr>
              <a:t>Toolbox</a:t>
            </a:r>
          </a:p>
          <a:p>
            <a:pPr lvl="1"/>
            <a:r>
              <a:rPr lang="en-GB" sz="2000" dirty="0">
                <a:solidFill>
                  <a:srgbClr val="C00000"/>
                </a:solidFill>
                <a:latin typeface="Arial" panose="020B0604020202020204" pitchFamily="34" charset="0"/>
                <a:cs typeface="Arial" panose="020B0604020202020204" pitchFamily="34" charset="0"/>
              </a:rPr>
              <a:t>What</a:t>
            </a:r>
            <a:r>
              <a:rPr lang="en-GB" sz="2000" dirty="0">
                <a:latin typeface="Arial" panose="020B0604020202020204" pitchFamily="34" charset="0"/>
                <a:cs typeface="Arial" panose="020B0604020202020204" pitchFamily="34" charset="0"/>
              </a:rPr>
              <a:t> is it?</a:t>
            </a:r>
          </a:p>
          <a:p>
            <a:pPr lvl="1"/>
            <a:r>
              <a:rPr lang="en-GB" sz="2000" dirty="0">
                <a:solidFill>
                  <a:srgbClr val="0070C0"/>
                </a:solidFill>
                <a:latin typeface="Arial" panose="020B0604020202020204" pitchFamily="34" charset="0"/>
                <a:cs typeface="Arial" panose="020B0604020202020204" pitchFamily="34" charset="0"/>
              </a:rPr>
              <a:t>Why</a:t>
            </a:r>
            <a:r>
              <a:rPr lang="en-GB" sz="2000" dirty="0">
                <a:latin typeface="Arial" panose="020B0604020202020204" pitchFamily="34" charset="0"/>
                <a:cs typeface="Arial" panose="020B0604020202020204" pitchFamily="34" charset="0"/>
              </a:rPr>
              <a:t> you might want to use </a:t>
            </a:r>
            <a:r>
              <a:rPr lang="en-GB" sz="2000" dirty="0" smtClean="0">
                <a:latin typeface="Arial" panose="020B0604020202020204" pitchFamily="34" charset="0"/>
                <a:cs typeface="Arial" panose="020B0604020202020204" pitchFamily="34" charset="0"/>
              </a:rPr>
              <a:t>it</a:t>
            </a:r>
            <a:br>
              <a:rPr lang="en-GB" sz="2000" dirty="0" smtClean="0">
                <a:latin typeface="Arial" panose="020B0604020202020204" pitchFamily="34" charset="0"/>
                <a:cs typeface="Arial" panose="020B0604020202020204" pitchFamily="34" charset="0"/>
              </a:rPr>
            </a:br>
            <a:r>
              <a:rPr lang="en-GB" sz="2000" dirty="0" smtClean="0">
                <a:latin typeface="Arial" panose="020B0604020202020204" pitchFamily="34" charset="0"/>
                <a:cs typeface="Arial" panose="020B0604020202020204" pitchFamily="34" charset="0"/>
              </a:rPr>
              <a:t>(plus alternatives) </a:t>
            </a:r>
          </a:p>
          <a:p>
            <a:pPr lvl="1"/>
            <a:r>
              <a:rPr lang="en-GB" sz="2000" dirty="0" smtClean="0">
                <a:solidFill>
                  <a:schemeClr val="accent6">
                    <a:lumMod val="75000"/>
                  </a:schemeClr>
                </a:solidFill>
                <a:latin typeface="Arial" panose="020B0604020202020204" pitchFamily="34" charset="0"/>
                <a:cs typeface="Arial" panose="020B0604020202020204" pitchFamily="34" charset="0"/>
              </a:rPr>
              <a:t>How</a:t>
            </a:r>
            <a:r>
              <a:rPr lang="en-GB" sz="2000" dirty="0" smtClean="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does it </a:t>
            </a:r>
            <a:r>
              <a:rPr lang="en-GB" sz="2000" dirty="0" smtClean="0">
                <a:latin typeface="Arial" panose="020B0604020202020204" pitchFamily="34" charset="0"/>
                <a:cs typeface="Arial" panose="020B0604020202020204" pitchFamily="34" charset="0"/>
              </a:rPr>
              <a:t>work?</a:t>
            </a:r>
          </a:p>
          <a:p>
            <a:pPr lvl="2"/>
            <a:r>
              <a:rPr lang="en-GB" sz="1600" dirty="0">
                <a:latin typeface="Arial" panose="020B0604020202020204" pitchFamily="34" charset="0"/>
                <a:cs typeface="Arial" panose="020B0604020202020204" pitchFamily="34" charset="0"/>
              </a:rPr>
              <a:t>demos using simulated data and fMRI </a:t>
            </a:r>
            <a:r>
              <a:rPr lang="en-GB" sz="1600" dirty="0" smtClean="0">
                <a:latin typeface="Arial" panose="020B0604020202020204" pitchFamily="34" charset="0"/>
                <a:cs typeface="Arial" panose="020B0604020202020204" pitchFamily="34" charset="0"/>
              </a:rPr>
              <a:t>data</a:t>
            </a:r>
          </a:p>
          <a:p>
            <a:pPr lvl="2"/>
            <a:endParaRPr lang="en-GB" sz="1600" dirty="0">
              <a:latin typeface="Arial" panose="020B0604020202020204" pitchFamily="34" charset="0"/>
              <a:cs typeface="Arial" panose="020B0604020202020204" pitchFamily="34" charset="0"/>
            </a:endParaRPr>
          </a:p>
          <a:p>
            <a:pPr lvl="2"/>
            <a:endParaRPr lang="en-GB" sz="1600" dirty="0" smtClean="0">
              <a:latin typeface="Arial" panose="020B0604020202020204" pitchFamily="34" charset="0"/>
              <a:cs typeface="Arial" panose="020B0604020202020204" pitchFamily="34" charset="0"/>
            </a:endParaRPr>
          </a:p>
          <a:p>
            <a:pPr lvl="2"/>
            <a:endParaRPr lang="en-GB" sz="1000" dirty="0" smtClean="0">
              <a:latin typeface="Arial" panose="020B0604020202020204" pitchFamily="34" charset="0"/>
              <a:cs typeface="Arial" panose="020B0604020202020204" pitchFamily="34" charset="0"/>
            </a:endParaRPr>
          </a:p>
        </p:txBody>
      </p:sp>
      <p:sp>
        <p:nvSpPr>
          <p:cNvPr id="5" name="Title 1"/>
          <p:cNvSpPr txBox="1">
            <a:spLocks/>
          </p:cNvSpPr>
          <p:nvPr/>
        </p:nvSpPr>
        <p:spPr bwMode="auto">
          <a:xfrm>
            <a:off x="107504" y="6021288"/>
            <a:ext cx="8877672" cy="72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None/>
            </a:pPr>
            <a:r>
              <a:rPr lang="en-GB" sz="2000" b="1" dirty="0" smtClean="0">
                <a:solidFill>
                  <a:schemeClr val="bg1">
                    <a:lumMod val="75000"/>
                  </a:schemeClr>
                </a:solidFill>
                <a:latin typeface="Arial" panose="020B0604020202020204" pitchFamily="34" charset="0"/>
                <a:cs typeface="Arial" panose="020B0604020202020204" pitchFamily="34" charset="0"/>
              </a:rPr>
              <a:t>Tomorrow</a:t>
            </a:r>
            <a:r>
              <a:rPr lang="en-GB" sz="2000" b="1" dirty="0">
                <a:solidFill>
                  <a:schemeClr val="bg1">
                    <a:lumMod val="75000"/>
                  </a:schemeClr>
                </a:solidFill>
                <a:latin typeface="Arial" panose="020B0604020202020204" pitchFamily="34" charset="0"/>
                <a:cs typeface="Arial" panose="020B0604020202020204" pitchFamily="34" charset="0"/>
              </a:rPr>
              <a:t>: Extension to time &amp; frequency domains (</a:t>
            </a:r>
            <a:r>
              <a:rPr lang="en-GB" sz="2000" b="1" dirty="0" err="1">
                <a:solidFill>
                  <a:schemeClr val="bg1">
                    <a:lumMod val="75000"/>
                  </a:schemeClr>
                </a:solidFill>
                <a:latin typeface="Arial" panose="020B0604020202020204" pitchFamily="34" charset="0"/>
                <a:cs typeface="Arial" panose="020B0604020202020204" pitchFamily="34" charset="0"/>
              </a:rPr>
              <a:t>Máté</a:t>
            </a:r>
            <a:r>
              <a:rPr lang="en-GB" sz="2000" b="1" dirty="0">
                <a:solidFill>
                  <a:schemeClr val="bg1">
                    <a:lumMod val="75000"/>
                  </a:schemeClr>
                </a:solidFill>
                <a:latin typeface="Arial" panose="020B0604020202020204" pitchFamily="34" charset="0"/>
                <a:cs typeface="Arial" panose="020B0604020202020204" pitchFamily="34" charset="0"/>
              </a:rPr>
              <a:t> Aller)</a:t>
            </a:r>
          </a:p>
        </p:txBody>
      </p:sp>
    </p:spTree>
    <p:extLst>
      <p:ext uri="{BB962C8B-B14F-4D97-AF65-F5344CB8AC3E}">
        <p14:creationId xmlns:p14="http://schemas.microsoft.com/office/powerpoint/2010/main" val="314094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xEl>
                                              <p:pRg st="8" end="8"/>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p:cNvSpPr txBox="1">
            <a:spLocks/>
          </p:cNvSpPr>
          <p:nvPr/>
        </p:nvSpPr>
        <p:spPr bwMode="auto">
          <a:xfrm>
            <a:off x="457200" y="764704"/>
            <a:ext cx="8229600" cy="568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571500" indent="-571500" eaLnBrk="1" hangingPunct="1">
              <a:spcBef>
                <a:spcPct val="0"/>
              </a:spcBef>
            </a:pPr>
            <a:r>
              <a:rPr lang="en-GB" altLang="en-US" sz="2800" dirty="0" smtClean="0"/>
              <a:t>“</a:t>
            </a:r>
            <a:r>
              <a:rPr lang="en-GB" altLang="en-US" sz="2800" dirty="0" smtClean="0">
                <a:solidFill>
                  <a:srgbClr val="C00000"/>
                </a:solidFill>
              </a:rPr>
              <a:t>M</a:t>
            </a:r>
            <a:r>
              <a:rPr lang="en-GB" altLang="en-US" sz="2800" dirty="0" smtClean="0"/>
              <a:t>ulti-</a:t>
            </a:r>
            <a:r>
              <a:rPr lang="en-GB" altLang="en-US" sz="2800" dirty="0" smtClean="0">
                <a:solidFill>
                  <a:srgbClr val="C00000"/>
                </a:solidFill>
              </a:rPr>
              <a:t>V</a:t>
            </a:r>
            <a:r>
              <a:rPr lang="en-GB" altLang="en-US" sz="2800" dirty="0" smtClean="0"/>
              <a:t>ariate </a:t>
            </a:r>
            <a:r>
              <a:rPr lang="en-GB" altLang="en-US" sz="2800" dirty="0">
                <a:solidFill>
                  <a:srgbClr val="C00000"/>
                </a:solidFill>
              </a:rPr>
              <a:t>P</a:t>
            </a:r>
            <a:r>
              <a:rPr lang="en-GB" altLang="en-US" sz="2800" dirty="0" smtClean="0"/>
              <a:t>attern </a:t>
            </a:r>
            <a:r>
              <a:rPr lang="en-GB" altLang="en-US" sz="2800" dirty="0" smtClean="0">
                <a:solidFill>
                  <a:srgbClr val="C00000"/>
                </a:solidFill>
              </a:rPr>
              <a:t>A</a:t>
            </a:r>
            <a:r>
              <a:rPr lang="en-GB" altLang="en-US" sz="2800" dirty="0" smtClean="0"/>
              <a:t>nalysis” (MVPA)</a:t>
            </a:r>
            <a:br>
              <a:rPr lang="en-GB" altLang="en-US" sz="2800" dirty="0" smtClean="0"/>
            </a:br>
            <a:r>
              <a:rPr lang="en-GB" altLang="en-US" sz="2800" b="1" dirty="0" smtClean="0"/>
              <a:t>relates response patterns </a:t>
            </a:r>
            <a:br>
              <a:rPr lang="en-GB" altLang="en-US" sz="2800" b="1" dirty="0" smtClean="0"/>
            </a:br>
            <a:r>
              <a:rPr lang="en-GB" altLang="en-US" sz="2800" b="1" dirty="0" smtClean="0"/>
              <a:t>to experimental conditions</a:t>
            </a:r>
          </a:p>
          <a:p>
            <a:pPr marL="571500" indent="-571500" eaLnBrk="1" hangingPunct="1">
              <a:spcBef>
                <a:spcPct val="0"/>
              </a:spcBef>
            </a:pPr>
            <a:endParaRPr lang="en-GB" altLang="en-US" sz="2800" dirty="0" smtClean="0"/>
          </a:p>
          <a:p>
            <a:pPr marL="571500" indent="-571500" eaLnBrk="1" hangingPunct="1">
              <a:spcBef>
                <a:spcPct val="0"/>
              </a:spcBef>
            </a:pPr>
            <a:r>
              <a:rPr lang="en-GB" altLang="en-US" sz="2800" dirty="0" smtClean="0"/>
              <a:t>Many (overlapping) flavours</a:t>
            </a:r>
          </a:p>
          <a:p>
            <a:pPr eaLnBrk="1" hangingPunct="1">
              <a:spcBef>
                <a:spcPct val="0"/>
              </a:spcBef>
              <a:buNone/>
            </a:pPr>
            <a:endParaRPr lang="en-GB" altLang="en-US" sz="2800" dirty="0" smtClean="0"/>
          </a:p>
          <a:p>
            <a:pPr marL="571500" indent="-571500" eaLnBrk="1" hangingPunct="1">
              <a:spcBef>
                <a:spcPct val="0"/>
              </a:spcBef>
            </a:pPr>
            <a:r>
              <a:rPr lang="en-GB" altLang="en-US" sz="2800" dirty="0" smtClean="0"/>
              <a:t>Encoding vs decoding </a:t>
            </a:r>
            <a:br>
              <a:rPr lang="en-GB" altLang="en-US" sz="2800" dirty="0" smtClean="0"/>
            </a:br>
            <a:r>
              <a:rPr lang="en-GB" altLang="en-US" sz="2000" dirty="0" smtClean="0"/>
              <a:t>(MVPA can be either or neither)</a:t>
            </a:r>
          </a:p>
          <a:p>
            <a:pPr marL="571500" indent="-571500" eaLnBrk="1" hangingPunct="1">
              <a:spcBef>
                <a:spcPct val="0"/>
              </a:spcBef>
            </a:pPr>
            <a:endParaRPr lang="en-GB" altLang="en-US" sz="2800" dirty="0" smtClean="0"/>
          </a:p>
          <a:p>
            <a:pPr marL="571500" indent="-571500" eaLnBrk="1" hangingPunct="1">
              <a:spcBef>
                <a:spcPct val="0"/>
              </a:spcBef>
            </a:pPr>
            <a:r>
              <a:rPr lang="en-GB" altLang="en-US" sz="2800" dirty="0" smtClean="0"/>
              <a:t>Activation vs information</a:t>
            </a:r>
            <a:r>
              <a:rPr lang="en-GB" altLang="en-US" sz="2800" dirty="0"/>
              <a:t>?</a:t>
            </a:r>
            <a:endParaRPr lang="en-GB" altLang="en-US" sz="2800" dirty="0" smtClean="0"/>
          </a:p>
        </p:txBody>
      </p:sp>
      <p:sp>
        <p:nvSpPr>
          <p:cNvPr id="3"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What is MVPA?</a:t>
            </a:r>
            <a:endParaRPr lang="en-GB" altLang="en-US" sz="3600" b="1" dirty="0"/>
          </a:p>
        </p:txBody>
      </p:sp>
      <p:grpSp>
        <p:nvGrpSpPr>
          <p:cNvPr id="15" name="Group 14"/>
          <p:cNvGrpSpPr/>
          <p:nvPr/>
        </p:nvGrpSpPr>
        <p:grpSpPr>
          <a:xfrm>
            <a:off x="5909318" y="1842075"/>
            <a:ext cx="3079641" cy="4755277"/>
            <a:chOff x="5909318" y="1842075"/>
            <a:chExt cx="3079641" cy="4755277"/>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160" y="1842075"/>
              <a:ext cx="2952328" cy="4755277"/>
            </a:xfrm>
            <a:prstGeom prst="rect">
              <a:avLst/>
            </a:prstGeom>
          </p:spPr>
        </p:pic>
        <p:sp>
          <p:nvSpPr>
            <p:cNvPr id="6" name="Text Box 1056"/>
            <p:cNvSpPr txBox="1">
              <a:spLocks noChangeArrowheads="1"/>
            </p:cNvSpPr>
            <p:nvPr/>
          </p:nvSpPr>
          <p:spPr bwMode="auto">
            <a:xfrm>
              <a:off x="6760486" y="4409053"/>
              <a:ext cx="936105" cy="400110"/>
            </a:xfrm>
            <a:prstGeom prst="rect">
              <a:avLst/>
            </a:prstGeom>
            <a:solidFill>
              <a:srgbClr val="FFFFFF">
                <a:alpha val="43922"/>
              </a:srgbClr>
            </a:solidFill>
            <a:ln>
              <a:noFill/>
            </a:ln>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2000" b="1" dirty="0" smtClean="0">
                  <a:latin typeface="Albertus Medium"/>
                </a:rPr>
                <a:t>MVPA</a:t>
              </a:r>
              <a:endParaRPr lang="en-US" altLang="en-US" sz="2000" b="1" dirty="0">
                <a:latin typeface="Albertus Medium"/>
              </a:endParaRPr>
            </a:p>
          </p:txBody>
        </p:sp>
        <p:sp>
          <p:nvSpPr>
            <p:cNvPr id="7" name="Text Box 1056"/>
            <p:cNvSpPr txBox="1">
              <a:spLocks noChangeArrowheads="1"/>
            </p:cNvSpPr>
            <p:nvPr/>
          </p:nvSpPr>
          <p:spPr bwMode="auto">
            <a:xfrm rot="3042717">
              <a:off x="7664229" y="3390604"/>
              <a:ext cx="1290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Classification</a:t>
              </a:r>
              <a:endParaRPr lang="en-US" altLang="en-US" sz="1200" b="1" dirty="0">
                <a:latin typeface="Albertus Medium"/>
              </a:endParaRPr>
            </a:p>
          </p:txBody>
        </p:sp>
        <p:sp>
          <p:nvSpPr>
            <p:cNvPr id="8" name="Text Box 1056"/>
            <p:cNvSpPr txBox="1">
              <a:spLocks noChangeArrowheads="1"/>
            </p:cNvSpPr>
            <p:nvPr/>
          </p:nvSpPr>
          <p:spPr bwMode="auto">
            <a:xfrm>
              <a:off x="6732239" y="3416438"/>
              <a:ext cx="1290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RSA</a:t>
              </a:r>
              <a:endParaRPr lang="en-US" altLang="en-US" sz="1200" b="1" dirty="0">
                <a:latin typeface="Albertus Medium"/>
              </a:endParaRPr>
            </a:p>
          </p:txBody>
        </p:sp>
        <p:sp>
          <p:nvSpPr>
            <p:cNvPr id="9" name="Text Box 1056"/>
            <p:cNvSpPr txBox="1">
              <a:spLocks noChangeArrowheads="1"/>
            </p:cNvSpPr>
            <p:nvPr/>
          </p:nvSpPr>
          <p:spPr bwMode="auto">
            <a:xfrm>
              <a:off x="5909318" y="3133922"/>
              <a:ext cx="1290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PCM</a:t>
              </a:r>
              <a:endParaRPr lang="en-US" altLang="en-US" sz="1200" b="1" dirty="0">
                <a:latin typeface="Albertus Medium"/>
              </a:endParaRPr>
            </a:p>
          </p:txBody>
        </p:sp>
        <p:sp>
          <p:nvSpPr>
            <p:cNvPr id="10" name="Text Box 1056"/>
            <p:cNvSpPr txBox="1">
              <a:spLocks noChangeArrowheads="1"/>
            </p:cNvSpPr>
            <p:nvPr/>
          </p:nvSpPr>
          <p:spPr bwMode="auto">
            <a:xfrm>
              <a:off x="6444208" y="2360631"/>
              <a:ext cx="1290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IEM</a:t>
              </a:r>
              <a:endParaRPr lang="en-US" altLang="en-US" sz="1200" b="1" dirty="0">
                <a:latin typeface="Albertus Medium"/>
              </a:endParaRPr>
            </a:p>
          </p:txBody>
        </p:sp>
        <p:sp>
          <p:nvSpPr>
            <p:cNvPr id="11" name="Text Box 1056"/>
            <p:cNvSpPr txBox="1">
              <a:spLocks noChangeArrowheads="1"/>
            </p:cNvSpPr>
            <p:nvPr/>
          </p:nvSpPr>
          <p:spPr bwMode="auto">
            <a:xfrm>
              <a:off x="7228539" y="2135658"/>
              <a:ext cx="1290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MVB</a:t>
              </a:r>
              <a:endParaRPr lang="en-US" altLang="en-US" sz="1200" b="1" dirty="0">
                <a:latin typeface="Albertus Medium"/>
              </a:endParaRPr>
            </a:p>
          </p:txBody>
        </p:sp>
        <p:sp>
          <p:nvSpPr>
            <p:cNvPr id="12" name="Text Box 1056"/>
            <p:cNvSpPr txBox="1">
              <a:spLocks noChangeArrowheads="1"/>
            </p:cNvSpPr>
            <p:nvPr/>
          </p:nvSpPr>
          <p:spPr bwMode="auto">
            <a:xfrm>
              <a:off x="7697986" y="2743976"/>
              <a:ext cx="12909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err="1" smtClean="0">
                  <a:latin typeface="Albertus Medium"/>
                </a:rPr>
                <a:t>cvMANOVA</a:t>
              </a:r>
              <a:endParaRPr lang="en-US" altLang="en-US" sz="1200" b="1" dirty="0">
                <a:latin typeface="Albertus Medium"/>
              </a:endParaRPr>
            </a:p>
          </p:txBody>
        </p:sp>
      </p:grpSp>
      <p:sp>
        <p:nvSpPr>
          <p:cNvPr id="5" name="Rounded Rectangle 4"/>
          <p:cNvSpPr/>
          <p:nvPr/>
        </p:nvSpPr>
        <p:spPr>
          <a:xfrm rot="2966359">
            <a:off x="7731064" y="3435127"/>
            <a:ext cx="1157301" cy="239619"/>
          </a:xfrm>
          <a:prstGeom prst="roundRect">
            <a:avLst/>
          </a:prstGeom>
          <a:noFill/>
          <a:ln>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14" name="Rounded Rectangle 13"/>
          <p:cNvSpPr/>
          <p:nvPr/>
        </p:nvSpPr>
        <p:spPr>
          <a:xfrm>
            <a:off x="7092280" y="3435126"/>
            <a:ext cx="535606" cy="239619"/>
          </a:xfrm>
          <a:prstGeom prst="roundRect">
            <a:avLst/>
          </a:prstGeom>
          <a:noFill/>
          <a:ln>
            <a:solidFill>
              <a:schemeClr val="accent3">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0890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51">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uiExpand="1" build="p"/>
      <p:bldP spid="5"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79388" y="188913"/>
            <a:ext cx="8640762" cy="719137"/>
          </a:xfrm>
        </p:spPr>
        <p:txBody>
          <a:bodyPr/>
          <a:lstStyle/>
          <a:p>
            <a:r>
              <a:rPr lang="en-GB" altLang="en-US" sz="2800" dirty="0" smtClean="0"/>
              <a:t>Per voxel (univariate) General Linear Model (GLM)…</a:t>
            </a:r>
          </a:p>
        </p:txBody>
      </p:sp>
      <p:grpSp>
        <p:nvGrpSpPr>
          <p:cNvPr id="5" name="Group 4"/>
          <p:cNvGrpSpPr/>
          <p:nvPr/>
        </p:nvGrpSpPr>
        <p:grpSpPr>
          <a:xfrm>
            <a:off x="71438" y="2666742"/>
            <a:ext cx="8856662" cy="2681287"/>
            <a:chOff x="179388" y="3916363"/>
            <a:chExt cx="8856662" cy="2681287"/>
          </a:xfrm>
        </p:grpSpPr>
        <p:sp>
          <p:nvSpPr>
            <p:cNvPr id="4" name="TextBox 3"/>
            <p:cNvSpPr txBox="1">
              <a:spLocks noRot="1" noChangeAspect="1" noMove="1" noResize="1" noEditPoints="1" noAdjustHandles="1" noChangeArrowheads="1" noChangeShapeType="1" noTextEdit="1"/>
            </p:cNvSpPr>
            <p:nvPr/>
          </p:nvSpPr>
          <p:spPr>
            <a:xfrm>
              <a:off x="5751723" y="4737918"/>
              <a:ext cx="3176703" cy="523220"/>
            </a:xfrm>
            <a:prstGeom prst="rect">
              <a:avLst/>
            </a:prstGeom>
            <a:blipFill rotWithShape="1">
              <a:blip r:embed="rId2">
                <a:extLst>
                  <a:ext uri="{28A0092B-C50C-407E-A947-70E740481C1C}">
                    <a14:useLocalDpi xmlns:a14="http://schemas.microsoft.com/office/drawing/2010/main"/>
                  </a:ext>
                </a:extLst>
              </a:blip>
              <a:stretch>
                <a:fillRect/>
              </a:stretch>
            </a:blipFill>
          </p:spPr>
          <p:txBody>
            <a:bodyPr/>
            <a:lstStyle/>
            <a:p>
              <a:pPr>
                <a:defRPr/>
              </a:pPr>
              <a:r>
                <a:rPr lang="en-GB">
                  <a:noFill/>
                </a:rPr>
                <a:t> </a:t>
              </a:r>
            </a:p>
          </p:txBody>
        </p:sp>
        <p:grpSp>
          <p:nvGrpSpPr>
            <p:cNvPr id="2" name="Group 1"/>
            <p:cNvGrpSpPr>
              <a:grpSpLocks/>
            </p:cNvGrpSpPr>
            <p:nvPr/>
          </p:nvGrpSpPr>
          <p:grpSpPr bwMode="auto">
            <a:xfrm>
              <a:off x="179388" y="3916363"/>
              <a:ext cx="4545012" cy="2681287"/>
              <a:chOff x="179388" y="3916363"/>
              <a:chExt cx="4545012" cy="2681287"/>
            </a:xfrm>
          </p:grpSpPr>
          <p:grpSp>
            <p:nvGrpSpPr>
              <p:cNvPr id="18481" name="Group 2"/>
              <p:cNvGrpSpPr>
                <a:grpSpLocks/>
              </p:cNvGrpSpPr>
              <p:nvPr/>
            </p:nvGrpSpPr>
            <p:grpSpPr bwMode="auto">
              <a:xfrm>
                <a:off x="1401763" y="3916363"/>
                <a:ext cx="3322637" cy="2681287"/>
                <a:chOff x="539552" y="1950245"/>
                <a:chExt cx="6120680" cy="5436581"/>
              </a:xfrm>
            </p:grpSpPr>
            <p:pic>
              <p:nvPicPr>
                <p:cNvPr id="149506" name="Picture 2"/>
                <p:cNvPicPr>
                  <a:picLocks noChangeAspect="1" noChangeArrowheads="1"/>
                </p:cNvPicPr>
                <p:nvPr/>
              </p:nvPicPr>
              <p:blipFill>
                <a:blip r:embed="rId3" cstate="screen">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9552" y="1988840"/>
                  <a:ext cx="1200150" cy="445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89"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907704" y="1950245"/>
                  <a:ext cx="3019425"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9508" name="Picture 4"/>
                <p:cNvPicPr>
                  <a:picLocks noChangeAspect="1" noChangeArrowheads="1"/>
                </p:cNvPicPr>
                <p:nvPr/>
              </p:nvPicPr>
              <p:blipFill>
                <a:blip r:embed="rId5"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55307" y="2007395"/>
                  <a:ext cx="1304925" cy="444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2" name="Picture 3"/>
                <p:cNvPicPr>
                  <a:picLocks noChangeAspect="1" noChangeArrowheads="1"/>
                </p:cNvPicPr>
                <p:nvPr/>
              </p:nvPicPr>
              <p:blipFill>
                <a:blip r:embed="rId6"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909282" y="6723828"/>
                  <a:ext cx="3019426" cy="66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4" name="TextBox 43"/>
              <p:cNvSpPr txBox="1">
                <a:spLocks noRot="1" noChangeAspect="1" noMove="1" noResize="1" noEditPoints="1" noAdjustHandles="1" noChangeArrowheads="1" noChangeShapeType="1" noTextEdit="1"/>
              </p:cNvSpPr>
              <p:nvPr/>
            </p:nvSpPr>
            <p:spPr>
              <a:xfrm>
                <a:off x="1818380" y="4802044"/>
                <a:ext cx="255317" cy="335346"/>
              </a:xfrm>
              <a:prstGeom prst="rect">
                <a:avLst/>
              </a:prstGeom>
              <a:blipFill rotWithShape="1">
                <a:blip r:embed="rId7" cstate="screen">
                  <a:extLst>
                    <a:ext uri="{28A0092B-C50C-407E-A947-70E740481C1C}">
                      <a14:useLocalDpi xmlns:a14="http://schemas.microsoft.com/office/drawing/2010/main"/>
                    </a:ext>
                  </a:extLst>
                </a:blip>
                <a:stretch>
                  <a:fillRect/>
                </a:stretch>
              </a:blipFill>
            </p:spPr>
            <p:txBody>
              <a:bodyPr/>
              <a:lstStyle/>
              <a:p>
                <a:pPr>
                  <a:defRPr/>
                </a:pPr>
                <a:r>
                  <a:rPr lang="en-GB">
                    <a:noFill/>
                  </a:rPr>
                  <a:t> </a:t>
                </a:r>
              </a:p>
            </p:txBody>
          </p:sp>
          <p:sp>
            <p:nvSpPr>
              <p:cNvPr id="45" name="TextBox 44"/>
              <p:cNvSpPr txBox="1">
                <a:spLocks noRot="1" noChangeAspect="1" noMove="1" noResize="1" noEditPoints="1" noAdjustHandles="1" noChangeArrowheads="1" noChangeShapeType="1" noTextEdit="1"/>
              </p:cNvSpPr>
              <p:nvPr/>
            </p:nvSpPr>
            <p:spPr>
              <a:xfrm>
                <a:off x="3884635" y="4802044"/>
                <a:ext cx="255317" cy="335346"/>
              </a:xfrm>
              <a:prstGeom prst="rect">
                <a:avLst/>
              </a:prstGeom>
              <a:blipFill rotWithShape="1">
                <a:blip r:embed="rId8" cstate="screen">
                  <a:extLst>
                    <a:ext uri="{28A0092B-C50C-407E-A947-70E740481C1C}">
                      <a14:useLocalDpi xmlns:a14="http://schemas.microsoft.com/office/drawing/2010/main"/>
                    </a:ext>
                  </a:extLst>
                </a:blip>
                <a:stretch>
                  <a:fillRect/>
                </a:stretch>
              </a:blipFill>
            </p:spPr>
            <p:txBody>
              <a:bodyPr/>
              <a:lstStyle/>
              <a:p>
                <a:pPr>
                  <a:defRPr/>
                </a:pPr>
                <a:r>
                  <a:rPr lang="en-GB">
                    <a:noFill/>
                  </a:rPr>
                  <a:t> </a:t>
                </a:r>
              </a:p>
            </p:txBody>
          </p:sp>
          <p:sp>
            <p:nvSpPr>
              <p:cNvPr id="46" name="TextBox 45"/>
              <p:cNvSpPr txBox="1">
                <a:spLocks noRot="1" noChangeAspect="1" noMove="1" noResize="1" noEditPoints="1" noAdjustHandles="1" noChangeArrowheads="1" noChangeShapeType="1" noTextEdit="1"/>
              </p:cNvSpPr>
              <p:nvPr/>
            </p:nvSpPr>
            <p:spPr>
              <a:xfrm>
                <a:off x="2838367" y="6008916"/>
                <a:ext cx="255317" cy="335346"/>
              </a:xfrm>
              <a:prstGeom prst="rect">
                <a:avLst/>
              </a:prstGeom>
              <a:blipFill rotWithShape="1">
                <a:blip r:embed="rId9">
                  <a:extLst>
                    <a:ext uri="{28A0092B-C50C-407E-A947-70E740481C1C}">
                      <a14:useLocalDpi xmlns:a14="http://schemas.microsoft.com/office/drawing/2010/main"/>
                    </a:ext>
                  </a:extLst>
                </a:blip>
                <a:stretch>
                  <a:fillRect/>
                </a:stretch>
              </a:blipFill>
            </p:spPr>
            <p:txBody>
              <a:bodyPr/>
              <a:lstStyle/>
              <a:p>
                <a:pPr>
                  <a:defRPr/>
                </a:pPr>
                <a:r>
                  <a:rPr lang="en-GB">
                    <a:noFill/>
                  </a:rPr>
                  <a:t> </a:t>
                </a:r>
              </a:p>
            </p:txBody>
          </p:sp>
          <p:sp>
            <p:nvSpPr>
              <p:cNvPr id="53" name="TextBox 52"/>
              <p:cNvSpPr txBox="1">
                <a:spLocks noRot="1" noChangeAspect="1" noMove="1" noResize="1" noEditPoints="1" noAdjustHandles="1" noChangeArrowheads="1" noChangeShapeType="1" noTextEdit="1"/>
              </p:cNvSpPr>
              <p:nvPr/>
            </p:nvSpPr>
            <p:spPr>
              <a:xfrm>
                <a:off x="2211949" y="6262006"/>
                <a:ext cx="1469673" cy="326434"/>
              </a:xfrm>
              <a:prstGeom prst="rect">
                <a:avLst/>
              </a:prstGeom>
              <a:blipFill rotWithShape="1">
                <a:blip r:embed="rId10" cstate="screen">
                  <a:extLst>
                    <a:ext uri="{28A0092B-C50C-407E-A947-70E740481C1C}">
                      <a14:useLocalDpi xmlns:a14="http://schemas.microsoft.com/office/drawing/2010/main"/>
                    </a:ext>
                  </a:extLst>
                </a:blip>
                <a:stretch>
                  <a:fillRect/>
                </a:stretch>
              </a:blipFill>
            </p:spPr>
            <p:txBody>
              <a:bodyPr/>
              <a:lstStyle/>
              <a:p>
                <a:pPr>
                  <a:defRPr/>
                </a:pPr>
                <a:r>
                  <a:rPr lang="en-GB">
                    <a:noFill/>
                  </a:rPr>
                  <a:t> </a:t>
                </a:r>
              </a:p>
            </p:txBody>
          </p:sp>
          <p:cxnSp>
            <p:nvCxnSpPr>
              <p:cNvPr id="60" name="Straight Arrow Connector 59"/>
              <p:cNvCxnSpPr/>
              <p:nvPr/>
            </p:nvCxnSpPr>
            <p:spPr>
              <a:xfrm>
                <a:off x="835025" y="3944938"/>
                <a:ext cx="0" cy="2189162"/>
              </a:xfrm>
              <a:prstGeom prst="straightConnector1">
                <a:avLst/>
              </a:prstGeom>
              <a:ln w="19050">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79388" y="5229225"/>
                <a:ext cx="631825" cy="646113"/>
              </a:xfrm>
              <a:prstGeom prst="rect">
                <a:avLst/>
              </a:prstGeom>
              <a:noFill/>
            </p:spPr>
            <p:txBody>
              <a:bodyPr wrap="none">
                <a:spAutoFit/>
              </a:bodyPr>
              <a:lstStyle/>
              <a:p>
                <a:pPr>
                  <a:defRPr/>
                </a:pPr>
                <a:r>
                  <a:rPr lang="en-GB" i="1" dirty="0">
                    <a:solidFill>
                      <a:schemeClr val="bg1">
                        <a:lumMod val="65000"/>
                      </a:schemeClr>
                    </a:solidFill>
                    <a:latin typeface="Cambria Math" panose="02040503050406030204" pitchFamily="18" charset="0"/>
                    <a:ea typeface="Cambria Math" panose="02040503050406030204" pitchFamily="18" charset="0"/>
                    <a:cs typeface="Times New Roman" panose="02020603050405020304" pitchFamily="18" charset="0"/>
                  </a:rPr>
                  <a:t>time</a:t>
                </a:r>
              </a:p>
              <a:p>
                <a:pPr>
                  <a:defRPr/>
                </a:pPr>
                <a:r>
                  <a:rPr lang="en-GB" i="1" dirty="0">
                    <a:solidFill>
                      <a:schemeClr val="bg1">
                        <a:lumMod val="65000"/>
                      </a:schemeClr>
                    </a:solidFill>
                    <a:latin typeface="Cambria Math" panose="02040503050406030204" pitchFamily="18" charset="0"/>
                    <a:ea typeface="Cambria Math" panose="02040503050406030204" pitchFamily="18" charset="0"/>
                    <a:cs typeface="Times New Roman" panose="02020603050405020304" pitchFamily="18" charset="0"/>
                  </a:rPr>
                  <a:t>(t)</a:t>
                </a:r>
              </a:p>
            </p:txBody>
          </p:sp>
        </p:grpSp>
        <p:sp>
          <p:nvSpPr>
            <p:cNvPr id="18437" name="TextBox 69"/>
            <p:cNvSpPr txBox="1">
              <a:spLocks noChangeArrowheads="1"/>
            </p:cNvSpPr>
            <p:nvPr/>
          </p:nvSpPr>
          <p:spPr bwMode="auto">
            <a:xfrm>
              <a:off x="7318375" y="5241925"/>
              <a:ext cx="854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1800">
                  <a:latin typeface="Cambria Math" panose="02040503050406030204" pitchFamily="18" charset="0"/>
                  <a:ea typeface="Cambria Math" panose="02040503050406030204" pitchFamily="18" charset="0"/>
                  <a:cs typeface="Times New Roman" panose="02020603050405020304" pitchFamily="18" charset="0"/>
                </a:rPr>
                <a:t>Design</a:t>
              </a:r>
              <a:br>
                <a:rPr lang="en-GB" altLang="en-US" sz="1800">
                  <a:latin typeface="Cambria Math" panose="02040503050406030204" pitchFamily="18" charset="0"/>
                  <a:ea typeface="Cambria Math" panose="02040503050406030204" pitchFamily="18" charset="0"/>
                  <a:cs typeface="Times New Roman" panose="02020603050405020304" pitchFamily="18" charset="0"/>
                </a:rPr>
              </a:br>
              <a:r>
                <a:rPr lang="en-GB" altLang="en-US" sz="1800">
                  <a:latin typeface="Cambria Math" panose="02040503050406030204" pitchFamily="18" charset="0"/>
                  <a:ea typeface="Cambria Math" panose="02040503050406030204" pitchFamily="18" charset="0"/>
                  <a:cs typeface="Times New Roman" panose="02020603050405020304" pitchFamily="18" charset="0"/>
                </a:rPr>
                <a:t>Matrix</a:t>
              </a:r>
            </a:p>
          </p:txBody>
        </p:sp>
        <p:sp>
          <p:nvSpPr>
            <p:cNvPr id="71" name="TextBox 70"/>
            <p:cNvSpPr txBox="1"/>
            <p:nvPr/>
          </p:nvSpPr>
          <p:spPr>
            <a:xfrm>
              <a:off x="5219700" y="5241925"/>
              <a:ext cx="1479550" cy="923925"/>
            </a:xfrm>
            <a:prstGeom prst="rect">
              <a:avLst/>
            </a:prstGeom>
            <a:noFill/>
          </p:spPr>
          <p:txBody>
            <a:bodyPr wrap="none">
              <a:spAutoFit/>
            </a:bodyPr>
            <a:lstStyle/>
            <a:p>
              <a:pPr algn="ctr">
                <a:defRPr/>
              </a:pPr>
              <a:r>
                <a:rPr lang="en-GB" dirty="0">
                  <a:solidFill>
                    <a:schemeClr val="accent3">
                      <a:lumMod val="75000"/>
                    </a:schemeClr>
                  </a:solidFill>
                  <a:latin typeface="Cambria Math" panose="02040503050406030204" pitchFamily="18" charset="0"/>
                  <a:ea typeface="Cambria Math" panose="02040503050406030204" pitchFamily="18" charset="0"/>
                  <a:cs typeface="Times New Roman" panose="02020603050405020304" pitchFamily="18" charset="0"/>
                </a:rPr>
                <a:t>Data</a:t>
              </a:r>
              <a:br>
                <a:rPr lang="en-GB" dirty="0">
                  <a:solidFill>
                    <a:schemeClr val="accent3">
                      <a:lumMod val="75000"/>
                    </a:schemeClr>
                  </a:solidFill>
                  <a:latin typeface="Cambria Math" panose="02040503050406030204" pitchFamily="18" charset="0"/>
                  <a:ea typeface="Cambria Math" panose="02040503050406030204" pitchFamily="18" charset="0"/>
                  <a:cs typeface="Times New Roman" panose="02020603050405020304" pitchFamily="18" charset="0"/>
                </a:rPr>
              </a:br>
              <a:r>
                <a:rPr lang="en-GB" dirty="0">
                  <a:solidFill>
                    <a:schemeClr val="accent3">
                      <a:lumMod val="75000"/>
                    </a:schemeClr>
                  </a:solidFill>
                  <a:latin typeface="Cambria Math" panose="02040503050406030204" pitchFamily="18" charset="0"/>
                  <a:ea typeface="Cambria Math" panose="02040503050406030204" pitchFamily="18" charset="0"/>
                  <a:cs typeface="Times New Roman" panose="02020603050405020304" pitchFamily="18" charset="0"/>
                </a:rPr>
                <a:t>(measured </a:t>
              </a:r>
              <a:br>
                <a:rPr lang="en-GB" dirty="0">
                  <a:solidFill>
                    <a:schemeClr val="accent3">
                      <a:lumMod val="75000"/>
                    </a:schemeClr>
                  </a:solidFill>
                  <a:latin typeface="Cambria Math" panose="02040503050406030204" pitchFamily="18" charset="0"/>
                  <a:ea typeface="Cambria Math" panose="02040503050406030204" pitchFamily="18" charset="0"/>
                  <a:cs typeface="Times New Roman" panose="02020603050405020304" pitchFamily="18" charset="0"/>
                </a:rPr>
              </a:br>
              <a:r>
                <a:rPr lang="en-GB" dirty="0">
                  <a:solidFill>
                    <a:schemeClr val="accent3">
                      <a:lumMod val="75000"/>
                    </a:schemeClr>
                  </a:solidFill>
                  <a:latin typeface="Cambria Math" panose="02040503050406030204" pitchFamily="18" charset="0"/>
                  <a:ea typeface="Cambria Math" panose="02040503050406030204" pitchFamily="18" charset="0"/>
                  <a:cs typeface="Times New Roman" panose="02020603050405020304" pitchFamily="18" charset="0"/>
                </a:rPr>
                <a:t>BOLD signal)</a:t>
              </a:r>
            </a:p>
          </p:txBody>
        </p:sp>
        <p:sp>
          <p:nvSpPr>
            <p:cNvPr id="18439" name="TextBox 71"/>
            <p:cNvSpPr txBox="1">
              <a:spLocks noChangeArrowheads="1"/>
            </p:cNvSpPr>
            <p:nvPr/>
          </p:nvSpPr>
          <p:spPr bwMode="auto">
            <a:xfrm>
              <a:off x="8312150" y="441642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18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a:t>Error</a:t>
              </a:r>
            </a:p>
          </p:txBody>
        </p:sp>
        <p:sp>
          <p:nvSpPr>
            <p:cNvPr id="73" name="TextBox 72"/>
            <p:cNvSpPr txBox="1"/>
            <p:nvPr/>
          </p:nvSpPr>
          <p:spPr>
            <a:xfrm>
              <a:off x="6456363" y="4138613"/>
              <a:ext cx="1308100" cy="646112"/>
            </a:xfrm>
            <a:prstGeom prst="rect">
              <a:avLst/>
            </a:prstGeom>
            <a:noFill/>
          </p:spPr>
          <p:txBody>
            <a:bodyPr wrap="none">
              <a:spAutoFit/>
            </a:bodyPr>
            <a:lstStyle/>
            <a:p>
              <a:pPr algn="ctr">
                <a:defRPr/>
              </a:pPr>
              <a:r>
                <a:rPr lang="en-GB" dirty="0">
                  <a:solidFill>
                    <a:schemeClr val="accent1">
                      <a:lumMod val="75000"/>
                    </a:schemeClr>
                  </a:solidFill>
                  <a:latin typeface="Cambria Math" panose="02040503050406030204" pitchFamily="18" charset="0"/>
                  <a:ea typeface="Cambria Math" panose="02040503050406030204" pitchFamily="18" charset="0"/>
                  <a:cs typeface="Times New Roman" panose="02020603050405020304" pitchFamily="18" charset="0"/>
                </a:rPr>
                <a:t>Activation</a:t>
              </a:r>
              <a:br>
                <a:rPr lang="en-GB" dirty="0">
                  <a:solidFill>
                    <a:schemeClr val="accent1">
                      <a:lumMod val="75000"/>
                    </a:schemeClr>
                  </a:solidFill>
                  <a:latin typeface="Cambria Math" panose="02040503050406030204" pitchFamily="18" charset="0"/>
                  <a:ea typeface="Cambria Math" panose="02040503050406030204" pitchFamily="18" charset="0"/>
                  <a:cs typeface="Times New Roman" panose="02020603050405020304" pitchFamily="18" charset="0"/>
                </a:rPr>
              </a:br>
              <a:r>
                <a:rPr lang="en-GB" dirty="0">
                  <a:solidFill>
                    <a:schemeClr val="accent1">
                      <a:lumMod val="75000"/>
                    </a:schemeClr>
                  </a:solidFill>
                  <a:latin typeface="Cambria Math" panose="02040503050406030204" pitchFamily="18" charset="0"/>
                  <a:ea typeface="Cambria Math" panose="02040503050406030204" pitchFamily="18" charset="0"/>
                  <a:cs typeface="Times New Roman" panose="02020603050405020304" pitchFamily="18" charset="0"/>
                </a:rPr>
                <a:t>coefficients</a:t>
              </a:r>
            </a:p>
          </p:txBody>
        </p:sp>
      </p:grpSp>
      <p:sp>
        <p:nvSpPr>
          <p:cNvPr id="7" name="Curved Down Arrow 6"/>
          <p:cNvSpPr/>
          <p:nvPr/>
        </p:nvSpPr>
        <p:spPr>
          <a:xfrm flipH="1">
            <a:off x="5742025" y="2132856"/>
            <a:ext cx="1855589" cy="64807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2" name="Curved Down Arrow 61"/>
          <p:cNvSpPr/>
          <p:nvPr/>
        </p:nvSpPr>
        <p:spPr>
          <a:xfrm rot="10800000" flipH="1">
            <a:off x="5746931" y="5085184"/>
            <a:ext cx="1855589" cy="683096"/>
          </a:xfrm>
          <a:prstGeom prst="curved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solidFill>
                <a:schemeClr val="accent4"/>
              </a:solidFill>
            </a:endParaRPr>
          </a:p>
        </p:txBody>
      </p:sp>
      <p:sp>
        <p:nvSpPr>
          <p:cNvPr id="63" name="Title 1"/>
          <p:cNvSpPr txBox="1">
            <a:spLocks/>
          </p:cNvSpPr>
          <p:nvPr/>
        </p:nvSpPr>
        <p:spPr bwMode="auto">
          <a:xfrm>
            <a:off x="2411760" y="1096155"/>
            <a:ext cx="6408390" cy="882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GB" altLang="en-US" sz="2400" dirty="0" smtClean="0">
                <a:solidFill>
                  <a:schemeClr val="accent1"/>
                </a:solidFill>
              </a:rPr>
              <a:t>…is an </a:t>
            </a:r>
            <a:r>
              <a:rPr lang="en-GB" altLang="en-US" sz="2400" i="1" dirty="0" smtClean="0">
                <a:solidFill>
                  <a:schemeClr val="accent1"/>
                </a:solidFill>
              </a:rPr>
              <a:t>encoding</a:t>
            </a:r>
            <a:r>
              <a:rPr lang="en-GB" altLang="en-US" sz="2400" dirty="0" smtClean="0">
                <a:solidFill>
                  <a:schemeClr val="accent1"/>
                </a:solidFill>
              </a:rPr>
              <a:t> model: can we</a:t>
            </a:r>
            <a:br>
              <a:rPr lang="en-GB" altLang="en-US" sz="2400" dirty="0" smtClean="0">
                <a:solidFill>
                  <a:schemeClr val="accent1"/>
                </a:solidFill>
              </a:rPr>
            </a:br>
            <a:r>
              <a:rPr lang="en-GB" altLang="en-US" sz="2400" dirty="0" smtClean="0">
                <a:solidFill>
                  <a:schemeClr val="accent1"/>
                </a:solidFill>
              </a:rPr>
              <a:t>predict the activity in a voxel</a:t>
            </a:r>
            <a:br>
              <a:rPr lang="en-GB" altLang="en-US" sz="2400" dirty="0" smtClean="0">
                <a:solidFill>
                  <a:schemeClr val="accent1"/>
                </a:solidFill>
              </a:rPr>
            </a:br>
            <a:r>
              <a:rPr lang="en-GB" altLang="en-US" sz="2400" dirty="0" smtClean="0">
                <a:solidFill>
                  <a:schemeClr val="accent1"/>
                </a:solidFill>
              </a:rPr>
              <a:t>from the experimental conditions in X?</a:t>
            </a:r>
          </a:p>
        </p:txBody>
      </p:sp>
      <p:sp>
        <p:nvSpPr>
          <p:cNvPr id="64" name="Title 1"/>
          <p:cNvSpPr txBox="1">
            <a:spLocks/>
          </p:cNvSpPr>
          <p:nvPr/>
        </p:nvSpPr>
        <p:spPr bwMode="auto">
          <a:xfrm>
            <a:off x="2103999" y="5789882"/>
            <a:ext cx="6951721" cy="882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GB" altLang="en-US" sz="2400" dirty="0" smtClean="0">
                <a:solidFill>
                  <a:schemeClr val="accent4"/>
                </a:solidFill>
              </a:rPr>
              <a:t>In (multivariate) </a:t>
            </a:r>
            <a:r>
              <a:rPr lang="en-GB" altLang="en-US" sz="2400" i="1" dirty="0" smtClean="0">
                <a:solidFill>
                  <a:schemeClr val="accent4"/>
                </a:solidFill>
              </a:rPr>
              <a:t>decoding</a:t>
            </a:r>
            <a:r>
              <a:rPr lang="en-GB" altLang="en-US" sz="2400" dirty="0" smtClean="0">
                <a:solidFill>
                  <a:schemeClr val="accent4"/>
                </a:solidFill>
              </a:rPr>
              <a:t> we try to predict the experimental condition from the pattern of responses</a:t>
            </a:r>
          </a:p>
        </p:txBody>
      </p:sp>
    </p:spTree>
    <p:extLst>
      <p:ext uri="{BB962C8B-B14F-4D97-AF65-F5344CB8AC3E}">
        <p14:creationId xmlns:p14="http://schemas.microsoft.com/office/powerpoint/2010/main" val="387717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2" grpId="0" animBg="1"/>
      <p:bldP spid="63" grpId="0"/>
      <p:bldP spid="6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6156176" y="6289377"/>
            <a:ext cx="2403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smtClean="0">
                <a:latin typeface="Times New Roman" panose="02020603050405020304" pitchFamily="18" charset="0"/>
              </a:rPr>
              <a:t>Mur </a:t>
            </a:r>
            <a:r>
              <a:rPr lang="en-GB" altLang="en-US" sz="1400" i="1" dirty="0">
                <a:latin typeface="Times New Roman" panose="02020603050405020304" pitchFamily="18" charset="0"/>
              </a:rPr>
              <a:t>et al. (2009)</a:t>
            </a:r>
            <a:endParaRPr lang="en-US" altLang="en-US" sz="1400" i="1" dirty="0">
              <a:latin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467026" y="980728"/>
            <a:ext cx="7687760" cy="2880320"/>
          </a:xfrm>
          <a:prstGeom prst="rect">
            <a:avLst/>
          </a:prstGeom>
        </p:spPr>
      </p:pic>
      <p:sp>
        <p:nvSpPr>
          <p:cNvPr id="6" name="Title 1"/>
          <p:cNvSpPr>
            <a:spLocks noGrp="1"/>
          </p:cNvSpPr>
          <p:nvPr>
            <p:ph type="title"/>
          </p:nvPr>
        </p:nvSpPr>
        <p:spPr>
          <a:xfrm>
            <a:off x="3491880" y="404664"/>
            <a:ext cx="5652120" cy="436910"/>
          </a:xfrm>
        </p:spPr>
        <p:txBody>
          <a:bodyPr/>
          <a:lstStyle/>
          <a:p>
            <a:pPr algn="l" eaLnBrk="1" hangingPunct="1"/>
            <a:r>
              <a:rPr lang="en-GB" altLang="en-US" sz="2800" dirty="0" smtClean="0"/>
              <a:t>Activation-based (univariate) analysis</a:t>
            </a:r>
          </a:p>
        </p:txBody>
      </p:sp>
      <p:sp>
        <p:nvSpPr>
          <p:cNvPr id="7" name="Title 1"/>
          <p:cNvSpPr txBox="1">
            <a:spLocks/>
          </p:cNvSpPr>
          <p:nvPr/>
        </p:nvSpPr>
        <p:spPr bwMode="auto">
          <a:xfrm>
            <a:off x="3491880" y="4293096"/>
            <a:ext cx="5652120"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r>
              <a:rPr lang="en-GB" altLang="en-US" sz="2800" dirty="0" smtClean="0"/>
              <a:t>Pattern-information analysis</a:t>
            </a:r>
          </a:p>
        </p:txBody>
      </p:sp>
      <p:sp>
        <p:nvSpPr>
          <p:cNvPr id="8" name="Rectangle 7"/>
          <p:cNvSpPr/>
          <p:nvPr/>
        </p:nvSpPr>
        <p:spPr>
          <a:xfrm>
            <a:off x="1979712" y="5011185"/>
            <a:ext cx="6840760" cy="1200329"/>
          </a:xfrm>
          <a:prstGeom prst="rect">
            <a:avLst/>
          </a:prstGeom>
        </p:spPr>
        <p:txBody>
          <a:bodyPr wrap="square">
            <a:spAutoFit/>
          </a:bodyPr>
          <a:lstStyle/>
          <a:p>
            <a:pPr marL="0" indent="0" eaLnBrk="1" fontAlgn="auto" hangingPunct="1">
              <a:spcAft>
                <a:spcPts val="0"/>
              </a:spcAft>
              <a:buFont typeface="Arial" panose="020B0604020202020204" pitchFamily="34" charset="0"/>
              <a:buNone/>
              <a:defRPr/>
            </a:pPr>
            <a:r>
              <a:rPr lang="en-GB" dirty="0" smtClean="0"/>
              <a:t>If we </a:t>
            </a:r>
            <a:r>
              <a:rPr lang="en-GB" dirty="0"/>
              <a:t>can </a:t>
            </a:r>
            <a:r>
              <a:rPr lang="en-GB" dirty="0" smtClean="0"/>
              <a:t>classify experimental conditions based on activity </a:t>
            </a:r>
            <a:r>
              <a:rPr lang="en-GB" dirty="0"/>
              <a:t>patterns </a:t>
            </a:r>
            <a:r>
              <a:rPr lang="en-GB" dirty="0" smtClean="0"/>
              <a:t>(better </a:t>
            </a:r>
            <a:r>
              <a:rPr lang="en-GB" dirty="0"/>
              <a:t>than </a:t>
            </a:r>
            <a:r>
              <a:rPr lang="en-GB" dirty="0" smtClean="0"/>
              <a:t>chance)…</a:t>
            </a:r>
            <a:endParaRPr lang="en-GB" dirty="0"/>
          </a:p>
          <a:p>
            <a:pPr marL="0" indent="0" eaLnBrk="1" fontAlgn="auto" hangingPunct="1">
              <a:spcAft>
                <a:spcPts val="0"/>
              </a:spcAft>
              <a:buFont typeface="Arial" panose="020B0604020202020204" pitchFamily="34" charset="0"/>
              <a:buNone/>
              <a:defRPr/>
            </a:pPr>
            <a:r>
              <a:rPr lang="en-GB" dirty="0" smtClean="0"/>
              <a:t>Then the </a:t>
            </a:r>
            <a:r>
              <a:rPr lang="en-GB" dirty="0"/>
              <a:t>activity pattern carries information about the experimental conditions.</a:t>
            </a:r>
          </a:p>
        </p:txBody>
      </p:sp>
      <p:sp>
        <p:nvSpPr>
          <p:cNvPr id="9" name="Oval 8"/>
          <p:cNvSpPr/>
          <p:nvPr/>
        </p:nvSpPr>
        <p:spPr>
          <a:xfrm>
            <a:off x="5148064" y="4000202"/>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6084168" y="4000202"/>
            <a:ext cx="360040" cy="3600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6" name="Rectangle 15"/>
          <p:cNvSpPr/>
          <p:nvPr/>
        </p:nvSpPr>
        <p:spPr>
          <a:xfrm>
            <a:off x="3707904" y="2780928"/>
            <a:ext cx="4536504"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3480226" y="4438104"/>
            <a:ext cx="4332134" cy="426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3535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204452" y="3253820"/>
            <a:ext cx="5306412" cy="748553"/>
          </a:xfrm>
          <a:prstGeom prst="rect">
            <a:avLst/>
          </a:prstGeom>
        </p:spPr>
      </p:pic>
      <p:sp>
        <p:nvSpPr>
          <p:cNvPr id="8" name="Oval 7"/>
          <p:cNvSpPr/>
          <p:nvPr/>
        </p:nvSpPr>
        <p:spPr>
          <a:xfrm>
            <a:off x="2468858"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4"/>
          <a:stretch>
            <a:fillRect/>
          </a:stretch>
        </p:blipFill>
        <p:spPr>
          <a:xfrm>
            <a:off x="2180827" y="1561598"/>
            <a:ext cx="5328592" cy="804002"/>
          </a:xfrm>
          <a:prstGeom prst="rect">
            <a:avLst/>
          </a:prstGeom>
        </p:spPr>
      </p:pic>
      <p:sp>
        <p:nvSpPr>
          <p:cNvPr id="9" name="Oval 8"/>
          <p:cNvSpPr/>
          <p:nvPr/>
        </p:nvSpPr>
        <p:spPr>
          <a:xfrm>
            <a:off x="2423572"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4" name="Oval 13"/>
          <p:cNvSpPr/>
          <p:nvPr/>
        </p:nvSpPr>
        <p:spPr>
          <a:xfrm>
            <a:off x="3981026"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3950836"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6" name="Oval 15"/>
          <p:cNvSpPr/>
          <p:nvPr/>
        </p:nvSpPr>
        <p:spPr>
          <a:xfrm>
            <a:off x="4737110"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4714468"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8" name="Oval 17"/>
          <p:cNvSpPr/>
          <p:nvPr/>
        </p:nvSpPr>
        <p:spPr>
          <a:xfrm>
            <a:off x="5493194"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5478100"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0" name="Oval 19"/>
          <p:cNvSpPr/>
          <p:nvPr/>
        </p:nvSpPr>
        <p:spPr>
          <a:xfrm>
            <a:off x="6249278"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6241732"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2" name="Oval 21"/>
          <p:cNvSpPr/>
          <p:nvPr/>
        </p:nvSpPr>
        <p:spPr>
          <a:xfrm>
            <a:off x="7005362"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p:cNvSpPr/>
          <p:nvPr/>
        </p:nvSpPr>
        <p:spPr>
          <a:xfrm>
            <a:off x="7005362"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4" name="Oval 23"/>
          <p:cNvSpPr/>
          <p:nvPr/>
        </p:nvSpPr>
        <p:spPr>
          <a:xfrm>
            <a:off x="3224942" y="4218398"/>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p:cNvSpPr/>
          <p:nvPr/>
        </p:nvSpPr>
        <p:spPr>
          <a:xfrm>
            <a:off x="3187204" y="1115001"/>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100" name="Group 99"/>
          <p:cNvGrpSpPr/>
          <p:nvPr/>
        </p:nvGrpSpPr>
        <p:grpSpPr>
          <a:xfrm>
            <a:off x="7365403" y="2173700"/>
            <a:ext cx="1655051" cy="1993901"/>
            <a:chOff x="7020272" y="1988840"/>
            <a:chExt cx="1655051" cy="1993901"/>
          </a:xfrm>
        </p:grpSpPr>
        <p:cxnSp>
          <p:nvCxnSpPr>
            <p:cNvPr id="74" name="Straight Arrow Connector 73"/>
            <p:cNvCxnSpPr/>
            <p:nvPr/>
          </p:nvCxnSpPr>
          <p:spPr>
            <a:xfrm flipH="1" flipV="1">
              <a:off x="7020272" y="1988840"/>
              <a:ext cx="648072" cy="720080"/>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9" name="Text Box 1056"/>
            <p:cNvSpPr txBox="1">
              <a:spLocks noChangeArrowheads="1"/>
            </p:cNvSpPr>
            <p:nvPr/>
          </p:nvSpPr>
          <p:spPr bwMode="auto">
            <a:xfrm>
              <a:off x="7236296" y="2490025"/>
              <a:ext cx="1439027" cy="149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
              </a:r>
              <a:br>
                <a:rPr lang="en-GB" altLang="en-US" sz="1400" b="1" dirty="0" smtClean="0">
                  <a:latin typeface="Albertus Medium"/>
                </a:rPr>
              </a:br>
              <a:r>
                <a:rPr lang="en-GB" altLang="en-US" sz="1400" b="1" dirty="0" smtClean="0">
                  <a:latin typeface="Albertus Medium"/>
                </a:rPr>
                <a:t>variable,</a:t>
              </a:r>
              <a:br>
                <a:rPr lang="en-GB" altLang="en-US" sz="1400" b="1" dirty="0" smtClean="0">
                  <a:latin typeface="Albertus Medium"/>
                </a:rPr>
              </a:br>
              <a:r>
                <a:rPr lang="en-GB" altLang="en-US" sz="1400" b="1" dirty="0" smtClean="0">
                  <a:latin typeface="Albertus Medium"/>
                </a:rPr>
                <a:t>feature,</a:t>
              </a:r>
              <a:br>
                <a:rPr lang="en-GB" altLang="en-US" sz="1400" b="1" dirty="0" smtClean="0">
                  <a:latin typeface="Albertus Medium"/>
                </a:rPr>
              </a:br>
              <a:r>
                <a:rPr lang="en-GB" altLang="en-US" sz="1400" b="1" dirty="0" smtClean="0">
                  <a:latin typeface="Albertus Medium"/>
                </a:rPr>
                <a:t>dimension</a:t>
              </a:r>
            </a:p>
            <a:p>
              <a:pPr algn="ctr" eaLnBrk="1" hangingPunct="1">
                <a:spcBef>
                  <a:spcPct val="50000"/>
                </a:spcBef>
                <a:buFontTx/>
                <a:buNone/>
              </a:pPr>
              <a:r>
                <a:rPr lang="en-GB" altLang="en-US" sz="1400" b="1" dirty="0" smtClean="0">
                  <a:latin typeface="Albertus Medium"/>
                </a:rPr>
                <a:t>(e.g. voxel in fMRI)</a:t>
              </a:r>
              <a:endParaRPr lang="en-US" altLang="en-US" sz="1400" b="1" dirty="0">
                <a:latin typeface="Albertus Medium"/>
              </a:endParaRPr>
            </a:p>
          </p:txBody>
        </p:sp>
      </p:grpSp>
      <p:grpSp>
        <p:nvGrpSpPr>
          <p:cNvPr id="93" name="Group 92"/>
          <p:cNvGrpSpPr/>
          <p:nvPr/>
        </p:nvGrpSpPr>
        <p:grpSpPr>
          <a:xfrm>
            <a:off x="1000238" y="1115002"/>
            <a:ext cx="1108581" cy="3434962"/>
            <a:chOff x="107504" y="930142"/>
            <a:chExt cx="1108581" cy="3434962"/>
          </a:xfrm>
        </p:grpSpPr>
        <p:sp>
          <p:nvSpPr>
            <p:cNvPr id="76" name="Left Brace 75"/>
            <p:cNvSpPr/>
            <p:nvPr/>
          </p:nvSpPr>
          <p:spPr>
            <a:xfrm>
              <a:off x="1024211" y="930142"/>
              <a:ext cx="191874" cy="3434962"/>
            </a:xfrm>
            <a:prstGeom prst="leftBrace">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2000"/>
            </a:p>
          </p:txBody>
        </p:sp>
        <p:sp>
          <p:nvSpPr>
            <p:cNvPr id="80" name="Text Box 1056"/>
            <p:cNvSpPr txBox="1">
              <a:spLocks noChangeArrowheads="1"/>
            </p:cNvSpPr>
            <p:nvPr/>
          </p:nvSpPr>
          <p:spPr bwMode="auto">
            <a:xfrm>
              <a:off x="107504" y="2436218"/>
              <a:ext cx="1038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Training set</a:t>
              </a:r>
              <a:endParaRPr lang="en-US" altLang="en-US" sz="1400" b="1" dirty="0">
                <a:latin typeface="Albertus Medium"/>
              </a:endParaRPr>
            </a:p>
          </p:txBody>
        </p:sp>
      </p:grpSp>
      <p:grpSp>
        <p:nvGrpSpPr>
          <p:cNvPr id="101" name="Group 100"/>
          <p:cNvGrpSpPr/>
          <p:nvPr/>
        </p:nvGrpSpPr>
        <p:grpSpPr>
          <a:xfrm>
            <a:off x="3727084" y="5342052"/>
            <a:ext cx="2198158" cy="1181225"/>
            <a:chOff x="3381953" y="5157192"/>
            <a:chExt cx="2198158" cy="1181225"/>
          </a:xfrm>
        </p:grpSpPr>
        <p:grpSp>
          <p:nvGrpSpPr>
            <p:cNvPr id="13" name="Group 12"/>
            <p:cNvGrpSpPr/>
            <p:nvPr/>
          </p:nvGrpSpPr>
          <p:grpSpPr>
            <a:xfrm>
              <a:off x="3381953" y="5157192"/>
              <a:ext cx="2198158" cy="823675"/>
              <a:chOff x="3635896" y="2688130"/>
              <a:chExt cx="3083987" cy="1209833"/>
            </a:xfrm>
          </p:grpSpPr>
          <p:pic>
            <p:nvPicPr>
              <p:cNvPr id="6" name="Picture 5"/>
              <p:cNvPicPr>
                <a:picLocks noChangeAspect="1"/>
              </p:cNvPicPr>
              <p:nvPr/>
            </p:nvPicPr>
            <p:blipFill>
              <a:blip r:embed="rId5"/>
              <a:stretch>
                <a:fillRect/>
              </a:stretch>
            </p:blipFill>
            <p:spPr>
              <a:xfrm>
                <a:off x="3635896" y="2871091"/>
                <a:ext cx="1011314" cy="1026872"/>
              </a:xfrm>
              <a:prstGeom prst="rect">
                <a:avLst/>
              </a:prstGeom>
            </p:spPr>
          </p:pic>
          <p:pic>
            <p:nvPicPr>
              <p:cNvPr id="7" name="Picture 6"/>
              <p:cNvPicPr>
                <a:picLocks noChangeAspect="1"/>
              </p:cNvPicPr>
              <p:nvPr/>
            </p:nvPicPr>
            <p:blipFill>
              <a:blip r:embed="rId6"/>
              <a:stretch>
                <a:fillRect/>
              </a:stretch>
            </p:blipFill>
            <p:spPr>
              <a:xfrm>
                <a:off x="5724128" y="2871091"/>
                <a:ext cx="995755" cy="1026872"/>
              </a:xfrm>
              <a:prstGeom prst="rect">
                <a:avLst/>
              </a:prstGeom>
            </p:spPr>
          </p:pic>
          <p:sp>
            <p:nvSpPr>
              <p:cNvPr id="10" name="Rectangle 9"/>
              <p:cNvSpPr/>
              <p:nvPr/>
            </p:nvSpPr>
            <p:spPr>
              <a:xfrm>
                <a:off x="4906604" y="2688130"/>
                <a:ext cx="505268" cy="923330"/>
              </a:xfrm>
              <a:prstGeom prst="rect">
                <a:avLst/>
              </a:prstGeom>
              <a:noFill/>
            </p:spPr>
            <p:txBody>
              <a:bodyPr wrap="none" lIns="91440" tIns="45720" rIns="91440" bIns="45720">
                <a:spAutoFit/>
              </a:bodyPr>
              <a:lstStyle/>
              <a:p>
                <a:pPr algn="ctr"/>
                <a:r>
                  <a:rPr lang="en-US" sz="5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a:t>
                </a:r>
                <a:endPar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grpSp>
        <p:sp>
          <p:nvSpPr>
            <p:cNvPr id="82" name="Oval 81"/>
            <p:cNvSpPr/>
            <p:nvPr/>
          </p:nvSpPr>
          <p:spPr>
            <a:xfrm>
              <a:off x="3635895" y="6093296"/>
              <a:ext cx="256624" cy="2451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83" name="Oval 82"/>
            <p:cNvSpPr/>
            <p:nvPr/>
          </p:nvSpPr>
          <p:spPr>
            <a:xfrm>
              <a:off x="5096929" y="6093296"/>
              <a:ext cx="256624" cy="2451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grpSp>
        <p:nvGrpSpPr>
          <p:cNvPr id="94" name="Group 93"/>
          <p:cNvGrpSpPr/>
          <p:nvPr/>
        </p:nvGrpSpPr>
        <p:grpSpPr>
          <a:xfrm>
            <a:off x="1014141" y="5342051"/>
            <a:ext cx="1094678" cy="1183293"/>
            <a:chOff x="121407" y="5157191"/>
            <a:chExt cx="1094678" cy="1183293"/>
          </a:xfrm>
        </p:grpSpPr>
        <p:sp>
          <p:nvSpPr>
            <p:cNvPr id="81" name="Text Box 1056"/>
            <p:cNvSpPr txBox="1">
              <a:spLocks noChangeArrowheads="1"/>
            </p:cNvSpPr>
            <p:nvPr/>
          </p:nvSpPr>
          <p:spPr bwMode="auto">
            <a:xfrm>
              <a:off x="121407" y="5473035"/>
              <a:ext cx="1038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Testing</a:t>
              </a:r>
              <a:br>
                <a:rPr lang="en-GB" altLang="en-US" sz="1400" b="1" dirty="0" smtClean="0">
                  <a:latin typeface="Albertus Medium"/>
                </a:rPr>
              </a:br>
              <a:r>
                <a:rPr lang="en-GB" altLang="en-US" sz="1400" b="1" dirty="0" smtClean="0">
                  <a:latin typeface="Albertus Medium"/>
                </a:rPr>
                <a:t>set</a:t>
              </a:r>
              <a:endParaRPr lang="en-US" altLang="en-US" sz="1400" b="1" dirty="0">
                <a:latin typeface="Albertus Medium"/>
              </a:endParaRPr>
            </a:p>
          </p:txBody>
        </p:sp>
        <p:sp>
          <p:nvSpPr>
            <p:cNvPr id="85" name="Left Brace 84"/>
            <p:cNvSpPr/>
            <p:nvPr/>
          </p:nvSpPr>
          <p:spPr>
            <a:xfrm>
              <a:off x="1024211" y="5157191"/>
              <a:ext cx="191874" cy="1183293"/>
            </a:xfrm>
            <a:prstGeom prst="leftBrace">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2000"/>
            </a:p>
          </p:txBody>
        </p:sp>
      </p:grpSp>
      <p:grpSp>
        <p:nvGrpSpPr>
          <p:cNvPr id="99" name="Group 98"/>
          <p:cNvGrpSpPr/>
          <p:nvPr/>
        </p:nvGrpSpPr>
        <p:grpSpPr>
          <a:xfrm>
            <a:off x="7656291" y="1711570"/>
            <a:ext cx="1364162" cy="504056"/>
            <a:chOff x="7311160" y="1526710"/>
            <a:chExt cx="1364162" cy="504056"/>
          </a:xfrm>
        </p:grpSpPr>
        <p:sp>
          <p:nvSpPr>
            <p:cNvPr id="77" name="Text Box 1056"/>
            <p:cNvSpPr txBox="1">
              <a:spLocks noChangeArrowheads="1"/>
            </p:cNvSpPr>
            <p:nvPr/>
          </p:nvSpPr>
          <p:spPr bwMode="auto">
            <a:xfrm>
              <a:off x="7618709" y="1659045"/>
              <a:ext cx="10566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Patterns</a:t>
              </a:r>
              <a:endParaRPr lang="en-US" altLang="en-US" sz="1400" b="1" dirty="0">
                <a:latin typeface="Albertus Medium"/>
              </a:endParaRPr>
            </a:p>
          </p:txBody>
        </p:sp>
        <p:sp>
          <p:nvSpPr>
            <p:cNvPr id="86" name="Left Brace 85"/>
            <p:cNvSpPr/>
            <p:nvPr/>
          </p:nvSpPr>
          <p:spPr>
            <a:xfrm flipH="1">
              <a:off x="7311160" y="1526710"/>
              <a:ext cx="185977" cy="504056"/>
            </a:xfrm>
            <a:prstGeom prst="leftBrace">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2000"/>
            </a:p>
          </p:txBody>
        </p:sp>
      </p:grpSp>
      <p:grpSp>
        <p:nvGrpSpPr>
          <p:cNvPr id="95" name="Group 94"/>
          <p:cNvGrpSpPr/>
          <p:nvPr/>
        </p:nvGrpSpPr>
        <p:grpSpPr>
          <a:xfrm>
            <a:off x="4591929" y="517516"/>
            <a:ext cx="2269418" cy="1828653"/>
            <a:chOff x="4246798" y="332656"/>
            <a:chExt cx="2269418" cy="1828653"/>
          </a:xfrm>
        </p:grpSpPr>
        <p:sp>
          <p:nvSpPr>
            <p:cNvPr id="78" name="Text Box 1056"/>
            <p:cNvSpPr txBox="1">
              <a:spLocks noChangeArrowheads="1"/>
            </p:cNvSpPr>
            <p:nvPr/>
          </p:nvSpPr>
          <p:spPr bwMode="auto">
            <a:xfrm>
              <a:off x="4246798" y="332656"/>
              <a:ext cx="22694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Sample / observation</a:t>
              </a:r>
              <a:endParaRPr lang="en-US" altLang="en-US" sz="1400" b="1" dirty="0">
                <a:latin typeface="Albertus Medium"/>
              </a:endParaRPr>
            </a:p>
          </p:txBody>
        </p:sp>
        <p:sp>
          <p:nvSpPr>
            <p:cNvPr id="88" name="Rectangular Callout 87"/>
            <p:cNvSpPr/>
            <p:nvPr/>
          </p:nvSpPr>
          <p:spPr>
            <a:xfrm flipV="1">
              <a:off x="4876800" y="815389"/>
              <a:ext cx="762000" cy="1345920"/>
            </a:xfrm>
            <a:prstGeom prst="wedgeRectCallout">
              <a:avLst>
                <a:gd name="adj1" fmla="val -5986"/>
                <a:gd name="adj2" fmla="val 63713"/>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GB" sz="2000"/>
            </a:p>
          </p:txBody>
        </p:sp>
      </p:grpSp>
      <p:grpSp>
        <p:nvGrpSpPr>
          <p:cNvPr id="98" name="Group 97"/>
          <p:cNvGrpSpPr/>
          <p:nvPr/>
        </p:nvGrpSpPr>
        <p:grpSpPr>
          <a:xfrm>
            <a:off x="7656291" y="1000250"/>
            <a:ext cx="1364162" cy="544542"/>
            <a:chOff x="7311160" y="815390"/>
            <a:chExt cx="1364162" cy="544542"/>
          </a:xfrm>
        </p:grpSpPr>
        <p:sp>
          <p:nvSpPr>
            <p:cNvPr id="84" name="Left Brace 83"/>
            <p:cNvSpPr/>
            <p:nvPr/>
          </p:nvSpPr>
          <p:spPr>
            <a:xfrm flipH="1">
              <a:off x="7311160" y="815390"/>
              <a:ext cx="185977" cy="504056"/>
            </a:xfrm>
            <a:prstGeom prst="leftBrace">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2000"/>
            </a:p>
          </p:txBody>
        </p:sp>
        <p:sp>
          <p:nvSpPr>
            <p:cNvPr id="89" name="Text Box 1056"/>
            <p:cNvSpPr txBox="1">
              <a:spLocks noChangeArrowheads="1"/>
            </p:cNvSpPr>
            <p:nvPr/>
          </p:nvSpPr>
          <p:spPr bwMode="auto">
            <a:xfrm>
              <a:off x="7618710" y="836712"/>
              <a:ext cx="10566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Class / condition</a:t>
              </a:r>
              <a:endParaRPr lang="en-US" altLang="en-US" sz="1400" b="1" dirty="0">
                <a:latin typeface="Albertus Medium"/>
              </a:endParaRPr>
            </a:p>
          </p:txBody>
        </p:sp>
      </p:grpSp>
      <p:grpSp>
        <p:nvGrpSpPr>
          <p:cNvPr id="97" name="Group 96"/>
          <p:cNvGrpSpPr/>
          <p:nvPr/>
        </p:nvGrpSpPr>
        <p:grpSpPr>
          <a:xfrm>
            <a:off x="7141866" y="540243"/>
            <a:ext cx="1053442" cy="697352"/>
            <a:chOff x="6796735" y="355383"/>
            <a:chExt cx="1053442" cy="697352"/>
          </a:xfrm>
        </p:grpSpPr>
        <p:cxnSp>
          <p:nvCxnSpPr>
            <p:cNvPr id="90" name="Straight Arrow Connector 89"/>
            <p:cNvCxnSpPr/>
            <p:nvPr/>
          </p:nvCxnSpPr>
          <p:spPr>
            <a:xfrm flipH="1">
              <a:off x="6796735" y="627017"/>
              <a:ext cx="367553" cy="425718"/>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2" name="Text Box 1056"/>
            <p:cNvSpPr txBox="1">
              <a:spLocks noChangeArrowheads="1"/>
            </p:cNvSpPr>
            <p:nvPr/>
          </p:nvSpPr>
          <p:spPr bwMode="auto">
            <a:xfrm>
              <a:off x="6958753" y="355383"/>
              <a:ext cx="8914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Label</a:t>
              </a:r>
              <a:endParaRPr lang="en-US" altLang="en-US" sz="1400" b="1" dirty="0">
                <a:latin typeface="Albertus Medium"/>
              </a:endParaRPr>
            </a:p>
          </p:txBody>
        </p:sp>
      </p:grpSp>
      <p:grpSp>
        <p:nvGrpSpPr>
          <p:cNvPr id="47" name="Group 46"/>
          <p:cNvGrpSpPr/>
          <p:nvPr/>
        </p:nvGrpSpPr>
        <p:grpSpPr>
          <a:xfrm>
            <a:off x="11336" y="1115001"/>
            <a:ext cx="1088238" cy="5408276"/>
            <a:chOff x="127847" y="930142"/>
            <a:chExt cx="1088238" cy="5408276"/>
          </a:xfrm>
        </p:grpSpPr>
        <p:sp>
          <p:nvSpPr>
            <p:cNvPr id="48" name="Left Brace 47"/>
            <p:cNvSpPr/>
            <p:nvPr/>
          </p:nvSpPr>
          <p:spPr>
            <a:xfrm>
              <a:off x="1041425" y="930142"/>
              <a:ext cx="174660" cy="5408276"/>
            </a:xfrm>
            <a:prstGeom prst="leftBrace">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2000"/>
            </a:p>
          </p:txBody>
        </p:sp>
        <p:sp>
          <p:nvSpPr>
            <p:cNvPr id="49" name="Text Box 1056"/>
            <p:cNvSpPr txBox="1">
              <a:spLocks noChangeArrowheads="1"/>
            </p:cNvSpPr>
            <p:nvPr/>
          </p:nvSpPr>
          <p:spPr bwMode="auto">
            <a:xfrm>
              <a:off x="127847" y="3140969"/>
              <a:ext cx="10380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400" b="1" dirty="0" smtClean="0">
                  <a:latin typeface="Albertus Medium"/>
                </a:rPr>
                <a:t>Partition /</a:t>
              </a:r>
            </a:p>
            <a:p>
              <a:pPr algn="ctr" eaLnBrk="1" hangingPunct="1">
                <a:spcBef>
                  <a:spcPct val="50000"/>
                </a:spcBef>
                <a:buFontTx/>
                <a:buNone/>
              </a:pPr>
              <a:r>
                <a:rPr lang="en-GB" altLang="en-US" sz="1400" b="1" dirty="0" smtClean="0">
                  <a:latin typeface="Albertus Medium"/>
                </a:rPr>
                <a:t>split /</a:t>
              </a:r>
            </a:p>
            <a:p>
              <a:pPr algn="ctr" eaLnBrk="1" hangingPunct="1">
                <a:spcBef>
                  <a:spcPct val="50000"/>
                </a:spcBef>
                <a:buFontTx/>
                <a:buNone/>
              </a:pPr>
              <a:r>
                <a:rPr lang="en-GB" altLang="en-US" sz="1400" b="1" dirty="0" smtClean="0">
                  <a:latin typeface="Albertus Medium"/>
                </a:rPr>
                <a:t>fold</a:t>
              </a:r>
              <a:endParaRPr lang="en-US" altLang="en-US" sz="1400" b="1" dirty="0">
                <a:latin typeface="Albertus Medium"/>
              </a:endParaRPr>
            </a:p>
          </p:txBody>
        </p:sp>
      </p:grpSp>
      <p:sp>
        <p:nvSpPr>
          <p:cNvPr id="51" name="Title 1"/>
          <p:cNvSpPr txBox="1">
            <a:spLocks/>
          </p:cNvSpPr>
          <p:nvPr/>
        </p:nvSpPr>
        <p:spPr bwMode="auto">
          <a:xfrm>
            <a:off x="-252536" y="188640"/>
            <a:ext cx="3213918"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b="1" dirty="0" smtClean="0"/>
              <a:t>Terminology:</a:t>
            </a:r>
            <a:endParaRPr lang="en-GB" altLang="en-US" b="1" dirty="0"/>
          </a:p>
        </p:txBody>
      </p:sp>
    </p:spTree>
    <p:extLst>
      <p:ext uri="{BB962C8B-B14F-4D97-AF65-F5344CB8AC3E}">
        <p14:creationId xmlns:p14="http://schemas.microsoft.com/office/powerpoint/2010/main" val="227601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p:cTn id="7" dur="500" fill="hold"/>
                                        <p:tgtEl>
                                          <p:spTgt spid="101"/>
                                        </p:tgtEl>
                                        <p:attrNameLst>
                                          <p:attrName>ppt_w</p:attrName>
                                        </p:attrNameLst>
                                      </p:cBhvr>
                                      <p:tavLst>
                                        <p:tav tm="0">
                                          <p:val>
                                            <p:fltVal val="0"/>
                                          </p:val>
                                        </p:tav>
                                        <p:tav tm="100000">
                                          <p:val>
                                            <p:strVal val="#ppt_w"/>
                                          </p:val>
                                        </p:tav>
                                      </p:tavLst>
                                    </p:anim>
                                    <p:anim calcmode="lin" valueType="num">
                                      <p:cBhvr>
                                        <p:cTn id="8" dur="500" fill="hold"/>
                                        <p:tgtEl>
                                          <p:spTgt spid="101"/>
                                        </p:tgtEl>
                                        <p:attrNameLst>
                                          <p:attrName>ppt_h</p:attrName>
                                        </p:attrNameLst>
                                      </p:cBhvr>
                                      <p:tavLst>
                                        <p:tav tm="0">
                                          <p:val>
                                            <p:fltVal val="0"/>
                                          </p:val>
                                        </p:tav>
                                        <p:tav tm="100000">
                                          <p:val>
                                            <p:strVal val="#ppt_h"/>
                                          </p:val>
                                        </p:tav>
                                      </p:tavLst>
                                    </p:anim>
                                    <p:animEffect transition="in" filter="fade">
                                      <p:cBhvr>
                                        <p:cTn id="9" dur="500"/>
                                        <p:tgtEl>
                                          <p:spTgt spid="101"/>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p:cNvSpPr txBox="1">
            <a:spLocks/>
          </p:cNvSpPr>
          <p:nvPr/>
        </p:nvSpPr>
        <p:spPr bwMode="auto">
          <a:xfrm>
            <a:off x="457200" y="274638"/>
            <a:ext cx="8229600" cy="55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Why do MVPA?</a:t>
            </a:r>
            <a:endParaRPr lang="en-GB" altLang="en-US" sz="3600" b="1" dirty="0"/>
          </a:p>
        </p:txBody>
      </p:sp>
      <p:sp>
        <p:nvSpPr>
          <p:cNvPr id="10" name="Title 1"/>
          <p:cNvSpPr txBox="1">
            <a:spLocks/>
          </p:cNvSpPr>
          <p:nvPr/>
        </p:nvSpPr>
        <p:spPr bwMode="auto">
          <a:xfrm>
            <a:off x="457200" y="908720"/>
            <a:ext cx="8229600"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571500" indent="-571500" eaLnBrk="1" hangingPunct="1">
              <a:spcBef>
                <a:spcPct val="0"/>
              </a:spcBef>
              <a:spcAft>
                <a:spcPts val="1200"/>
              </a:spcAft>
            </a:pPr>
            <a:r>
              <a:rPr lang="en-GB" altLang="en-US" sz="2800" dirty="0" smtClean="0"/>
              <a:t>Popularity</a:t>
            </a:r>
          </a:p>
          <a:p>
            <a:pPr marL="571500" indent="-571500" eaLnBrk="1" hangingPunct="1">
              <a:spcBef>
                <a:spcPct val="0"/>
              </a:spcBef>
              <a:spcAft>
                <a:spcPts val="1200"/>
              </a:spcAft>
            </a:pPr>
            <a:r>
              <a:rPr lang="en-GB" altLang="en-US" sz="2800" dirty="0" smtClean="0"/>
              <a:t>Scientific questions </a:t>
            </a:r>
            <a:r>
              <a:rPr lang="en-GB" altLang="en-US" sz="2400" dirty="0"/>
              <a:t>	</a:t>
            </a:r>
            <a:endParaRPr lang="en-GB" altLang="en-US" sz="2400" dirty="0" smtClean="0"/>
          </a:p>
          <a:p>
            <a:pPr marL="1314450" lvl="1" indent="-571500" eaLnBrk="1" hangingPunct="1">
              <a:spcBef>
                <a:spcPct val="0"/>
              </a:spcBef>
              <a:spcAft>
                <a:spcPts val="1200"/>
              </a:spcAft>
            </a:pPr>
            <a:r>
              <a:rPr lang="en-GB" altLang="en-US" sz="2400" dirty="0" smtClean="0"/>
              <a:t>What information does a brain region represent? </a:t>
            </a:r>
            <a:br>
              <a:rPr lang="en-GB" altLang="en-US" sz="2400" dirty="0" smtClean="0"/>
            </a:br>
            <a:r>
              <a:rPr lang="en-GB" altLang="en-US" sz="2400" dirty="0" smtClean="0"/>
              <a:t>(classification: are patterns reliably different?)</a:t>
            </a:r>
          </a:p>
          <a:p>
            <a:pPr marL="1314450" lvl="1" indent="-571500" eaLnBrk="1" hangingPunct="1">
              <a:spcBef>
                <a:spcPct val="0"/>
              </a:spcBef>
              <a:spcAft>
                <a:spcPts val="1200"/>
              </a:spcAft>
            </a:pPr>
            <a:r>
              <a:rPr lang="en-GB" altLang="en-US" sz="2400" dirty="0" smtClean="0"/>
              <a:t>In what format does it represent the information?</a:t>
            </a:r>
            <a:br>
              <a:rPr lang="en-GB" altLang="en-US" sz="2400" dirty="0" smtClean="0"/>
            </a:br>
            <a:r>
              <a:rPr lang="en-GB" altLang="en-US" sz="2400" dirty="0" smtClean="0"/>
              <a:t>(RSA: what are distance relations between patterns?)</a:t>
            </a:r>
          </a:p>
          <a:p>
            <a:pPr marL="571500" indent="-571500" eaLnBrk="1" hangingPunct="1">
              <a:spcBef>
                <a:spcPct val="0"/>
              </a:spcBef>
              <a:spcAft>
                <a:spcPts val="1200"/>
              </a:spcAft>
            </a:pPr>
            <a:r>
              <a:rPr lang="en-GB" altLang="en-US" sz="2800" dirty="0" smtClean="0"/>
              <a:t>To make predictions based on brain data</a:t>
            </a:r>
          </a:p>
          <a:p>
            <a:pPr marL="1314450" lvl="1" indent="-571500" eaLnBrk="1" hangingPunct="1">
              <a:spcBef>
                <a:spcPct val="0"/>
              </a:spcBef>
              <a:spcAft>
                <a:spcPts val="1200"/>
              </a:spcAft>
            </a:pPr>
            <a:r>
              <a:rPr lang="en-GB" altLang="en-US" sz="2400" dirty="0" smtClean="0"/>
              <a:t>Disease status? Covert thoughts?</a:t>
            </a:r>
          </a:p>
          <a:p>
            <a:pPr marL="571500" indent="-571500" eaLnBrk="1" hangingPunct="1">
              <a:spcBef>
                <a:spcPct val="0"/>
              </a:spcBef>
              <a:spcAft>
                <a:spcPts val="1200"/>
              </a:spcAft>
            </a:pPr>
            <a:r>
              <a:rPr lang="en-GB" altLang="en-US" sz="2800" b="1" dirty="0" smtClean="0"/>
              <a:t>Typically more sensitive than univariate analysis</a:t>
            </a:r>
          </a:p>
        </p:txBody>
      </p:sp>
    </p:spTree>
    <p:extLst>
      <p:ext uri="{BB962C8B-B14F-4D97-AF65-F5344CB8AC3E}">
        <p14:creationId xmlns:p14="http://schemas.microsoft.com/office/powerpoint/2010/main" val="275474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Group 85"/>
          <p:cNvGrpSpPr/>
          <p:nvPr/>
        </p:nvGrpSpPr>
        <p:grpSpPr>
          <a:xfrm>
            <a:off x="6241473" y="2985655"/>
            <a:ext cx="2050472" cy="1905000"/>
            <a:chOff x="6241473" y="2985655"/>
            <a:chExt cx="2050472" cy="1905000"/>
          </a:xfrm>
        </p:grpSpPr>
        <p:sp>
          <p:nvSpPr>
            <p:cNvPr id="85" name="Freeform 84"/>
            <p:cNvSpPr/>
            <p:nvPr/>
          </p:nvSpPr>
          <p:spPr>
            <a:xfrm>
              <a:off x="6255327" y="3176304"/>
              <a:ext cx="2036618" cy="1714351"/>
            </a:xfrm>
            <a:custGeom>
              <a:avLst/>
              <a:gdLst>
                <a:gd name="connsiteX0" fmla="*/ 2036618 w 2036618"/>
                <a:gd name="connsiteY0" fmla="*/ 0 h 1683328"/>
                <a:gd name="connsiteX1" fmla="*/ 6928 w 2036618"/>
                <a:gd name="connsiteY1" fmla="*/ 1572491 h 1683328"/>
                <a:gd name="connsiteX2" fmla="*/ 0 w 2036618"/>
                <a:gd name="connsiteY2" fmla="*/ 1683328 h 1683328"/>
                <a:gd name="connsiteX3" fmla="*/ 2029691 w 2036618"/>
                <a:gd name="connsiteY3" fmla="*/ 1683328 h 1683328"/>
                <a:gd name="connsiteX4" fmla="*/ 2036618 w 2036618"/>
                <a:gd name="connsiteY4" fmla="*/ 0 h 1683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6618" h="1683328">
                  <a:moveTo>
                    <a:pt x="2036618" y="0"/>
                  </a:moveTo>
                  <a:lnTo>
                    <a:pt x="6928" y="1572491"/>
                  </a:lnTo>
                  <a:lnTo>
                    <a:pt x="0" y="1683328"/>
                  </a:lnTo>
                  <a:lnTo>
                    <a:pt x="2029691" y="1683328"/>
                  </a:lnTo>
                  <a:lnTo>
                    <a:pt x="2036618" y="0"/>
                  </a:lnTo>
                  <a:close/>
                </a:path>
              </a:pathLst>
            </a:cu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Freeform 82"/>
            <p:cNvSpPr/>
            <p:nvPr/>
          </p:nvSpPr>
          <p:spPr>
            <a:xfrm>
              <a:off x="6241473" y="2985655"/>
              <a:ext cx="2050472" cy="1785689"/>
            </a:xfrm>
            <a:custGeom>
              <a:avLst/>
              <a:gdLst>
                <a:gd name="connsiteX0" fmla="*/ 2036618 w 2050472"/>
                <a:gd name="connsiteY0" fmla="*/ 166254 h 1738745"/>
                <a:gd name="connsiteX1" fmla="*/ 6927 w 2050472"/>
                <a:gd name="connsiteY1" fmla="*/ 1738745 h 1738745"/>
                <a:gd name="connsiteX2" fmla="*/ 0 w 2050472"/>
                <a:gd name="connsiteY2" fmla="*/ 0 h 1738745"/>
                <a:gd name="connsiteX3" fmla="*/ 2050472 w 2050472"/>
                <a:gd name="connsiteY3" fmla="*/ 0 h 1738745"/>
                <a:gd name="connsiteX4" fmla="*/ 2036618 w 2050472"/>
                <a:gd name="connsiteY4" fmla="*/ 166254 h 1738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2" h="1738745">
                  <a:moveTo>
                    <a:pt x="2036618" y="166254"/>
                  </a:moveTo>
                  <a:lnTo>
                    <a:pt x="6927" y="1738745"/>
                  </a:lnTo>
                  <a:lnTo>
                    <a:pt x="0" y="0"/>
                  </a:lnTo>
                  <a:lnTo>
                    <a:pt x="2050472" y="0"/>
                  </a:lnTo>
                  <a:lnTo>
                    <a:pt x="2036618" y="166254"/>
                  </a:lnTo>
                  <a:close/>
                </a:path>
              </a:pathLst>
            </a:custGeom>
            <a:solidFill>
              <a:schemeClr val="accent2">
                <a:alpha val="2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pic>
        <p:nvPicPr>
          <p:cNvPr id="5" name="Picture 4"/>
          <p:cNvPicPr>
            <a:picLocks noChangeAspect="1"/>
          </p:cNvPicPr>
          <p:nvPr/>
        </p:nvPicPr>
        <p:blipFill>
          <a:blip r:embed="rId3"/>
          <a:stretch>
            <a:fillRect/>
          </a:stretch>
        </p:blipFill>
        <p:spPr>
          <a:xfrm>
            <a:off x="419161" y="5099621"/>
            <a:ext cx="5306412" cy="748553"/>
          </a:xfrm>
          <a:prstGeom prst="rect">
            <a:avLst/>
          </a:prstGeom>
        </p:spPr>
      </p:pic>
      <p:pic>
        <p:nvPicPr>
          <p:cNvPr id="4" name="Picture 3"/>
          <p:cNvPicPr>
            <a:picLocks noChangeAspect="1"/>
          </p:cNvPicPr>
          <p:nvPr/>
        </p:nvPicPr>
        <p:blipFill>
          <a:blip r:embed="rId4"/>
          <a:stretch>
            <a:fillRect/>
          </a:stretch>
        </p:blipFill>
        <p:spPr>
          <a:xfrm>
            <a:off x="395536" y="1880794"/>
            <a:ext cx="5328592" cy="804002"/>
          </a:xfrm>
          <a:prstGeom prst="rect">
            <a:avLst/>
          </a:prstGeom>
        </p:spPr>
      </p:pic>
      <p:grpSp>
        <p:nvGrpSpPr>
          <p:cNvPr id="13" name="Group 12"/>
          <p:cNvGrpSpPr/>
          <p:nvPr/>
        </p:nvGrpSpPr>
        <p:grpSpPr>
          <a:xfrm>
            <a:off x="1941793" y="3419356"/>
            <a:ext cx="2198158" cy="823675"/>
            <a:chOff x="3635896" y="2688130"/>
            <a:chExt cx="3083987" cy="1209833"/>
          </a:xfrm>
        </p:grpSpPr>
        <p:pic>
          <p:nvPicPr>
            <p:cNvPr id="6" name="Picture 5"/>
            <p:cNvPicPr>
              <a:picLocks noChangeAspect="1"/>
            </p:cNvPicPr>
            <p:nvPr/>
          </p:nvPicPr>
          <p:blipFill>
            <a:blip r:embed="rId5"/>
            <a:stretch>
              <a:fillRect/>
            </a:stretch>
          </p:blipFill>
          <p:spPr>
            <a:xfrm>
              <a:off x="3635896" y="2871091"/>
              <a:ext cx="1011314" cy="1026872"/>
            </a:xfrm>
            <a:prstGeom prst="rect">
              <a:avLst/>
            </a:prstGeom>
          </p:spPr>
        </p:pic>
        <p:pic>
          <p:nvPicPr>
            <p:cNvPr id="7" name="Picture 6"/>
            <p:cNvPicPr>
              <a:picLocks noChangeAspect="1"/>
            </p:cNvPicPr>
            <p:nvPr/>
          </p:nvPicPr>
          <p:blipFill>
            <a:blip r:embed="rId6"/>
            <a:stretch>
              <a:fillRect/>
            </a:stretch>
          </p:blipFill>
          <p:spPr>
            <a:xfrm>
              <a:off x="5724128" y="2871091"/>
              <a:ext cx="995755" cy="1026872"/>
            </a:xfrm>
            <a:prstGeom prst="rect">
              <a:avLst/>
            </a:prstGeom>
          </p:spPr>
        </p:pic>
        <p:sp>
          <p:nvSpPr>
            <p:cNvPr id="10" name="Rectangle 9"/>
            <p:cNvSpPr/>
            <p:nvPr/>
          </p:nvSpPr>
          <p:spPr>
            <a:xfrm>
              <a:off x="4906604" y="2688130"/>
              <a:ext cx="505268" cy="923330"/>
            </a:xfrm>
            <a:prstGeom prst="rect">
              <a:avLst/>
            </a:prstGeom>
            <a:noFill/>
          </p:spPr>
          <p:txBody>
            <a:bodyPr wrap="none" lIns="91440" tIns="45720" rIns="91440" bIns="45720">
              <a:spAutoFit/>
            </a:bodyPr>
            <a:lstStyle/>
            <a:p>
              <a:pPr algn="ctr"/>
              <a:r>
                <a:rPr lang="en-US" sz="5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a:t>
              </a:r>
              <a:endPar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grpSp>
      <p:grpSp>
        <p:nvGrpSpPr>
          <p:cNvPr id="80" name="Group 79"/>
          <p:cNvGrpSpPr/>
          <p:nvPr/>
        </p:nvGrpSpPr>
        <p:grpSpPr>
          <a:xfrm>
            <a:off x="683567" y="6064199"/>
            <a:ext cx="4793128" cy="245121"/>
            <a:chOff x="683567" y="6064199"/>
            <a:chExt cx="4793128" cy="245121"/>
          </a:xfrm>
        </p:grpSpPr>
        <p:sp>
          <p:nvSpPr>
            <p:cNvPr id="8" name="Oval 7"/>
            <p:cNvSpPr/>
            <p:nvPr/>
          </p:nvSpPr>
          <p:spPr>
            <a:xfrm>
              <a:off x="683567"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2195735"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2951819"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3707903"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4463987"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5220071"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1439651" y="6064199"/>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9" name="Group 78"/>
          <p:cNvGrpSpPr/>
          <p:nvPr/>
        </p:nvGrpSpPr>
        <p:grpSpPr>
          <a:xfrm>
            <a:off x="638281" y="1434197"/>
            <a:ext cx="4838414" cy="245121"/>
            <a:chOff x="638281" y="1434197"/>
            <a:chExt cx="4838414" cy="245121"/>
          </a:xfrm>
        </p:grpSpPr>
        <p:sp>
          <p:nvSpPr>
            <p:cNvPr id="9" name="Oval 8"/>
            <p:cNvSpPr/>
            <p:nvPr/>
          </p:nvSpPr>
          <p:spPr>
            <a:xfrm>
              <a:off x="638281"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5" name="Oval 14"/>
            <p:cNvSpPr/>
            <p:nvPr/>
          </p:nvSpPr>
          <p:spPr>
            <a:xfrm>
              <a:off x="2165545"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7" name="Oval 16"/>
            <p:cNvSpPr/>
            <p:nvPr/>
          </p:nvSpPr>
          <p:spPr>
            <a:xfrm>
              <a:off x="2929177"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9" name="Oval 18"/>
            <p:cNvSpPr/>
            <p:nvPr/>
          </p:nvSpPr>
          <p:spPr>
            <a:xfrm>
              <a:off x="3692809"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1" name="Oval 20"/>
            <p:cNvSpPr/>
            <p:nvPr/>
          </p:nvSpPr>
          <p:spPr>
            <a:xfrm>
              <a:off x="4456441"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3" name="Oval 22"/>
            <p:cNvSpPr/>
            <p:nvPr/>
          </p:nvSpPr>
          <p:spPr>
            <a:xfrm>
              <a:off x="5220071"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5" name="Oval 24"/>
            <p:cNvSpPr/>
            <p:nvPr/>
          </p:nvSpPr>
          <p:spPr>
            <a:xfrm>
              <a:off x="1401913" y="1434197"/>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grpSp>
        <p:nvGrpSpPr>
          <p:cNvPr id="2" name="Group 1"/>
          <p:cNvGrpSpPr/>
          <p:nvPr/>
        </p:nvGrpSpPr>
        <p:grpSpPr>
          <a:xfrm>
            <a:off x="5436095" y="2144295"/>
            <a:ext cx="245904" cy="509810"/>
            <a:chOff x="5436095" y="2144295"/>
            <a:chExt cx="245904" cy="509810"/>
          </a:xfrm>
        </p:grpSpPr>
        <p:sp>
          <p:nvSpPr>
            <p:cNvPr id="26" name="Rectangle 25"/>
            <p:cNvSpPr/>
            <p:nvPr/>
          </p:nvSpPr>
          <p:spPr>
            <a:xfrm>
              <a:off x="5436095" y="2166600"/>
              <a:ext cx="245904" cy="470311"/>
            </a:xfrm>
            <a:prstGeom prst="rect">
              <a:avLst/>
            </a:prstGeom>
            <a:no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3">
                    <a:lumMod val="75000"/>
                  </a:schemeClr>
                </a:solidFill>
              </a:endParaRPr>
            </a:p>
          </p:txBody>
        </p:sp>
        <p:sp>
          <p:nvSpPr>
            <p:cNvPr id="38" name="Text Box 1056"/>
            <p:cNvSpPr txBox="1">
              <a:spLocks noChangeArrowheads="1"/>
            </p:cNvSpPr>
            <p:nvPr/>
          </p:nvSpPr>
          <p:spPr bwMode="auto">
            <a:xfrm>
              <a:off x="5436095" y="2144295"/>
              <a:ext cx="2459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solidFill>
                    <a:srgbClr val="00FF00"/>
                  </a:solidFill>
                  <a:latin typeface="Albertus Medium"/>
                </a:rPr>
                <a:t>1</a:t>
              </a:r>
              <a:endParaRPr lang="en-US" altLang="en-US" sz="1200" b="1" dirty="0">
                <a:solidFill>
                  <a:srgbClr val="00FF00"/>
                </a:solidFill>
                <a:latin typeface="Albertus Medium"/>
              </a:endParaRPr>
            </a:p>
          </p:txBody>
        </p:sp>
        <p:sp>
          <p:nvSpPr>
            <p:cNvPr id="39" name="Text Box 1056"/>
            <p:cNvSpPr txBox="1">
              <a:spLocks noChangeArrowheads="1"/>
            </p:cNvSpPr>
            <p:nvPr/>
          </p:nvSpPr>
          <p:spPr bwMode="auto">
            <a:xfrm>
              <a:off x="5436095" y="2377106"/>
              <a:ext cx="2459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solidFill>
                    <a:srgbClr val="00FF00"/>
                  </a:solidFill>
                  <a:latin typeface="Albertus Medium"/>
                </a:rPr>
                <a:t>2</a:t>
              </a:r>
              <a:endParaRPr lang="en-US" altLang="en-US" sz="1200" b="1" dirty="0">
                <a:solidFill>
                  <a:srgbClr val="00FF00"/>
                </a:solidFill>
                <a:latin typeface="Albertus Medium"/>
              </a:endParaRPr>
            </a:p>
          </p:txBody>
        </p:sp>
      </p:grpSp>
      <p:grpSp>
        <p:nvGrpSpPr>
          <p:cNvPr id="11" name="Group 10"/>
          <p:cNvGrpSpPr/>
          <p:nvPr/>
        </p:nvGrpSpPr>
        <p:grpSpPr>
          <a:xfrm>
            <a:off x="5559047" y="2684796"/>
            <a:ext cx="2829376" cy="2587860"/>
            <a:chOff x="5559047" y="2684796"/>
            <a:chExt cx="2829376" cy="2587860"/>
          </a:xfrm>
        </p:grpSpPr>
        <p:grpSp>
          <p:nvGrpSpPr>
            <p:cNvPr id="3" name="Group 2"/>
            <p:cNvGrpSpPr/>
            <p:nvPr/>
          </p:nvGrpSpPr>
          <p:grpSpPr>
            <a:xfrm>
              <a:off x="5559047" y="2684796"/>
              <a:ext cx="2829376" cy="2587860"/>
              <a:chOff x="5559047" y="2684796"/>
              <a:chExt cx="2829376" cy="2587860"/>
            </a:xfrm>
          </p:grpSpPr>
          <p:cxnSp>
            <p:nvCxnSpPr>
              <p:cNvPr id="29" name="Straight Arrow Connector 28"/>
              <p:cNvCxnSpPr/>
              <p:nvPr/>
            </p:nvCxnSpPr>
            <p:spPr>
              <a:xfrm>
                <a:off x="5559047" y="2684796"/>
                <a:ext cx="453112" cy="384164"/>
              </a:xfrm>
              <a:prstGeom prst="straightConnector1">
                <a:avLst/>
              </a:prstGeom>
              <a:ln w="38100">
                <a:solidFill>
                  <a:srgbClr val="00FF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6228183" y="2895847"/>
                <a:ext cx="0" cy="201622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6228183" y="4904787"/>
                <a:ext cx="2088232" cy="728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6" name="Text Box 1056"/>
              <p:cNvSpPr txBox="1">
                <a:spLocks noChangeArrowheads="1"/>
              </p:cNvSpPr>
              <p:nvPr/>
            </p:nvSpPr>
            <p:spPr bwMode="auto">
              <a:xfrm>
                <a:off x="6228183" y="4995657"/>
                <a:ext cx="2160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Voxel 1 activation</a:t>
                </a:r>
                <a:endParaRPr lang="en-US" altLang="en-US" sz="1200" b="1" dirty="0">
                  <a:latin typeface="Albertus Medium"/>
                </a:endParaRPr>
              </a:p>
            </p:txBody>
          </p:sp>
          <p:sp>
            <p:nvSpPr>
              <p:cNvPr id="37" name="Text Box 1056"/>
              <p:cNvSpPr txBox="1">
                <a:spLocks noChangeArrowheads="1"/>
              </p:cNvSpPr>
              <p:nvPr/>
            </p:nvSpPr>
            <p:spPr bwMode="auto">
              <a:xfrm rot="16200000">
                <a:off x="5076057" y="3765459"/>
                <a:ext cx="20162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Voxel 2 activation</a:t>
                </a:r>
                <a:endParaRPr lang="en-US" altLang="en-US" sz="1200" b="1" dirty="0">
                  <a:latin typeface="Albertus Medium"/>
                </a:endParaRPr>
              </a:p>
            </p:txBody>
          </p:sp>
        </p:grpSp>
        <p:sp>
          <p:nvSpPr>
            <p:cNvPr id="40" name="Text Box 1056"/>
            <p:cNvSpPr txBox="1">
              <a:spLocks noChangeArrowheads="1"/>
            </p:cNvSpPr>
            <p:nvPr/>
          </p:nvSpPr>
          <p:spPr bwMode="auto">
            <a:xfrm rot="20421506">
              <a:off x="6205557" y="4510159"/>
              <a:ext cx="79117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solidFill>
                    <a:schemeClr val="bg1">
                      <a:lumMod val="75000"/>
                    </a:schemeClr>
                  </a:solidFill>
                  <a:latin typeface="Albertus Medium"/>
                </a:rPr>
                <a:t>Voxel N</a:t>
              </a:r>
              <a:endParaRPr lang="en-US" altLang="en-US" sz="1200" b="1" dirty="0">
                <a:solidFill>
                  <a:schemeClr val="bg1">
                    <a:lumMod val="75000"/>
                  </a:schemeClr>
                </a:solidFill>
                <a:latin typeface="Albertus Medium"/>
              </a:endParaRPr>
            </a:p>
          </p:txBody>
        </p:sp>
        <p:cxnSp>
          <p:nvCxnSpPr>
            <p:cNvPr id="41" name="Straight Arrow Connector 40"/>
            <p:cNvCxnSpPr/>
            <p:nvPr/>
          </p:nvCxnSpPr>
          <p:spPr>
            <a:xfrm flipV="1">
              <a:off x="6233698" y="4703331"/>
              <a:ext cx="570549" cy="185906"/>
            </a:xfrm>
            <a:prstGeom prst="straightConnector1">
              <a:avLst/>
            </a:prstGeom>
            <a:ln w="28575">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grpSp>
      <p:grpSp>
        <p:nvGrpSpPr>
          <p:cNvPr id="27" name="Group 26"/>
          <p:cNvGrpSpPr/>
          <p:nvPr/>
        </p:nvGrpSpPr>
        <p:grpSpPr>
          <a:xfrm>
            <a:off x="7051679" y="3543919"/>
            <a:ext cx="1016926" cy="1076478"/>
            <a:chOff x="7051679" y="3543919"/>
            <a:chExt cx="1016926" cy="1076478"/>
          </a:xfrm>
        </p:grpSpPr>
        <p:sp>
          <p:nvSpPr>
            <p:cNvPr id="45" name="Oval 44"/>
            <p:cNvSpPr/>
            <p:nvPr/>
          </p:nvSpPr>
          <p:spPr>
            <a:xfrm>
              <a:off x="7051679" y="4259176"/>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7452319" y="4412933"/>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p:cNvSpPr/>
            <p:nvPr/>
          </p:nvSpPr>
          <p:spPr>
            <a:xfrm>
              <a:off x="7505146" y="3879313"/>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p:cNvSpPr/>
            <p:nvPr/>
          </p:nvSpPr>
          <p:spPr>
            <a:xfrm>
              <a:off x="7988168" y="3543919"/>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p:cNvSpPr/>
            <p:nvPr/>
          </p:nvSpPr>
          <p:spPr>
            <a:xfrm>
              <a:off x="7163738" y="4543566"/>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p:cNvSpPr/>
            <p:nvPr/>
          </p:nvSpPr>
          <p:spPr>
            <a:xfrm>
              <a:off x="7875174" y="4295342"/>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54"/>
            <p:cNvSpPr/>
            <p:nvPr/>
          </p:nvSpPr>
          <p:spPr>
            <a:xfrm>
              <a:off x="7867513" y="3950643"/>
              <a:ext cx="80437" cy="76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p:cNvGrpSpPr/>
          <p:nvPr/>
        </p:nvGrpSpPr>
        <p:grpSpPr>
          <a:xfrm>
            <a:off x="6594198" y="3399903"/>
            <a:ext cx="1019531" cy="767056"/>
            <a:chOff x="6594198" y="3399903"/>
            <a:chExt cx="1019531" cy="767056"/>
          </a:xfrm>
        </p:grpSpPr>
        <p:sp>
          <p:nvSpPr>
            <p:cNvPr id="44" name="Oval 43"/>
            <p:cNvSpPr/>
            <p:nvPr/>
          </p:nvSpPr>
          <p:spPr>
            <a:xfrm>
              <a:off x="7051679" y="3505504"/>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6" name="Oval 45"/>
            <p:cNvSpPr/>
            <p:nvPr/>
          </p:nvSpPr>
          <p:spPr>
            <a:xfrm>
              <a:off x="6971241" y="3827127"/>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8" name="Oval 47"/>
            <p:cNvSpPr/>
            <p:nvPr/>
          </p:nvSpPr>
          <p:spPr>
            <a:xfrm>
              <a:off x="6594198" y="3738212"/>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2" name="Oval 51"/>
            <p:cNvSpPr/>
            <p:nvPr/>
          </p:nvSpPr>
          <p:spPr>
            <a:xfrm>
              <a:off x="7454840" y="4090128"/>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3" name="Oval 52"/>
            <p:cNvSpPr/>
            <p:nvPr/>
          </p:nvSpPr>
          <p:spPr>
            <a:xfrm>
              <a:off x="7533292" y="3399903"/>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6" name="Oval 55"/>
            <p:cNvSpPr/>
            <p:nvPr/>
          </p:nvSpPr>
          <p:spPr>
            <a:xfrm>
              <a:off x="7252126" y="3694241"/>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sp>
        <p:nvSpPr>
          <p:cNvPr id="57" name="Oval 56"/>
          <p:cNvSpPr/>
          <p:nvPr/>
        </p:nvSpPr>
        <p:spPr>
          <a:xfrm>
            <a:off x="6723809" y="4099015"/>
            <a:ext cx="80437" cy="76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28" name="Group 27"/>
          <p:cNvGrpSpPr/>
          <p:nvPr/>
        </p:nvGrpSpPr>
        <p:grpSpPr>
          <a:xfrm>
            <a:off x="6554591" y="2703765"/>
            <a:ext cx="2589411" cy="1814453"/>
            <a:chOff x="6554591" y="2703765"/>
            <a:chExt cx="2589411" cy="1814453"/>
          </a:xfrm>
        </p:grpSpPr>
        <p:cxnSp>
          <p:nvCxnSpPr>
            <p:cNvPr id="61" name="Straight Connector 60"/>
            <p:cNvCxnSpPr>
              <a:stCxn id="40" idx="0"/>
            </p:cNvCxnSpPr>
            <p:nvPr/>
          </p:nvCxnSpPr>
          <p:spPr>
            <a:xfrm flipV="1">
              <a:off x="6554591" y="2703765"/>
              <a:ext cx="2337889" cy="1814453"/>
            </a:xfrm>
            <a:prstGeom prst="line">
              <a:avLst/>
            </a:prstGeom>
            <a:ln w="28575">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63" name="Text Box 1056"/>
            <p:cNvSpPr txBox="1">
              <a:spLocks noChangeArrowheads="1"/>
            </p:cNvSpPr>
            <p:nvPr/>
          </p:nvSpPr>
          <p:spPr bwMode="auto">
            <a:xfrm rot="19347691">
              <a:off x="7127778" y="3036199"/>
              <a:ext cx="20162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solidFill>
                    <a:srgbClr val="7030A0"/>
                  </a:solidFill>
                  <a:latin typeface="Albertus Medium"/>
                </a:rPr>
                <a:t>Classification boundary</a:t>
              </a:r>
              <a:endParaRPr lang="en-US" altLang="en-US" sz="1200" b="1" dirty="0">
                <a:solidFill>
                  <a:srgbClr val="7030A0"/>
                </a:solidFill>
                <a:latin typeface="Albertus Medium"/>
              </a:endParaRPr>
            </a:p>
          </p:txBody>
        </p:sp>
      </p:grpSp>
      <p:grpSp>
        <p:nvGrpSpPr>
          <p:cNvPr id="30" name="Group 29"/>
          <p:cNvGrpSpPr/>
          <p:nvPr/>
        </p:nvGrpSpPr>
        <p:grpSpPr>
          <a:xfrm>
            <a:off x="7600616" y="2185318"/>
            <a:ext cx="1078575" cy="1421578"/>
            <a:chOff x="7600616" y="2185318"/>
            <a:chExt cx="1078575" cy="1421578"/>
          </a:xfrm>
        </p:grpSpPr>
        <p:cxnSp>
          <p:nvCxnSpPr>
            <p:cNvPr id="66" name="Straight Arrow Connector 65"/>
            <p:cNvCxnSpPr/>
            <p:nvPr/>
          </p:nvCxnSpPr>
          <p:spPr>
            <a:xfrm>
              <a:off x="7891454" y="2658658"/>
              <a:ext cx="787737" cy="9482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Text Box 1056"/>
            <p:cNvSpPr txBox="1">
              <a:spLocks noChangeArrowheads="1"/>
            </p:cNvSpPr>
            <p:nvPr/>
          </p:nvSpPr>
          <p:spPr bwMode="auto">
            <a:xfrm rot="3006948">
              <a:off x="7456547" y="2329387"/>
              <a:ext cx="7498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Weight </a:t>
              </a:r>
              <a:br>
                <a:rPr lang="en-GB" altLang="en-US" sz="1200" b="1" dirty="0" smtClean="0">
                  <a:latin typeface="Albertus Medium"/>
                </a:rPr>
              </a:br>
              <a:r>
                <a:rPr lang="en-GB" altLang="en-US" sz="1200" b="1" dirty="0" smtClean="0">
                  <a:latin typeface="Albertus Medium"/>
                </a:rPr>
                <a:t>vector</a:t>
              </a:r>
              <a:endParaRPr lang="en-US" altLang="en-US" sz="1200" b="1" dirty="0">
                <a:latin typeface="Albertus Medium"/>
              </a:endParaRPr>
            </a:p>
          </p:txBody>
        </p:sp>
        <p:sp>
          <p:nvSpPr>
            <p:cNvPr id="70" name="Rectangle 69"/>
            <p:cNvSpPr/>
            <p:nvPr/>
          </p:nvSpPr>
          <p:spPr>
            <a:xfrm rot="19188293">
              <a:off x="8337155" y="3114085"/>
              <a:ext cx="121223" cy="12122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8" name="Title 1"/>
          <p:cNvSpPr txBox="1">
            <a:spLocks/>
          </p:cNvSpPr>
          <p:nvPr/>
        </p:nvSpPr>
        <p:spPr bwMode="auto">
          <a:xfrm>
            <a:off x="457200" y="495458"/>
            <a:ext cx="8229600" cy="125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How does MVPA work? </a:t>
            </a:r>
            <a:br>
              <a:rPr lang="en-GB" altLang="en-US" sz="3600" b="1" dirty="0" smtClean="0"/>
            </a:br>
            <a:r>
              <a:rPr lang="en-GB" altLang="en-US" sz="2400" b="1" dirty="0" smtClean="0"/>
              <a:t>classification example</a:t>
            </a:r>
            <a:endParaRPr lang="en-GB" altLang="en-US" sz="2400" b="1" dirty="0"/>
          </a:p>
        </p:txBody>
      </p:sp>
      <p:grpSp>
        <p:nvGrpSpPr>
          <p:cNvPr id="33" name="Group 32"/>
          <p:cNvGrpSpPr/>
          <p:nvPr/>
        </p:nvGrpSpPr>
        <p:grpSpPr>
          <a:xfrm>
            <a:off x="6761538" y="3426020"/>
            <a:ext cx="684882" cy="1107748"/>
            <a:chOff x="6761538" y="3426020"/>
            <a:chExt cx="684882" cy="1107748"/>
          </a:xfrm>
        </p:grpSpPr>
        <p:sp>
          <p:nvSpPr>
            <p:cNvPr id="60" name="Rectangle 59"/>
            <p:cNvSpPr/>
            <p:nvPr/>
          </p:nvSpPr>
          <p:spPr>
            <a:xfrm flipH="1">
              <a:off x="6761538" y="3426020"/>
              <a:ext cx="233337" cy="461665"/>
            </a:xfrm>
            <a:prstGeom prst="rect">
              <a:avLst/>
            </a:prstGeom>
            <a:noFill/>
          </p:spPr>
          <p:txBody>
            <a:bodyPr wrap="square" lIns="91440" tIns="45720" rIns="91440" bIns="45720">
              <a:spAutoFit/>
            </a:bodyPr>
            <a:lstStyle/>
            <a:p>
              <a:pPr algn="ctr"/>
              <a:r>
                <a:rPr lang="en-US" sz="2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a:t>
              </a:r>
              <a:endParaRPr lang="en-US"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62" name="Rectangle 61"/>
            <p:cNvSpPr/>
            <p:nvPr/>
          </p:nvSpPr>
          <p:spPr>
            <a:xfrm flipH="1">
              <a:off x="7213083" y="4072103"/>
              <a:ext cx="233337" cy="461665"/>
            </a:xfrm>
            <a:prstGeom prst="rect">
              <a:avLst/>
            </a:prstGeom>
            <a:noFill/>
          </p:spPr>
          <p:txBody>
            <a:bodyPr wrap="square" lIns="91440" tIns="45720" rIns="91440" bIns="45720">
              <a:spAutoFit/>
            </a:bodyPr>
            <a:lstStyle/>
            <a:p>
              <a:pPr algn="ctr"/>
              <a:r>
                <a:rPr lang="en-US" sz="2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a:t>
              </a:r>
              <a:endParaRPr lang="en-US"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grpSp>
      <p:grpSp>
        <p:nvGrpSpPr>
          <p:cNvPr id="43" name="Group 42"/>
          <p:cNvGrpSpPr/>
          <p:nvPr/>
        </p:nvGrpSpPr>
        <p:grpSpPr>
          <a:xfrm>
            <a:off x="194893" y="4204636"/>
            <a:ext cx="3754644" cy="461665"/>
            <a:chOff x="194893" y="4204636"/>
            <a:chExt cx="3754644" cy="461665"/>
          </a:xfrm>
        </p:grpSpPr>
        <p:sp>
          <p:nvSpPr>
            <p:cNvPr id="64" name="Oval 63"/>
            <p:cNvSpPr/>
            <p:nvPr/>
          </p:nvSpPr>
          <p:spPr>
            <a:xfrm>
              <a:off x="3656769" y="4322153"/>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p:cNvSpPr/>
            <p:nvPr/>
          </p:nvSpPr>
          <p:spPr>
            <a:xfrm>
              <a:off x="2177872" y="4312074"/>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69" name="Rectangle 68"/>
            <p:cNvSpPr/>
            <p:nvPr/>
          </p:nvSpPr>
          <p:spPr>
            <a:xfrm flipH="1">
              <a:off x="2148096" y="4204636"/>
              <a:ext cx="308222" cy="461665"/>
            </a:xfrm>
            <a:prstGeom prst="rect">
              <a:avLst/>
            </a:prstGeom>
            <a:noFill/>
          </p:spPr>
          <p:txBody>
            <a:bodyPr wrap="square" lIns="91440" tIns="45720" rIns="91440" bIns="45720">
              <a:spAutoFit/>
            </a:bodyPr>
            <a:lstStyle/>
            <a:p>
              <a:pPr algn="ctr"/>
              <a:r>
                <a:rPr lang="en-US" sz="2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a:t>
              </a:r>
              <a:endParaRPr lang="en-US"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71" name="Rectangle 70"/>
            <p:cNvSpPr/>
            <p:nvPr/>
          </p:nvSpPr>
          <p:spPr>
            <a:xfrm flipH="1">
              <a:off x="3641315" y="4204636"/>
              <a:ext cx="308222" cy="461665"/>
            </a:xfrm>
            <a:prstGeom prst="rect">
              <a:avLst/>
            </a:prstGeom>
            <a:noFill/>
          </p:spPr>
          <p:txBody>
            <a:bodyPr wrap="square" lIns="91440" tIns="45720" rIns="91440" bIns="45720">
              <a:spAutoFit/>
            </a:bodyPr>
            <a:lstStyle/>
            <a:p>
              <a:pPr algn="ctr"/>
              <a:r>
                <a:rPr lang="en-US" sz="2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a:t>
              </a:r>
              <a:endParaRPr lang="en-US"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72" name="Text Box 1056"/>
            <p:cNvSpPr txBox="1">
              <a:spLocks noChangeArrowheads="1"/>
            </p:cNvSpPr>
            <p:nvPr/>
          </p:nvSpPr>
          <p:spPr bwMode="auto">
            <a:xfrm>
              <a:off x="194893" y="4310743"/>
              <a:ext cx="2160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Predictions:</a:t>
              </a:r>
              <a:endParaRPr lang="en-US" altLang="en-US" sz="1200" b="1" dirty="0">
                <a:latin typeface="Albertus Medium"/>
              </a:endParaRPr>
            </a:p>
          </p:txBody>
        </p:sp>
      </p:grpSp>
      <p:grpSp>
        <p:nvGrpSpPr>
          <p:cNvPr id="77" name="Group 76"/>
          <p:cNvGrpSpPr/>
          <p:nvPr/>
        </p:nvGrpSpPr>
        <p:grpSpPr>
          <a:xfrm>
            <a:off x="194893" y="3215673"/>
            <a:ext cx="3718500" cy="276999"/>
            <a:chOff x="194893" y="3215673"/>
            <a:chExt cx="3718500" cy="276999"/>
          </a:xfrm>
        </p:grpSpPr>
        <p:sp>
          <p:nvSpPr>
            <p:cNvPr id="73" name="Oval 72"/>
            <p:cNvSpPr/>
            <p:nvPr/>
          </p:nvSpPr>
          <p:spPr>
            <a:xfrm>
              <a:off x="3656769" y="3231613"/>
              <a:ext cx="256624" cy="2451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p:cNvSpPr/>
            <p:nvPr/>
          </p:nvSpPr>
          <p:spPr>
            <a:xfrm>
              <a:off x="2173895" y="3231613"/>
              <a:ext cx="256624" cy="24512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5" name="Text Box 1056"/>
            <p:cNvSpPr txBox="1">
              <a:spLocks noChangeArrowheads="1"/>
            </p:cNvSpPr>
            <p:nvPr/>
          </p:nvSpPr>
          <p:spPr bwMode="auto">
            <a:xfrm>
              <a:off x="194893" y="3215673"/>
              <a:ext cx="2160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True labels:</a:t>
              </a:r>
              <a:endParaRPr lang="en-US" altLang="en-US" sz="1200" b="1" dirty="0">
                <a:latin typeface="Albertus Medium"/>
              </a:endParaRPr>
            </a:p>
          </p:txBody>
        </p:sp>
      </p:grpSp>
      <p:grpSp>
        <p:nvGrpSpPr>
          <p:cNvPr id="78" name="Group 77"/>
          <p:cNvGrpSpPr/>
          <p:nvPr/>
        </p:nvGrpSpPr>
        <p:grpSpPr>
          <a:xfrm>
            <a:off x="0" y="3492672"/>
            <a:ext cx="1682726" cy="818071"/>
            <a:chOff x="0" y="3492672"/>
            <a:chExt cx="1682726" cy="818071"/>
          </a:xfrm>
        </p:grpSpPr>
        <p:sp>
          <p:nvSpPr>
            <p:cNvPr id="76" name="Text Box 1056"/>
            <p:cNvSpPr txBox="1">
              <a:spLocks noChangeArrowheads="1"/>
            </p:cNvSpPr>
            <p:nvPr/>
          </p:nvSpPr>
          <p:spPr bwMode="auto">
            <a:xfrm>
              <a:off x="0" y="3749185"/>
              <a:ext cx="16827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Compare</a:t>
              </a:r>
              <a:endParaRPr lang="en-US" altLang="en-US" sz="1200" b="1" dirty="0">
                <a:latin typeface="Albertus Medium"/>
              </a:endParaRPr>
            </a:p>
          </p:txBody>
        </p:sp>
        <p:cxnSp>
          <p:nvCxnSpPr>
            <p:cNvPr id="35" name="Straight Arrow Connector 34"/>
            <p:cNvCxnSpPr>
              <a:stCxn id="75" idx="2"/>
              <a:endCxn id="72" idx="0"/>
            </p:cNvCxnSpPr>
            <p:nvPr/>
          </p:nvCxnSpPr>
          <p:spPr>
            <a:xfrm>
              <a:off x="1275013" y="3492672"/>
              <a:ext cx="0" cy="81807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8677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57"/>
                                        </p:tgtEl>
                                        <p:attrNameLst>
                                          <p:attrName>style.visibility</p:attrName>
                                        </p:attrNameLst>
                                      </p:cBhvr>
                                      <p:to>
                                        <p:strVal val="visible"/>
                                      </p:to>
                                    </p:set>
                                    <p:anim calcmode="lin" valueType="num">
                                      <p:cBhvr>
                                        <p:cTn id="18" dur="500" fill="hold"/>
                                        <p:tgtEl>
                                          <p:spTgt spid="57"/>
                                        </p:tgtEl>
                                        <p:attrNameLst>
                                          <p:attrName>ppt_w</p:attrName>
                                        </p:attrNameLst>
                                      </p:cBhvr>
                                      <p:tavLst>
                                        <p:tav tm="0">
                                          <p:val>
                                            <p:fltVal val="0"/>
                                          </p:val>
                                        </p:tav>
                                        <p:tav tm="100000">
                                          <p:val>
                                            <p:strVal val="#ppt_w"/>
                                          </p:val>
                                        </p:tav>
                                      </p:tavLst>
                                    </p:anim>
                                    <p:anim calcmode="lin" valueType="num">
                                      <p:cBhvr>
                                        <p:cTn id="19" dur="500" fill="hold"/>
                                        <p:tgtEl>
                                          <p:spTgt spid="57"/>
                                        </p:tgtEl>
                                        <p:attrNameLst>
                                          <p:attrName>ppt_h</p:attrName>
                                        </p:attrNameLst>
                                      </p:cBhvr>
                                      <p:tavLst>
                                        <p:tav tm="0">
                                          <p:val>
                                            <p:fltVal val="0"/>
                                          </p:val>
                                        </p:tav>
                                        <p:tav tm="100000">
                                          <p:val>
                                            <p:strVal val="#ppt_h"/>
                                          </p:val>
                                        </p:tav>
                                      </p:tavLst>
                                    </p:anim>
                                    <p:animEffect transition="in" filter="fade">
                                      <p:cBhvr>
                                        <p:cTn id="20" dur="500"/>
                                        <p:tgtEl>
                                          <p:spTgt spid="5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57"/>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2"/>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27"/>
                                        </p:tgtEl>
                                        <p:attrNameLst>
                                          <p:attrName>style.visibility</p:attrName>
                                        </p:attrNameLst>
                                      </p:cBhvr>
                                      <p:to>
                                        <p:strVal val="hidden"/>
                                      </p:to>
                                    </p:set>
                                  </p:childTnLst>
                                </p:cTn>
                              </p:par>
                              <p:par>
                                <p:cTn id="43" presetID="9" presetClass="emph" presetSubtype="0" nodeType="withEffect">
                                  <p:stCondLst>
                                    <p:cond delay="0"/>
                                  </p:stCondLst>
                                  <p:childTnLst>
                                    <p:set>
                                      <p:cBhvr rctx="PPT">
                                        <p:cTn id="44" dur="indefinite"/>
                                        <p:tgtEl>
                                          <p:spTgt spid="5"/>
                                        </p:tgtEl>
                                        <p:attrNameLst>
                                          <p:attrName>style.opacity</p:attrName>
                                        </p:attrNameLst>
                                      </p:cBhvr>
                                      <p:to>
                                        <p:strVal val="0.25"/>
                                      </p:to>
                                    </p:set>
                                    <p:animEffect filter="image" prLst="opacity: 0.25">
                                      <p:cBhvr rctx="IE">
                                        <p:cTn id="45" dur="indefinite"/>
                                        <p:tgtEl>
                                          <p:spTgt spid="5"/>
                                        </p:tgtEl>
                                      </p:cBhvr>
                                    </p:animEffect>
                                  </p:childTnLst>
                                </p:cTn>
                              </p:par>
                              <p:par>
                                <p:cTn id="46" presetID="9" presetClass="emph" presetSubtype="0" nodeType="withEffect">
                                  <p:stCondLst>
                                    <p:cond delay="0"/>
                                  </p:stCondLst>
                                  <p:childTnLst>
                                    <p:set>
                                      <p:cBhvr rctx="PPT">
                                        <p:cTn id="47" dur="indefinite"/>
                                        <p:tgtEl>
                                          <p:spTgt spid="80"/>
                                        </p:tgtEl>
                                        <p:attrNameLst>
                                          <p:attrName>style.opacity</p:attrName>
                                        </p:attrNameLst>
                                      </p:cBhvr>
                                      <p:to>
                                        <p:strVal val="0.25"/>
                                      </p:to>
                                    </p:set>
                                    <p:animEffect filter="image" prLst="opacity: 0.25">
                                      <p:cBhvr rctx="IE">
                                        <p:cTn id="48" dur="indefinite"/>
                                        <p:tgtEl>
                                          <p:spTgt spid="80"/>
                                        </p:tgtEl>
                                      </p:cBhvr>
                                    </p:animEffect>
                                  </p:childTnLst>
                                </p:cTn>
                              </p:par>
                              <p:par>
                                <p:cTn id="49" presetID="9" presetClass="emph" presetSubtype="0" nodeType="withEffect">
                                  <p:stCondLst>
                                    <p:cond delay="0"/>
                                  </p:stCondLst>
                                  <p:childTnLst>
                                    <p:set>
                                      <p:cBhvr rctx="PPT">
                                        <p:cTn id="50" dur="indefinite"/>
                                        <p:tgtEl>
                                          <p:spTgt spid="4"/>
                                        </p:tgtEl>
                                        <p:attrNameLst>
                                          <p:attrName>style.opacity</p:attrName>
                                        </p:attrNameLst>
                                      </p:cBhvr>
                                      <p:to>
                                        <p:strVal val="0.25"/>
                                      </p:to>
                                    </p:set>
                                    <p:animEffect filter="image" prLst="opacity: 0.25">
                                      <p:cBhvr rctx="IE">
                                        <p:cTn id="51" dur="indefinite"/>
                                        <p:tgtEl>
                                          <p:spTgt spid="4"/>
                                        </p:tgtEl>
                                      </p:cBhvr>
                                    </p:animEffect>
                                  </p:childTnLst>
                                </p:cTn>
                              </p:par>
                              <p:par>
                                <p:cTn id="52" presetID="9" presetClass="emph" presetSubtype="0" nodeType="withEffect">
                                  <p:stCondLst>
                                    <p:cond delay="0"/>
                                  </p:stCondLst>
                                  <p:childTnLst>
                                    <p:set>
                                      <p:cBhvr rctx="PPT">
                                        <p:cTn id="53" dur="indefinite"/>
                                        <p:tgtEl>
                                          <p:spTgt spid="79"/>
                                        </p:tgtEl>
                                        <p:attrNameLst>
                                          <p:attrName>style.opacity</p:attrName>
                                        </p:attrNameLst>
                                      </p:cBhvr>
                                      <p:to>
                                        <p:strVal val="0.25"/>
                                      </p:to>
                                    </p:set>
                                    <p:animEffect filter="image" prLst="opacity: 0.25">
                                      <p:cBhvr rctx="IE">
                                        <p:cTn id="54" dur="indefinite"/>
                                        <p:tgtEl>
                                          <p:spTgt spid="79"/>
                                        </p:tgtEl>
                                      </p:cBhvr>
                                    </p:animEffect>
                                  </p:childTnLst>
                                </p:cTn>
                              </p:par>
                              <p:par>
                                <p:cTn id="55" presetID="1" presetClass="entr" presetSubtype="0" fill="hold" nodeType="withEffect">
                                  <p:stCondLst>
                                    <p:cond delay="0"/>
                                  </p:stCondLst>
                                  <p:childTnLst>
                                    <p:set>
                                      <p:cBhvr>
                                        <p:cTn id="56" dur="1" fill="hold">
                                          <p:stCondLst>
                                            <p:cond delay="0"/>
                                          </p:stCondLst>
                                        </p:cTn>
                                        <p:tgtEl>
                                          <p:spTgt spid="8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p:cTn id="61" dur="500" fill="hold"/>
                                        <p:tgtEl>
                                          <p:spTgt spid="13"/>
                                        </p:tgtEl>
                                        <p:attrNameLst>
                                          <p:attrName>ppt_w</p:attrName>
                                        </p:attrNameLst>
                                      </p:cBhvr>
                                      <p:tavLst>
                                        <p:tav tm="0">
                                          <p:val>
                                            <p:fltVal val="0"/>
                                          </p:val>
                                        </p:tav>
                                        <p:tav tm="100000">
                                          <p:val>
                                            <p:strVal val="#ppt_w"/>
                                          </p:val>
                                        </p:tav>
                                      </p:tavLst>
                                    </p:anim>
                                    <p:anim calcmode="lin" valueType="num">
                                      <p:cBhvr>
                                        <p:cTn id="62" dur="500" fill="hold"/>
                                        <p:tgtEl>
                                          <p:spTgt spid="13"/>
                                        </p:tgtEl>
                                        <p:attrNameLst>
                                          <p:attrName>ppt_h</p:attrName>
                                        </p:attrNameLst>
                                      </p:cBhvr>
                                      <p:tavLst>
                                        <p:tav tm="0">
                                          <p:val>
                                            <p:fltVal val="0"/>
                                          </p:val>
                                        </p:tav>
                                        <p:tav tm="100000">
                                          <p:val>
                                            <p:strVal val="#ppt_h"/>
                                          </p:val>
                                        </p:tav>
                                      </p:tavLst>
                                    </p:anim>
                                    <p:animEffect transition="in" filter="fade">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33"/>
                                        </p:tgtEl>
                                        <p:attrNameLst>
                                          <p:attrName>style.visibility</p:attrName>
                                        </p:attrNameLst>
                                      </p:cBhvr>
                                      <p:to>
                                        <p:strVal val="visible"/>
                                      </p:to>
                                    </p:set>
                                    <p:anim calcmode="lin" valueType="num">
                                      <p:cBhvr>
                                        <p:cTn id="68" dur="500" fill="hold"/>
                                        <p:tgtEl>
                                          <p:spTgt spid="33"/>
                                        </p:tgtEl>
                                        <p:attrNameLst>
                                          <p:attrName>ppt_w</p:attrName>
                                        </p:attrNameLst>
                                      </p:cBhvr>
                                      <p:tavLst>
                                        <p:tav tm="0">
                                          <p:val>
                                            <p:fltVal val="0"/>
                                          </p:val>
                                        </p:tav>
                                        <p:tav tm="100000">
                                          <p:val>
                                            <p:strVal val="#ppt_w"/>
                                          </p:val>
                                        </p:tav>
                                      </p:tavLst>
                                    </p:anim>
                                    <p:anim calcmode="lin" valueType="num">
                                      <p:cBhvr>
                                        <p:cTn id="69" dur="500" fill="hold"/>
                                        <p:tgtEl>
                                          <p:spTgt spid="33"/>
                                        </p:tgtEl>
                                        <p:attrNameLst>
                                          <p:attrName>ppt_h</p:attrName>
                                        </p:attrNameLst>
                                      </p:cBhvr>
                                      <p:tavLst>
                                        <p:tav tm="0">
                                          <p:val>
                                            <p:fltVal val="0"/>
                                          </p:val>
                                        </p:tav>
                                        <p:tav tm="100000">
                                          <p:val>
                                            <p:strVal val="#ppt_h"/>
                                          </p:val>
                                        </p:tav>
                                      </p:tavLst>
                                    </p:anim>
                                    <p:animEffect transition="in" filter="fade">
                                      <p:cBhvr>
                                        <p:cTn id="70" dur="5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7" grpId="1"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GB" altLang="en-US" dirty="0" smtClean="0"/>
              <a:t>Play with SVMs…</a:t>
            </a:r>
          </a:p>
        </p:txBody>
      </p:sp>
      <p:sp>
        <p:nvSpPr>
          <p:cNvPr id="69635" name="Content Placeholder 2"/>
          <p:cNvSpPr>
            <a:spLocks noGrp="1"/>
          </p:cNvSpPr>
          <p:nvPr>
            <p:ph idx="1"/>
          </p:nvPr>
        </p:nvSpPr>
        <p:spPr>
          <a:xfrm>
            <a:off x="457200" y="1916113"/>
            <a:ext cx="8229600" cy="749300"/>
          </a:xfrm>
        </p:spPr>
        <p:txBody>
          <a:bodyPr/>
          <a:lstStyle/>
          <a:p>
            <a:r>
              <a:rPr lang="en-GB" altLang="en-US" smtClean="0"/>
              <a:t>LIBSVM:</a:t>
            </a:r>
          </a:p>
          <a:p>
            <a:endParaRPr lang="en-GB" altLang="en-US" smtClean="0"/>
          </a:p>
          <a:p>
            <a:pPr lvl="2"/>
            <a:endParaRPr lang="en-GB" altLang="en-US" smtClean="0"/>
          </a:p>
        </p:txBody>
      </p:sp>
      <p:sp>
        <p:nvSpPr>
          <p:cNvPr id="69636" name="Content Placeholder 2"/>
          <p:cNvSpPr txBox="1">
            <a:spLocks/>
          </p:cNvSpPr>
          <p:nvPr/>
        </p:nvSpPr>
        <p:spPr bwMode="auto">
          <a:xfrm>
            <a:off x="457200" y="3068638"/>
            <a:ext cx="82296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panose="020B0604020202020204" pitchFamily="34" charset="0"/>
              <a:buNone/>
            </a:pPr>
            <a:r>
              <a:rPr lang="en-GB" altLang="en-US" dirty="0">
                <a:hlinkClick r:id="rId2"/>
              </a:rPr>
              <a:t>https://www.csie.ntu.edu.tw/~cjlin/libsvm/</a:t>
            </a:r>
            <a:r>
              <a:rPr lang="en-GB" altLang="en-US" dirty="0"/>
              <a:t> </a:t>
            </a:r>
          </a:p>
          <a:p>
            <a:pPr lvl="2" algn="ctr"/>
            <a:endParaRPr lang="en-GB" altLang="en-US" dirty="0"/>
          </a:p>
        </p:txBody>
      </p:sp>
    </p:spTree>
    <p:extLst>
      <p:ext uri="{BB962C8B-B14F-4D97-AF65-F5344CB8AC3E}">
        <p14:creationId xmlns:p14="http://schemas.microsoft.com/office/powerpoint/2010/main" val="2364302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p:cNvSpPr txBox="1">
            <a:spLocks/>
          </p:cNvSpPr>
          <p:nvPr/>
        </p:nvSpPr>
        <p:spPr bwMode="auto">
          <a:xfrm>
            <a:off x="395536" y="692696"/>
            <a:ext cx="4356898" cy="61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571500" indent="-571500" eaLnBrk="1" hangingPunct="1">
              <a:spcBef>
                <a:spcPct val="0"/>
              </a:spcBef>
            </a:pPr>
            <a:r>
              <a:rPr lang="en-GB" altLang="en-US" sz="2400" dirty="0" smtClean="0"/>
              <a:t>Flexibly combines weak/noisy signal</a:t>
            </a:r>
            <a:br>
              <a:rPr lang="en-GB" altLang="en-US" sz="2400" dirty="0" smtClean="0"/>
            </a:br>
            <a:r>
              <a:rPr lang="en-GB" altLang="en-US" sz="2400" dirty="0" smtClean="0"/>
              <a:t>across features</a:t>
            </a:r>
            <a:br>
              <a:rPr lang="en-GB" altLang="en-US" sz="2400" dirty="0" smtClean="0"/>
            </a:br>
            <a:r>
              <a:rPr lang="en-GB" altLang="en-US" sz="2400" dirty="0" smtClean="0"/>
              <a:t>(including relative activation, non-uniform responses)</a:t>
            </a:r>
          </a:p>
          <a:p>
            <a:pPr eaLnBrk="1" hangingPunct="1">
              <a:spcBef>
                <a:spcPct val="0"/>
              </a:spcBef>
              <a:buNone/>
            </a:pPr>
            <a:endParaRPr lang="en-GB" altLang="en-US" sz="2400" b="1" dirty="0" smtClean="0"/>
          </a:p>
          <a:p>
            <a:pPr eaLnBrk="1" hangingPunct="1">
              <a:spcBef>
                <a:spcPct val="0"/>
              </a:spcBef>
              <a:buNone/>
            </a:pPr>
            <a:endParaRPr lang="en-GB" altLang="en-US" sz="2400" dirty="0" smtClean="0"/>
          </a:p>
          <a:p>
            <a:pPr marL="571500" indent="-571500" eaLnBrk="1" hangingPunct="1">
              <a:spcBef>
                <a:spcPct val="0"/>
              </a:spcBef>
            </a:pPr>
            <a:r>
              <a:rPr lang="en-GB" altLang="en-US" sz="2400" dirty="0" smtClean="0"/>
              <a:t>Suppresses correlated noise </a:t>
            </a:r>
            <a:r>
              <a:rPr lang="en-GB" altLang="en-US" sz="1800" dirty="0"/>
              <a:t>(Hebart &amp; Baker 2018;</a:t>
            </a:r>
            <a:br>
              <a:rPr lang="en-GB" altLang="en-US" sz="1800" dirty="0"/>
            </a:br>
            <a:r>
              <a:rPr lang="en-GB" altLang="en-US" sz="1800" dirty="0"/>
              <a:t>interpreting weight vector is tricky: </a:t>
            </a:r>
            <a:r>
              <a:rPr lang="en-GB" altLang="en-US" sz="1800" dirty="0" err="1"/>
              <a:t>Haufe</a:t>
            </a:r>
            <a:r>
              <a:rPr lang="en-GB" altLang="en-US" sz="1800" dirty="0"/>
              <a:t> et al., 2014)</a:t>
            </a:r>
          </a:p>
          <a:p>
            <a:pPr eaLnBrk="1" hangingPunct="1">
              <a:spcBef>
                <a:spcPct val="0"/>
              </a:spcBef>
              <a:buNone/>
            </a:pPr>
            <a:endParaRPr lang="en-GB" altLang="en-US" sz="2400" dirty="0" smtClean="0"/>
          </a:p>
          <a:p>
            <a:pPr marL="571500" indent="-571500" eaLnBrk="1" hangingPunct="1">
              <a:spcBef>
                <a:spcPct val="0"/>
              </a:spcBef>
            </a:pPr>
            <a:endParaRPr lang="en-GB" altLang="en-US" sz="2400" dirty="0" smtClean="0"/>
          </a:p>
          <a:p>
            <a:pPr marL="571500" indent="-571500" eaLnBrk="1" hangingPunct="1">
              <a:spcBef>
                <a:spcPct val="0"/>
              </a:spcBef>
            </a:pPr>
            <a:r>
              <a:rPr lang="en-GB" altLang="en-US" sz="2400" dirty="0" smtClean="0"/>
              <a:t>Abstracts from subjects’ idiosyncratic response patterns </a:t>
            </a:r>
            <a:br>
              <a:rPr lang="en-GB" altLang="en-US" sz="2400" dirty="0" smtClean="0"/>
            </a:br>
            <a:r>
              <a:rPr lang="en-GB" altLang="en-US" sz="1400" dirty="0" smtClean="0"/>
              <a:t>(information versus activation)</a:t>
            </a:r>
          </a:p>
        </p:txBody>
      </p:sp>
      <p:sp>
        <p:nvSpPr>
          <p:cNvPr id="3"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Why can MVPA be more sensitive?</a:t>
            </a:r>
            <a:endParaRPr lang="en-GB" altLang="en-US" sz="3600" b="1" dirty="0"/>
          </a:p>
        </p:txBody>
      </p:sp>
      <p:grpSp>
        <p:nvGrpSpPr>
          <p:cNvPr id="17" name="Group 16"/>
          <p:cNvGrpSpPr/>
          <p:nvPr/>
        </p:nvGrpSpPr>
        <p:grpSpPr>
          <a:xfrm>
            <a:off x="4865379" y="2729936"/>
            <a:ext cx="3745528" cy="2125285"/>
            <a:chOff x="4900969" y="2801944"/>
            <a:chExt cx="3745528" cy="2125285"/>
          </a:xfrm>
        </p:grpSpPr>
        <p:pic>
          <p:nvPicPr>
            <p:cNvPr id="4" name="Picture 3"/>
            <p:cNvPicPr>
              <a:picLocks noChangeAspect="1"/>
            </p:cNvPicPr>
            <p:nvPr/>
          </p:nvPicPr>
          <p:blipFill>
            <a:blip r:embed="rId3"/>
            <a:stretch>
              <a:fillRect/>
            </a:stretch>
          </p:blipFill>
          <p:spPr>
            <a:xfrm>
              <a:off x="6588225" y="2801944"/>
              <a:ext cx="2058272" cy="2125285"/>
            </a:xfrm>
            <a:prstGeom prst="rect">
              <a:avLst/>
            </a:prstGeom>
          </p:spPr>
        </p:pic>
        <p:sp>
          <p:nvSpPr>
            <p:cNvPr id="6" name="Text Box 4"/>
            <p:cNvSpPr txBox="1">
              <a:spLocks noChangeArrowheads="1"/>
            </p:cNvSpPr>
            <p:nvPr/>
          </p:nvSpPr>
          <p:spPr bwMode="auto">
            <a:xfrm>
              <a:off x="4900969" y="3957927"/>
              <a:ext cx="17314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err="1" smtClean="0">
                  <a:latin typeface="Times New Roman" panose="02020603050405020304" pitchFamily="18" charset="0"/>
                </a:rPr>
                <a:t>Kriegeskorte</a:t>
              </a:r>
              <a:r>
                <a:rPr lang="en-GB" altLang="en-US" sz="1400" i="1" dirty="0" smtClean="0">
                  <a:latin typeface="Times New Roman" panose="02020603050405020304" pitchFamily="18" charset="0"/>
                </a:rPr>
                <a:t> </a:t>
              </a:r>
              <a:br>
                <a:rPr lang="en-GB" altLang="en-US" sz="1400" i="1" dirty="0" smtClean="0">
                  <a:latin typeface="Times New Roman" panose="02020603050405020304" pitchFamily="18" charset="0"/>
                </a:rPr>
              </a:br>
              <a:r>
                <a:rPr lang="en-GB" altLang="en-US" sz="1400" i="1" dirty="0" smtClean="0">
                  <a:latin typeface="Times New Roman" panose="02020603050405020304" pitchFamily="18" charset="0"/>
                </a:rPr>
                <a:t>&amp; Douglas (2019</a:t>
              </a:r>
              <a:r>
                <a:rPr lang="en-GB" altLang="en-US" sz="1400" i="1" dirty="0">
                  <a:latin typeface="Times New Roman" panose="02020603050405020304" pitchFamily="18" charset="0"/>
                </a:rPr>
                <a:t>)</a:t>
              </a:r>
              <a:endParaRPr lang="en-US" altLang="en-US" sz="1400" i="1" dirty="0">
                <a:latin typeface="Times New Roman" panose="02020603050405020304" pitchFamily="18" charset="0"/>
              </a:endParaRPr>
            </a:p>
          </p:txBody>
        </p:sp>
      </p:grpSp>
      <p:grpSp>
        <p:nvGrpSpPr>
          <p:cNvPr id="18" name="Group 17"/>
          <p:cNvGrpSpPr/>
          <p:nvPr/>
        </p:nvGrpSpPr>
        <p:grpSpPr>
          <a:xfrm>
            <a:off x="4475435" y="5119735"/>
            <a:ext cx="2921669" cy="1549625"/>
            <a:chOff x="4511025" y="5047727"/>
            <a:chExt cx="2921669" cy="1549625"/>
          </a:xfrm>
        </p:grpSpPr>
        <p:pic>
          <p:nvPicPr>
            <p:cNvPr id="8" name="Picture 7"/>
            <p:cNvPicPr>
              <a:picLocks noChangeAspect="1"/>
            </p:cNvPicPr>
            <p:nvPr/>
          </p:nvPicPr>
          <p:blipFill rotWithShape="1">
            <a:blip r:embed="rId4"/>
            <a:srcRect l="34137" t="25926" r="26388" b="29629"/>
            <a:stretch/>
          </p:blipFill>
          <p:spPr>
            <a:xfrm flipH="1" flipV="1">
              <a:off x="6369653" y="5445224"/>
              <a:ext cx="792088" cy="864096"/>
            </a:xfrm>
            <a:prstGeom prst="rect">
              <a:avLst/>
            </a:prstGeom>
          </p:spPr>
        </p:pic>
        <p:pic>
          <p:nvPicPr>
            <p:cNvPr id="9" name="Picture 8"/>
            <p:cNvPicPr>
              <a:picLocks noChangeAspect="1"/>
            </p:cNvPicPr>
            <p:nvPr/>
          </p:nvPicPr>
          <p:blipFill rotWithShape="1">
            <a:blip r:embed="rId4"/>
            <a:srcRect l="34137" t="25926" r="26388" b="29629"/>
            <a:stretch/>
          </p:blipFill>
          <p:spPr>
            <a:xfrm rot="10800000" flipH="1" flipV="1">
              <a:off x="4802065" y="5445224"/>
              <a:ext cx="792088" cy="864096"/>
            </a:xfrm>
            <a:prstGeom prst="rect">
              <a:avLst/>
            </a:prstGeom>
          </p:spPr>
        </p:pic>
        <p:sp>
          <p:nvSpPr>
            <p:cNvPr id="10" name="Text Box 1056"/>
            <p:cNvSpPr txBox="1">
              <a:spLocks noChangeArrowheads="1"/>
            </p:cNvSpPr>
            <p:nvPr/>
          </p:nvSpPr>
          <p:spPr bwMode="auto">
            <a:xfrm>
              <a:off x="4788024" y="6320353"/>
              <a:ext cx="7920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Voxel 1</a:t>
              </a:r>
              <a:endParaRPr lang="en-US" altLang="en-US" sz="1200" b="1" dirty="0">
                <a:latin typeface="Albertus Medium"/>
              </a:endParaRPr>
            </a:p>
          </p:txBody>
        </p:sp>
        <p:sp>
          <p:nvSpPr>
            <p:cNvPr id="11" name="Text Box 1056"/>
            <p:cNvSpPr txBox="1">
              <a:spLocks noChangeArrowheads="1"/>
            </p:cNvSpPr>
            <p:nvPr/>
          </p:nvSpPr>
          <p:spPr bwMode="auto">
            <a:xfrm>
              <a:off x="6386242" y="6320353"/>
              <a:ext cx="7920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Voxel 1</a:t>
              </a:r>
              <a:endParaRPr lang="en-US" altLang="en-US" sz="1200" b="1" dirty="0">
                <a:latin typeface="Albertus Medium"/>
              </a:endParaRPr>
            </a:p>
          </p:txBody>
        </p:sp>
        <p:sp>
          <p:nvSpPr>
            <p:cNvPr id="12" name="Text Box 1056"/>
            <p:cNvSpPr txBox="1">
              <a:spLocks noChangeArrowheads="1"/>
            </p:cNvSpPr>
            <p:nvPr/>
          </p:nvSpPr>
          <p:spPr bwMode="auto">
            <a:xfrm rot="16200000">
              <a:off x="4253481" y="5738772"/>
              <a:ext cx="7920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Voxel 2</a:t>
              </a:r>
              <a:endParaRPr lang="en-US" altLang="en-US" sz="1200" b="1" dirty="0">
                <a:latin typeface="Albertus Medium"/>
              </a:endParaRPr>
            </a:p>
          </p:txBody>
        </p:sp>
        <p:sp>
          <p:nvSpPr>
            <p:cNvPr id="13" name="Text Box 1056"/>
            <p:cNvSpPr txBox="1">
              <a:spLocks noChangeArrowheads="1"/>
            </p:cNvSpPr>
            <p:nvPr/>
          </p:nvSpPr>
          <p:spPr bwMode="auto">
            <a:xfrm rot="16200000">
              <a:off x="5835109" y="5738772"/>
              <a:ext cx="7920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Voxel 2</a:t>
              </a:r>
              <a:endParaRPr lang="en-US" altLang="en-US" sz="1200" b="1" dirty="0">
                <a:latin typeface="Albertus Medium"/>
              </a:endParaRPr>
            </a:p>
          </p:txBody>
        </p:sp>
        <p:sp>
          <p:nvSpPr>
            <p:cNvPr id="14" name="Text Box 1056"/>
            <p:cNvSpPr txBox="1">
              <a:spLocks noChangeArrowheads="1"/>
            </p:cNvSpPr>
            <p:nvPr/>
          </p:nvSpPr>
          <p:spPr bwMode="auto">
            <a:xfrm>
              <a:off x="4572000" y="5047727"/>
              <a:ext cx="12241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SUBJECT A</a:t>
              </a:r>
              <a:endParaRPr lang="en-US" altLang="en-US" sz="1200" b="1" dirty="0">
                <a:latin typeface="Albertus Medium"/>
              </a:endParaRPr>
            </a:p>
          </p:txBody>
        </p:sp>
        <p:sp>
          <p:nvSpPr>
            <p:cNvPr id="15" name="Text Box 1056"/>
            <p:cNvSpPr txBox="1">
              <a:spLocks noChangeArrowheads="1"/>
            </p:cNvSpPr>
            <p:nvPr/>
          </p:nvSpPr>
          <p:spPr bwMode="auto">
            <a:xfrm>
              <a:off x="6208558" y="5047727"/>
              <a:ext cx="12241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SUBJECT B</a:t>
              </a:r>
              <a:endParaRPr lang="en-US" altLang="en-US" sz="1200" b="1" dirty="0">
                <a:latin typeface="Albertus Medium"/>
              </a:endParaRPr>
            </a:p>
          </p:txBody>
        </p:sp>
      </p:grpSp>
      <p:grpSp>
        <p:nvGrpSpPr>
          <p:cNvPr id="7" name="Group 6"/>
          <p:cNvGrpSpPr/>
          <p:nvPr/>
        </p:nvGrpSpPr>
        <p:grpSpPr>
          <a:xfrm>
            <a:off x="4898294" y="878811"/>
            <a:ext cx="4102612" cy="1849790"/>
            <a:chOff x="4933884" y="950819"/>
            <a:chExt cx="4102612" cy="1849790"/>
          </a:xfrm>
        </p:grpSpPr>
        <p:pic>
          <p:nvPicPr>
            <p:cNvPr id="5" name="Picture 4"/>
            <p:cNvPicPr>
              <a:picLocks noChangeAspect="1"/>
            </p:cNvPicPr>
            <p:nvPr/>
          </p:nvPicPr>
          <p:blipFill>
            <a:blip r:embed="rId4"/>
            <a:stretch>
              <a:fillRect/>
            </a:stretch>
          </p:blipFill>
          <p:spPr>
            <a:xfrm>
              <a:off x="4933884" y="950819"/>
              <a:ext cx="1909113" cy="1849790"/>
            </a:xfrm>
            <a:prstGeom prst="rect">
              <a:avLst/>
            </a:prstGeom>
          </p:spPr>
        </p:pic>
        <p:sp>
          <p:nvSpPr>
            <p:cNvPr id="16" name="Text Box 4"/>
            <p:cNvSpPr txBox="1">
              <a:spLocks noChangeArrowheads="1"/>
            </p:cNvSpPr>
            <p:nvPr/>
          </p:nvSpPr>
          <p:spPr bwMode="auto">
            <a:xfrm>
              <a:off x="7092280" y="1604033"/>
              <a:ext cx="19442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smtClean="0">
                  <a:latin typeface="Times New Roman" panose="02020603050405020304" pitchFamily="18" charset="0"/>
                </a:rPr>
                <a:t>Cox &amp; Savoy (2003)</a:t>
              </a:r>
              <a:endParaRPr lang="en-US" altLang="en-US" sz="1400" i="1" dirty="0">
                <a:latin typeface="Times New Roman" panose="02020603050405020304" pitchFamily="18" charset="0"/>
              </a:endParaRPr>
            </a:p>
          </p:txBody>
        </p:sp>
      </p:grpSp>
    </p:spTree>
    <p:extLst>
      <p:ext uri="{BB962C8B-B14F-4D97-AF65-F5344CB8AC3E}">
        <p14:creationId xmlns:p14="http://schemas.microsoft.com/office/powerpoint/2010/main" val="187363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5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5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p:cNvSpPr txBox="1">
            <a:spLocks/>
          </p:cNvSpPr>
          <p:nvPr/>
        </p:nvSpPr>
        <p:spPr bwMode="auto">
          <a:xfrm>
            <a:off x="457200" y="1052736"/>
            <a:ext cx="8363272"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571500" indent="-571500" eaLnBrk="1" hangingPunct="1">
              <a:spcBef>
                <a:spcPct val="0"/>
              </a:spcBef>
              <a:spcAft>
                <a:spcPts val="1200"/>
              </a:spcAft>
            </a:pPr>
            <a:r>
              <a:rPr lang="en-GB" altLang="en-US" sz="2000" dirty="0" smtClean="0"/>
              <a:t>Original view: biased sampling of sub-voxel patterns</a:t>
            </a:r>
          </a:p>
          <a:p>
            <a:pPr marL="571500" indent="-571500" eaLnBrk="1" hangingPunct="1">
              <a:spcBef>
                <a:spcPct val="0"/>
              </a:spcBef>
              <a:spcAft>
                <a:spcPts val="1200"/>
              </a:spcAft>
            </a:pPr>
            <a:endParaRPr lang="en-GB" altLang="en-US" sz="2000" dirty="0"/>
          </a:p>
          <a:p>
            <a:pPr marL="571500" indent="-571500" eaLnBrk="1" hangingPunct="1">
              <a:spcBef>
                <a:spcPct val="0"/>
              </a:spcBef>
              <a:spcAft>
                <a:spcPts val="1200"/>
              </a:spcAft>
            </a:pPr>
            <a:endParaRPr lang="en-GB" altLang="en-US" sz="2000" dirty="0" smtClean="0"/>
          </a:p>
          <a:p>
            <a:pPr marL="571500" indent="-571500" eaLnBrk="1" hangingPunct="1">
              <a:spcBef>
                <a:spcPct val="0"/>
              </a:spcBef>
              <a:spcAft>
                <a:spcPts val="1200"/>
              </a:spcAft>
            </a:pPr>
            <a:endParaRPr lang="en-GB" altLang="en-US" sz="2000" dirty="0" smtClean="0"/>
          </a:p>
          <a:p>
            <a:pPr marL="571500" indent="-571500" eaLnBrk="1" hangingPunct="1">
              <a:spcBef>
                <a:spcPct val="0"/>
              </a:spcBef>
              <a:spcAft>
                <a:spcPts val="0"/>
              </a:spcAft>
            </a:pPr>
            <a:r>
              <a:rPr lang="en-GB" altLang="en-US" sz="2000" dirty="0" smtClean="0"/>
              <a:t>Later spatial filtering experiments:</a:t>
            </a:r>
          </a:p>
          <a:p>
            <a:pPr marL="1314450" lvl="1" indent="-571500" eaLnBrk="1" hangingPunct="1">
              <a:spcBef>
                <a:spcPct val="0"/>
              </a:spcBef>
              <a:spcAft>
                <a:spcPts val="0"/>
              </a:spcAft>
            </a:pPr>
            <a:r>
              <a:rPr lang="en-GB" altLang="en-US" sz="1800" dirty="0" smtClean="0"/>
              <a:t>Removing high spatial frequencies doesn’t always hurt</a:t>
            </a:r>
            <a:br>
              <a:rPr lang="en-GB" altLang="en-US" sz="1800" dirty="0" smtClean="0"/>
            </a:br>
            <a:r>
              <a:rPr lang="en-GB" altLang="en-US" sz="1600" dirty="0" smtClean="0"/>
              <a:t>(e.g. Op de </a:t>
            </a:r>
            <a:r>
              <a:rPr lang="en-GB" altLang="en-US" sz="1600" dirty="0" err="1" smtClean="0"/>
              <a:t>Beeck</a:t>
            </a:r>
            <a:r>
              <a:rPr lang="en-GB" altLang="en-US" sz="1600" dirty="0" smtClean="0"/>
              <a:t>, 2010; Hendriks, 2017)</a:t>
            </a:r>
          </a:p>
          <a:p>
            <a:pPr marL="1314450" lvl="1" indent="-571500" eaLnBrk="1" hangingPunct="1">
              <a:spcBef>
                <a:spcPct val="0"/>
              </a:spcBef>
              <a:spcAft>
                <a:spcPts val="600"/>
              </a:spcAft>
            </a:pPr>
            <a:r>
              <a:rPr lang="en-GB" altLang="en-US" sz="1800" dirty="0" smtClean="0"/>
              <a:t>Therefore sampled patterns may be coarse</a:t>
            </a:r>
            <a:endParaRPr lang="en-GB" altLang="en-US" sz="2000" dirty="0" smtClean="0"/>
          </a:p>
          <a:p>
            <a:pPr marL="571500" indent="-571500" eaLnBrk="1" hangingPunct="1">
              <a:spcBef>
                <a:spcPct val="0"/>
              </a:spcBef>
              <a:spcAft>
                <a:spcPts val="1200"/>
              </a:spcAft>
            </a:pPr>
            <a:r>
              <a:rPr lang="en-GB" altLang="en-US" sz="2000" dirty="0" smtClean="0"/>
              <a:t>Much evidence that information is represented at multiple scales</a:t>
            </a:r>
            <a:br>
              <a:rPr lang="en-GB" altLang="en-US" sz="2000" dirty="0" smtClean="0"/>
            </a:br>
            <a:r>
              <a:rPr lang="en-GB" altLang="en-US" sz="1600" dirty="0" smtClean="0"/>
              <a:t>(e.g. FFA/PPA, </a:t>
            </a:r>
            <a:r>
              <a:rPr lang="en-GB" altLang="en-US" sz="1600" dirty="0" err="1" smtClean="0"/>
              <a:t>Haxby</a:t>
            </a:r>
            <a:r>
              <a:rPr lang="en-GB" altLang="en-US" sz="1600" dirty="0" smtClean="0"/>
              <a:t> 2001; radial orientation bias, etc.)</a:t>
            </a:r>
          </a:p>
          <a:p>
            <a:pPr marL="571500" indent="-571500" eaLnBrk="1" hangingPunct="1">
              <a:spcBef>
                <a:spcPct val="0"/>
              </a:spcBef>
              <a:spcAft>
                <a:spcPts val="1200"/>
              </a:spcAft>
            </a:pPr>
            <a:r>
              <a:rPr lang="en-GB" altLang="en-US" sz="2000" dirty="0" smtClean="0"/>
              <a:t>Veins as multipronged sensors? </a:t>
            </a:r>
            <a:br>
              <a:rPr lang="en-GB" altLang="en-US" sz="2000" dirty="0" smtClean="0"/>
            </a:br>
            <a:r>
              <a:rPr lang="en-GB" altLang="en-US" sz="1600" dirty="0" smtClean="0"/>
              <a:t>(We sample from veins, which sample from neurons)</a:t>
            </a:r>
            <a:endParaRPr lang="en-GB" altLang="en-US" sz="2000" dirty="0"/>
          </a:p>
          <a:p>
            <a:pPr marL="571500" indent="-571500" eaLnBrk="1" hangingPunct="1">
              <a:spcBef>
                <a:spcPct val="0"/>
              </a:spcBef>
              <a:spcAft>
                <a:spcPts val="1200"/>
              </a:spcAft>
            </a:pPr>
            <a:r>
              <a:rPr lang="en-GB" altLang="en-US" sz="2000" dirty="0" smtClean="0"/>
              <a:t>Often unimportant… </a:t>
            </a:r>
            <a:br>
              <a:rPr lang="en-GB" altLang="en-US" sz="2000" dirty="0" smtClean="0"/>
            </a:br>
            <a:r>
              <a:rPr lang="en-GB" altLang="en-US" sz="1600" dirty="0" smtClean="0"/>
              <a:t>(we want to ask “is there information?” </a:t>
            </a:r>
            <a:br>
              <a:rPr lang="en-GB" altLang="en-US" sz="1600" dirty="0" smtClean="0"/>
            </a:br>
            <a:r>
              <a:rPr lang="en-GB" altLang="en-US" sz="1600" dirty="0" smtClean="0"/>
              <a:t>not “what scale is the information?”)</a:t>
            </a:r>
            <a:r>
              <a:rPr lang="en-GB" altLang="en-US" sz="1800" dirty="0" smtClean="0"/>
              <a:t>, </a:t>
            </a:r>
            <a:br>
              <a:rPr lang="en-GB" altLang="en-US" sz="1800" dirty="0" smtClean="0"/>
            </a:br>
            <a:r>
              <a:rPr lang="en-GB" altLang="en-US" sz="2000" dirty="0" smtClean="0"/>
              <a:t>but could have practical consequences</a:t>
            </a:r>
            <a:br>
              <a:rPr lang="en-GB" altLang="en-US" sz="2000" dirty="0" smtClean="0"/>
            </a:br>
            <a:r>
              <a:rPr lang="en-GB" altLang="en-US" sz="1600" dirty="0" smtClean="0"/>
              <a:t>(consider smoothing and motion)</a:t>
            </a:r>
          </a:p>
          <a:p>
            <a:pPr marL="571500" indent="-571500" eaLnBrk="1" hangingPunct="1">
              <a:spcBef>
                <a:spcPct val="0"/>
              </a:spcBef>
            </a:pPr>
            <a:endParaRPr lang="en-GB" altLang="en-US" sz="2400" dirty="0"/>
          </a:p>
        </p:txBody>
      </p:sp>
      <p:sp>
        <p:nvSpPr>
          <p:cNvPr id="3"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Physiology: fine or coarser scale patterns?</a:t>
            </a:r>
            <a:endParaRPr lang="en-GB" altLang="en-US" sz="3600" b="1" dirty="0"/>
          </a:p>
        </p:txBody>
      </p:sp>
      <p:grpSp>
        <p:nvGrpSpPr>
          <p:cNvPr id="9" name="Group 8"/>
          <p:cNvGrpSpPr/>
          <p:nvPr/>
        </p:nvGrpSpPr>
        <p:grpSpPr>
          <a:xfrm>
            <a:off x="6156176" y="4293096"/>
            <a:ext cx="2530624" cy="2376264"/>
            <a:chOff x="6156176" y="4221088"/>
            <a:chExt cx="2530624" cy="2376264"/>
          </a:xfrm>
        </p:grpSpPr>
        <p:sp>
          <p:nvSpPr>
            <p:cNvPr id="4" name="Text Box 4"/>
            <p:cNvSpPr txBox="1">
              <a:spLocks noChangeArrowheads="1"/>
            </p:cNvSpPr>
            <p:nvPr/>
          </p:nvSpPr>
          <p:spPr bwMode="auto">
            <a:xfrm>
              <a:off x="6156176" y="6289377"/>
              <a:ext cx="2403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err="1">
                  <a:latin typeface="Times New Roman" panose="02020603050405020304" pitchFamily="18" charset="0"/>
                </a:rPr>
                <a:t>Kriegeskorte</a:t>
              </a:r>
              <a:r>
                <a:rPr lang="en-GB" altLang="en-US" sz="1400" i="1" dirty="0">
                  <a:latin typeface="Times New Roman" panose="02020603050405020304" pitchFamily="18" charset="0"/>
                </a:rPr>
                <a:t> et al. (2009)</a:t>
              </a:r>
              <a:endParaRPr lang="en-US" altLang="en-US" sz="1400" i="1" dirty="0">
                <a:latin typeface="Times New Roman" panose="02020603050405020304" pitchFamily="18" charset="0"/>
              </a:endParaRPr>
            </a:p>
          </p:txBody>
        </p:sp>
        <p:pic>
          <p:nvPicPr>
            <p:cNvPr id="5" name="Picture 10"/>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424613" y="4221088"/>
              <a:ext cx="2262187" cy="203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8" name="Group 7"/>
          <p:cNvGrpSpPr/>
          <p:nvPr/>
        </p:nvGrpSpPr>
        <p:grpSpPr>
          <a:xfrm>
            <a:off x="1763688" y="1196752"/>
            <a:ext cx="5862662" cy="1319024"/>
            <a:chOff x="1763688" y="1389896"/>
            <a:chExt cx="5862662" cy="1319024"/>
          </a:xfrm>
        </p:grpSpPr>
        <p:pic>
          <p:nvPicPr>
            <p:cNvPr id="2" name="Picture 1"/>
            <p:cNvPicPr>
              <a:picLocks noChangeAspect="1"/>
            </p:cNvPicPr>
            <p:nvPr/>
          </p:nvPicPr>
          <p:blipFill>
            <a:blip r:embed="rId4"/>
            <a:stretch>
              <a:fillRect/>
            </a:stretch>
          </p:blipFill>
          <p:spPr>
            <a:xfrm>
              <a:off x="1763688" y="1412776"/>
              <a:ext cx="1320375" cy="1152128"/>
            </a:xfrm>
            <a:prstGeom prst="rect">
              <a:avLst/>
            </a:prstGeom>
          </p:spPr>
        </p:pic>
        <p:sp>
          <p:nvSpPr>
            <p:cNvPr id="7" name="Text Box 4"/>
            <p:cNvSpPr txBox="1">
              <a:spLocks noChangeArrowheads="1"/>
            </p:cNvSpPr>
            <p:nvPr/>
          </p:nvSpPr>
          <p:spPr bwMode="auto">
            <a:xfrm>
              <a:off x="5222875" y="1511786"/>
              <a:ext cx="24034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err="1" smtClean="0">
                  <a:latin typeface="Times New Roman" panose="02020603050405020304" pitchFamily="18" charset="0"/>
                </a:rPr>
                <a:t>Kamitani</a:t>
              </a:r>
              <a:r>
                <a:rPr lang="en-GB" altLang="en-US" sz="1400" i="1" dirty="0" smtClean="0">
                  <a:latin typeface="Times New Roman" panose="02020603050405020304" pitchFamily="18" charset="0"/>
                </a:rPr>
                <a:t> &amp; Tong (2005)</a:t>
              </a:r>
            </a:p>
            <a:p>
              <a:pPr algn="r" eaLnBrk="1" hangingPunct="1">
                <a:spcBef>
                  <a:spcPct val="50000"/>
                </a:spcBef>
                <a:buFontTx/>
                <a:buNone/>
              </a:pPr>
              <a:r>
                <a:rPr lang="en-GB" altLang="en-US" sz="1400" i="1" dirty="0" smtClean="0">
                  <a:latin typeface="Times New Roman" panose="02020603050405020304" pitchFamily="18" charset="0"/>
                </a:rPr>
                <a:t>Haynes &amp; Rees (2005)</a:t>
              </a:r>
            </a:p>
            <a:p>
              <a:pPr algn="r" eaLnBrk="1" hangingPunct="1">
                <a:spcBef>
                  <a:spcPct val="50000"/>
                </a:spcBef>
                <a:buFontTx/>
                <a:buNone/>
              </a:pPr>
              <a:r>
                <a:rPr lang="en-GB" altLang="en-US" sz="1400" i="1" dirty="0" smtClean="0">
                  <a:latin typeface="Times New Roman" panose="02020603050405020304" pitchFamily="18" charset="0"/>
                </a:rPr>
                <a:t>Boynton </a:t>
              </a:r>
              <a:r>
                <a:rPr lang="en-GB" altLang="en-US" sz="1400" i="1" dirty="0">
                  <a:latin typeface="Times New Roman" panose="02020603050405020304" pitchFamily="18" charset="0"/>
                </a:rPr>
                <a:t>(</a:t>
              </a:r>
              <a:r>
                <a:rPr lang="en-GB" altLang="en-US" sz="1400" i="1" dirty="0" smtClean="0">
                  <a:latin typeface="Times New Roman" panose="02020603050405020304" pitchFamily="18" charset="0"/>
                </a:rPr>
                <a:t>2005)</a:t>
              </a:r>
              <a:endParaRPr lang="en-US" altLang="en-US" sz="1400" i="1" dirty="0">
                <a:latin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3473381" y="1389896"/>
              <a:ext cx="1202528" cy="1319024"/>
            </a:xfrm>
            <a:prstGeom prst="rect">
              <a:avLst/>
            </a:prstGeom>
          </p:spPr>
        </p:pic>
      </p:grpSp>
    </p:spTree>
    <p:extLst>
      <p:ext uri="{BB962C8B-B14F-4D97-AF65-F5344CB8AC3E}">
        <p14:creationId xmlns:p14="http://schemas.microsoft.com/office/powerpoint/2010/main" val="370607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51">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51">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5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51">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5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31208280"/>
              </p:ext>
            </p:extLst>
          </p:nvPr>
        </p:nvGraphicFramePr>
        <p:xfrm>
          <a:off x="251520" y="620688"/>
          <a:ext cx="8678507" cy="5069840"/>
        </p:xfrm>
        <a:graphic>
          <a:graphicData uri="http://schemas.openxmlformats.org/drawingml/2006/table">
            <a:tbl>
              <a:tblPr firstRow="1" bandRow="1">
                <a:tableStyleId>{5C22544A-7EE6-4342-B048-85BDC9FD1C3A}</a:tableStyleId>
              </a:tblPr>
              <a:tblGrid>
                <a:gridCol w="4631857">
                  <a:extLst>
                    <a:ext uri="{9D8B030D-6E8A-4147-A177-3AD203B41FA5}">
                      <a16:colId xmlns:a16="http://schemas.microsoft.com/office/drawing/2014/main" val="164590898"/>
                    </a:ext>
                  </a:extLst>
                </a:gridCol>
                <a:gridCol w="4046650">
                  <a:extLst>
                    <a:ext uri="{9D8B030D-6E8A-4147-A177-3AD203B41FA5}">
                      <a16:colId xmlns:a16="http://schemas.microsoft.com/office/drawing/2014/main" val="4211507826"/>
                    </a:ext>
                  </a:extLst>
                </a:gridCol>
              </a:tblGrid>
              <a:tr h="370840">
                <a:tc>
                  <a:txBody>
                    <a:bodyPr/>
                    <a:lstStyle/>
                    <a:p>
                      <a:r>
                        <a:rPr lang="en-GB" dirty="0" err="1" smtClean="0"/>
                        <a:t>Matlab</a:t>
                      </a:r>
                      <a:r>
                        <a:rPr lang="en-GB" dirty="0" smtClean="0"/>
                        <a:t> (or Octave)</a:t>
                      </a:r>
                      <a:endParaRPr lang="en-GB" dirty="0"/>
                    </a:p>
                  </a:txBody>
                  <a:tcPr/>
                </a:tc>
                <a:tc>
                  <a:txBody>
                    <a:bodyPr/>
                    <a:lstStyle/>
                    <a:p>
                      <a:r>
                        <a:rPr lang="en-GB" dirty="0" smtClean="0"/>
                        <a:t>Python</a:t>
                      </a:r>
                      <a:endParaRPr lang="en-GB" dirty="0"/>
                    </a:p>
                  </a:txBody>
                  <a:tcPr/>
                </a:tc>
                <a:extLst>
                  <a:ext uri="{0D108BD9-81ED-4DB2-BD59-A6C34878D82A}">
                    <a16:rowId xmlns:a16="http://schemas.microsoft.com/office/drawing/2014/main" val="34215307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err="1" smtClean="0"/>
                        <a:t>CoSMoMVPA</a:t>
                      </a:r>
                      <a:endParaRPr lang="en-US" altLang="en-US" sz="18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600" dirty="0" smtClean="0">
                          <a:hlinkClick r:id="rId3"/>
                        </a:rPr>
                        <a:t>http://cosmomvpa.org/</a:t>
                      </a:r>
                      <a:r>
                        <a:rPr lang="en-GB" altLang="en-US" sz="1600" dirty="0" smtClean="0"/>
                        <a:t> </a:t>
                      </a:r>
                      <a:endParaRPr lang="en-US" altLang="en-US" sz="16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err="1" smtClean="0"/>
                        <a:t>PyMVPA</a:t>
                      </a:r>
                      <a:r>
                        <a:rPr lang="en-US" altLang="en-US" sz="2000" dirty="0" smtClean="0"/>
                        <a:t/>
                      </a:r>
                      <a:br>
                        <a:rPr lang="en-US" altLang="en-US" sz="2000" dirty="0" smtClean="0"/>
                      </a:br>
                      <a:r>
                        <a:rPr lang="en-GB" altLang="en-US" sz="1600" dirty="0" smtClean="0">
                          <a:hlinkClick r:id="rId4"/>
                        </a:rPr>
                        <a:t>http://www.pymvpa.org/</a:t>
                      </a:r>
                      <a:endParaRPr lang="en-GB" altLang="en-US" sz="1600" dirty="0" smtClean="0"/>
                    </a:p>
                  </a:txBody>
                  <a:tcPr/>
                </a:tc>
                <a:extLst>
                  <a:ext uri="{0D108BD9-81ED-4DB2-BD59-A6C34878D82A}">
                    <a16:rowId xmlns:a16="http://schemas.microsoft.com/office/drawing/2014/main" val="6324846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2000" dirty="0" smtClean="0"/>
                        <a:t>The Decoding Toolbox </a:t>
                      </a:r>
                      <a:br>
                        <a:rPr lang="en-GB" altLang="en-US" sz="2000" dirty="0" smtClean="0"/>
                      </a:br>
                      <a:r>
                        <a:rPr lang="en-GB" altLang="en-US" sz="1600" dirty="0" smtClean="0">
                          <a:hlinkClick r:id="rId5"/>
                        </a:rPr>
                        <a:t>sites.google.com/site/</a:t>
                      </a:r>
                      <a:r>
                        <a:rPr lang="en-GB" altLang="en-US" sz="1600" dirty="0" err="1" smtClean="0">
                          <a:hlinkClick r:id="rId5"/>
                        </a:rPr>
                        <a:t>tdtdecodingtoolbox</a:t>
                      </a:r>
                      <a:r>
                        <a:rPr lang="en-GB" altLang="en-US" sz="1600" dirty="0" smtClean="0">
                          <a:hlinkClick r:id="rId5"/>
                        </a:rPr>
                        <a:t>/</a:t>
                      </a:r>
                      <a:r>
                        <a:rPr lang="en-GB" altLang="en-US" sz="1600" dirty="0" smtClean="0"/>
                        <a:t> </a:t>
                      </a:r>
                      <a:endParaRPr lang="en-GB" altLang="en-US" sz="1800" dirty="0" smtClean="0"/>
                    </a:p>
                  </a:txBody>
                  <a:tcPr/>
                </a:tc>
                <a:tc>
                  <a:txBody>
                    <a:bodyPr/>
                    <a:lstStyle/>
                    <a:p>
                      <a:r>
                        <a:rPr lang="en-GB" dirty="0" smtClean="0"/>
                        <a:t>MNE-python</a:t>
                      </a:r>
                      <a:r>
                        <a:rPr lang="en-GB" baseline="0" dirty="0" smtClean="0"/>
                        <a:t> (for EMEG)</a:t>
                      </a:r>
                      <a:br>
                        <a:rPr lang="en-GB" baseline="0" dirty="0" smtClean="0"/>
                      </a:br>
                      <a:r>
                        <a:rPr lang="en-GB" sz="1600" baseline="0" dirty="0" smtClean="0">
                          <a:hlinkClick r:id="rId6"/>
                        </a:rPr>
                        <a:t>https://mne.tools/stable</a:t>
                      </a:r>
                      <a:r>
                        <a:rPr lang="en-GB" sz="1600" baseline="0" dirty="0" smtClean="0"/>
                        <a:t> </a:t>
                      </a:r>
                      <a:endParaRPr lang="en-GB" dirty="0"/>
                    </a:p>
                  </a:txBody>
                  <a:tcPr/>
                </a:tc>
                <a:extLst>
                  <a:ext uri="{0D108BD9-81ED-4DB2-BD59-A6C34878D82A}">
                    <a16:rowId xmlns:a16="http://schemas.microsoft.com/office/drawing/2014/main" val="8205524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err="1" smtClean="0"/>
                        <a:t>PRoNTo</a:t>
                      </a:r>
                      <a:r>
                        <a:rPr lang="en-US" altLang="en-US" sz="1800" dirty="0" smtClean="0"/>
                        <a:t> (for SPM)</a:t>
                      </a:r>
                      <a:br>
                        <a:rPr lang="en-US" altLang="en-US" sz="1800" dirty="0" smtClean="0"/>
                      </a:br>
                      <a:r>
                        <a:rPr lang="en-GB" altLang="en-US" sz="1600" dirty="0" smtClean="0">
                          <a:hlinkClick r:id="rId7"/>
                        </a:rPr>
                        <a:t>http://www.mlnl.cs.ucl.ac.uk/pronto/</a:t>
                      </a:r>
                      <a:endParaRPr lang="en-US" altLang="en-US" sz="1600" dirty="0" smtClean="0"/>
                    </a:p>
                  </a:txBody>
                  <a:tcPr/>
                </a:tc>
                <a:tc>
                  <a:txBody>
                    <a:bodyPr/>
                    <a:lstStyle/>
                    <a:p>
                      <a:r>
                        <a:rPr lang="en-GB" dirty="0" err="1" smtClean="0"/>
                        <a:t>NiLearn</a:t>
                      </a:r>
                      <a:r>
                        <a:rPr lang="en-GB" dirty="0" smtClean="0"/>
                        <a:t> (general/fMRI)</a:t>
                      </a:r>
                      <a:br>
                        <a:rPr lang="en-GB" dirty="0" smtClean="0"/>
                      </a:br>
                      <a:r>
                        <a:rPr lang="en-GB" sz="1600" dirty="0" smtClean="0">
                          <a:hlinkClick r:id="rId8"/>
                        </a:rPr>
                        <a:t>https://nilearn.github.io/stable</a:t>
                      </a:r>
                      <a:r>
                        <a:rPr lang="en-GB" sz="1600" dirty="0" smtClean="0"/>
                        <a:t> </a:t>
                      </a:r>
                      <a:endParaRPr lang="en-GB" dirty="0"/>
                    </a:p>
                  </a:txBody>
                  <a:tcPr/>
                </a:tc>
                <a:extLst>
                  <a:ext uri="{0D108BD9-81ED-4DB2-BD59-A6C34878D82A}">
                    <a16:rowId xmlns:a16="http://schemas.microsoft.com/office/drawing/2014/main" val="164665286"/>
                  </a:ext>
                </a:extLst>
              </a:tr>
              <a:tr h="370840">
                <a:tc>
                  <a:txBody>
                    <a:bodyPr/>
                    <a:lstStyle/>
                    <a:p>
                      <a:r>
                        <a:rPr lang="en-GB" altLang="en-US" sz="1800" dirty="0" smtClean="0"/>
                        <a:t>Princeton Decoding Toolbox (discontinued)</a:t>
                      </a:r>
                      <a:r>
                        <a:rPr lang="en-GB" altLang="en-US" sz="2000" dirty="0" smtClean="0"/>
                        <a:t/>
                      </a:r>
                      <a:br>
                        <a:rPr lang="en-GB" altLang="en-US" sz="2000" dirty="0" smtClean="0"/>
                      </a:br>
                      <a:endParaRPr lang="en-GB" sz="1600" dirty="0"/>
                    </a:p>
                  </a:txBody>
                  <a:tcPr/>
                </a:tc>
                <a:tc>
                  <a:txBody>
                    <a:bodyPr/>
                    <a:lstStyle/>
                    <a:p>
                      <a:r>
                        <a:rPr lang="en-GB" dirty="0" err="1" smtClean="0"/>
                        <a:t>BrainIAK</a:t>
                      </a:r>
                      <a:r>
                        <a:rPr lang="en-GB" dirty="0" smtClean="0"/>
                        <a:t> (+advanced non-MVPA)</a:t>
                      </a:r>
                    </a:p>
                    <a:p>
                      <a:r>
                        <a:rPr lang="en-GB" sz="1600" dirty="0" smtClean="0">
                          <a:hlinkClick r:id="rId9"/>
                        </a:rPr>
                        <a:t>https://brainiak.org/</a:t>
                      </a:r>
                      <a:r>
                        <a:rPr lang="en-GB" sz="1600" dirty="0" smtClean="0"/>
                        <a:t> </a:t>
                      </a:r>
                    </a:p>
                  </a:txBody>
                  <a:tcPr/>
                </a:tc>
                <a:extLst>
                  <a:ext uri="{0D108BD9-81ED-4DB2-BD59-A6C34878D82A}">
                    <a16:rowId xmlns:a16="http://schemas.microsoft.com/office/drawing/2014/main" val="2910408032"/>
                  </a:ext>
                </a:extLst>
              </a:tr>
              <a:tr h="370840">
                <a:tc>
                  <a:txBody>
                    <a:bodyPr/>
                    <a:lstStyle/>
                    <a:p>
                      <a:r>
                        <a:rPr lang="en-GB" sz="1600" dirty="0" smtClean="0"/>
                        <a:t>MVPA-Light, </a:t>
                      </a:r>
                      <a:r>
                        <a:rPr lang="en-GB" sz="1600" dirty="0" smtClean="0">
                          <a:hlinkClick r:id="rId10"/>
                        </a:rPr>
                        <a:t>https://github.com/treder/MVPA-Light</a:t>
                      </a:r>
                      <a:r>
                        <a:rPr lang="en-GB" sz="1600" dirty="0" smtClean="0"/>
                        <a:t> </a:t>
                      </a:r>
                      <a:endParaRPr lang="en-GB" sz="1600" dirty="0"/>
                    </a:p>
                  </a:txBody>
                  <a:tcPr/>
                </a:tc>
                <a:tc>
                  <a:txBody>
                    <a:bodyPr/>
                    <a:lstStyle/>
                    <a:p>
                      <a:endParaRPr lang="en-GB" sz="1600" dirty="0" smtClean="0"/>
                    </a:p>
                  </a:txBody>
                  <a:tcPr/>
                </a:tc>
                <a:extLst>
                  <a:ext uri="{0D108BD9-81ED-4DB2-BD59-A6C34878D82A}">
                    <a16:rowId xmlns:a16="http://schemas.microsoft.com/office/drawing/2014/main" val="4242591178"/>
                  </a:ext>
                </a:extLst>
              </a:tr>
              <a:tr h="370840">
                <a:tc>
                  <a:txBody>
                    <a:bodyPr/>
                    <a:lstStyle/>
                    <a:p>
                      <a:r>
                        <a:rPr lang="en-GB" altLang="en-US" sz="1800" dirty="0" err="1" smtClean="0"/>
                        <a:t>Searchmight</a:t>
                      </a:r>
                      <a:r>
                        <a:rPr lang="en-GB" altLang="en-US" sz="1800" dirty="0" smtClean="0"/>
                        <a:t> (focus</a:t>
                      </a:r>
                      <a:r>
                        <a:rPr lang="en-GB" altLang="en-US" sz="1800" baseline="0" dirty="0" smtClean="0"/>
                        <a:t> on</a:t>
                      </a:r>
                      <a:r>
                        <a:rPr lang="en-GB" altLang="en-US" sz="1800" dirty="0" smtClean="0"/>
                        <a:t> searchlights)</a:t>
                      </a:r>
                      <a:br>
                        <a:rPr lang="en-GB" altLang="en-US" sz="1800" dirty="0" smtClean="0"/>
                      </a:br>
                      <a:r>
                        <a:rPr lang="en-GB" altLang="en-US" sz="1600" dirty="0" smtClean="0">
                          <a:hlinkClick r:id="rId11"/>
                        </a:rPr>
                        <a:t>http://www.franciscopereira.org/searchmight/</a:t>
                      </a:r>
                      <a:endParaRPr lang="en-GB" dirty="0"/>
                    </a:p>
                  </a:txBody>
                  <a:tcPr/>
                </a:tc>
                <a:tc>
                  <a:txBody>
                    <a:bodyPr/>
                    <a:lstStyle/>
                    <a:p>
                      <a:endParaRPr lang="en-GB" dirty="0"/>
                    </a:p>
                  </a:txBody>
                  <a:tcPr/>
                </a:tc>
                <a:extLst>
                  <a:ext uri="{0D108BD9-81ED-4DB2-BD59-A6C34878D82A}">
                    <a16:rowId xmlns:a16="http://schemas.microsoft.com/office/drawing/2014/main" val="1054147647"/>
                  </a:ext>
                </a:extLst>
              </a:tr>
              <a:tr h="572328">
                <a:tc>
                  <a:txBody>
                    <a:bodyPr/>
                    <a:lstStyle/>
                    <a:p>
                      <a:r>
                        <a:rPr lang="en-GB" dirty="0" smtClean="0"/>
                        <a:t>Built-in</a:t>
                      </a:r>
                      <a:r>
                        <a:rPr lang="en-GB" baseline="0" dirty="0" smtClean="0"/>
                        <a:t> functions</a:t>
                      </a:r>
                      <a:endParaRPr lang="en-GB" dirty="0"/>
                    </a:p>
                  </a:txBody>
                  <a:tcPr anchor="ctr"/>
                </a:tc>
                <a:tc>
                  <a:txBody>
                    <a:bodyPr/>
                    <a:lstStyle/>
                    <a:p>
                      <a:r>
                        <a:rPr lang="en-GB" dirty="0" smtClean="0"/>
                        <a:t>General ML packages</a:t>
                      </a:r>
                      <a:r>
                        <a:rPr lang="en-GB" baseline="0" dirty="0" smtClean="0"/>
                        <a:t> </a:t>
                      </a:r>
                      <a:br>
                        <a:rPr lang="en-GB" baseline="0" dirty="0" smtClean="0"/>
                      </a:br>
                      <a:r>
                        <a:rPr lang="en-GB" baseline="0" dirty="0" smtClean="0"/>
                        <a:t>e.g. </a:t>
                      </a:r>
                      <a:r>
                        <a:rPr lang="en-GB" baseline="0" dirty="0" smtClean="0">
                          <a:hlinkClick r:id="rId12"/>
                        </a:rPr>
                        <a:t>https://scikit-learn.org/</a:t>
                      </a:r>
                      <a:r>
                        <a:rPr lang="en-GB" baseline="0" dirty="0" smtClean="0"/>
                        <a:t> </a:t>
                      </a:r>
                      <a:endParaRPr lang="en-GB" dirty="0"/>
                    </a:p>
                  </a:txBody>
                  <a:tcPr anchor="ctr"/>
                </a:tc>
                <a:extLst>
                  <a:ext uri="{0D108BD9-81ED-4DB2-BD59-A6C34878D82A}">
                    <a16:rowId xmlns:a16="http://schemas.microsoft.com/office/drawing/2014/main" val="1865521326"/>
                  </a:ext>
                </a:extLst>
              </a:tr>
              <a:tr h="370840">
                <a:tc gridSpan="2">
                  <a:txBody>
                    <a:bodyPr/>
                    <a:lstStyle/>
                    <a:p>
                      <a:pPr algn="ctr"/>
                      <a:r>
                        <a:rPr lang="en-GB" dirty="0" smtClean="0"/>
                        <a:t>RSA Toolbox (focus on RSA)</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smtClean="0">
                          <a:hlinkClick r:id="rId13"/>
                        </a:rPr>
                        <a:t>https://git.fmrib.ox.ac.uk/hnili/rsa</a:t>
                      </a:r>
                      <a:r>
                        <a:rPr lang="en-GB" sz="1600" baseline="0" dirty="0" smtClean="0"/>
                        <a:t>                           </a:t>
                      </a:r>
                      <a:r>
                        <a:rPr lang="en-US" sz="1600" b="0" dirty="0" smtClean="0">
                          <a:hlinkClick r:id="rId14"/>
                        </a:rPr>
                        <a:t>https://github.com/rsagroup/rsatoolbox</a:t>
                      </a:r>
                      <a:r>
                        <a:rPr lang="en-US" sz="1600" b="1" dirty="0" smtClean="0"/>
                        <a:t> </a:t>
                      </a:r>
                      <a:endParaRPr lang="en-US" sz="1600" dirty="0" smtClean="0"/>
                    </a:p>
                  </a:txBody>
                  <a:tcPr/>
                </a:tc>
                <a:tc hMerge="1">
                  <a:txBody>
                    <a:bodyPr/>
                    <a:lstStyle/>
                    <a:p>
                      <a:endParaRPr lang="en-GB" dirty="0"/>
                    </a:p>
                  </a:txBody>
                  <a:tcPr/>
                </a:tc>
                <a:extLst>
                  <a:ext uri="{0D108BD9-81ED-4DB2-BD59-A6C34878D82A}">
                    <a16:rowId xmlns:a16="http://schemas.microsoft.com/office/drawing/2014/main" val="392862154"/>
                  </a:ext>
                </a:extLst>
              </a:tr>
            </a:tbl>
          </a:graphicData>
        </a:graphic>
      </p:graphicFrame>
      <p:sp>
        <p:nvSpPr>
          <p:cNvPr id="112642" name="Title 1"/>
          <p:cNvSpPr>
            <a:spLocks noGrp="1"/>
          </p:cNvSpPr>
          <p:nvPr>
            <p:ph type="title"/>
          </p:nvPr>
        </p:nvSpPr>
        <p:spPr>
          <a:xfrm>
            <a:off x="457200" y="150690"/>
            <a:ext cx="8229600" cy="397990"/>
          </a:xfrm>
        </p:spPr>
        <p:txBody>
          <a:bodyPr rtlCol="0">
            <a:normAutofit fontScale="90000"/>
          </a:bodyPr>
          <a:lstStyle/>
          <a:p>
            <a:pPr eaLnBrk="1" fontAlgn="auto" hangingPunct="1">
              <a:spcAft>
                <a:spcPts val="0"/>
              </a:spcAft>
              <a:defRPr/>
            </a:pPr>
            <a:r>
              <a:rPr lang="en-GB" altLang="en-US" sz="3000" b="1" dirty="0" smtClean="0"/>
              <a:t>Many MVPA toolboxes are available…</a:t>
            </a:r>
          </a:p>
        </p:txBody>
      </p:sp>
      <p:pic>
        <p:nvPicPr>
          <p:cNvPr id="6"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7944" y="1640337"/>
            <a:ext cx="703622" cy="571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0" name="Picture 3"/>
          <p:cNvPicPr>
            <a:picLocks noChangeAspect="1" noChangeArrowheads="1"/>
          </p:cNvPicPr>
          <p:nvPr/>
        </p:nvPicPr>
        <p:blipFill>
          <a:blip r:embed="rId16" cstate="screen">
            <a:extLst>
              <a:ext uri="{28A0092B-C50C-407E-A947-70E740481C1C}">
                <a14:useLocalDpi xmlns:a14="http://schemas.microsoft.com/office/drawing/2010/main" val="0"/>
              </a:ext>
            </a:extLst>
          </a:blip>
          <a:srcRect/>
          <a:stretch>
            <a:fillRect/>
          </a:stretch>
        </p:blipFill>
        <p:spPr bwMode="auto">
          <a:xfrm>
            <a:off x="7308304" y="1043962"/>
            <a:ext cx="1566758" cy="520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77508" y="5746920"/>
            <a:ext cx="8758988" cy="723275"/>
          </a:xfrm>
          <a:prstGeom prst="rect">
            <a:avLst/>
          </a:prstGeom>
        </p:spPr>
        <p:txBody>
          <a:bodyPr wrap="square">
            <a:spAutoFit/>
          </a:bodyPr>
          <a:lstStyle/>
          <a:p>
            <a:pPr marL="285750" indent="-285750" eaLnBrk="1" hangingPunct="1">
              <a:spcAft>
                <a:spcPts val="600"/>
              </a:spcAft>
              <a:buFont typeface="Arial" panose="020B0604020202020204" pitchFamily="34" charset="0"/>
              <a:buChar char="•"/>
            </a:pPr>
            <a:r>
              <a:rPr lang="en-GB" altLang="en-US" dirty="0"/>
              <a:t>Within larger packages (e.g. </a:t>
            </a:r>
            <a:r>
              <a:rPr lang="en-GB" altLang="en-US" dirty="0" err="1"/>
              <a:t>BrainVoyager</a:t>
            </a:r>
            <a:r>
              <a:rPr lang="en-GB" altLang="en-US" dirty="0" smtClean="0"/>
              <a:t>;  </a:t>
            </a:r>
            <a:r>
              <a:rPr lang="en-GB" altLang="en-US" dirty="0"/>
              <a:t>MNE; </a:t>
            </a:r>
            <a:r>
              <a:rPr lang="en-GB" altLang="en-US" dirty="0" smtClean="0"/>
              <a:t> 3dSVM </a:t>
            </a:r>
            <a:r>
              <a:rPr lang="en-GB" altLang="en-US" dirty="0"/>
              <a:t>in AFNI</a:t>
            </a:r>
            <a:r>
              <a:rPr lang="en-GB" altLang="en-US" dirty="0" smtClean="0"/>
              <a:t>)</a:t>
            </a:r>
          </a:p>
          <a:p>
            <a:pPr marL="285750" indent="-285750" eaLnBrk="1" hangingPunct="1">
              <a:spcAft>
                <a:spcPts val="600"/>
              </a:spcAft>
              <a:buFont typeface="Arial" panose="020B0604020202020204" pitchFamily="34" charset="0"/>
              <a:buChar char="•"/>
            </a:pPr>
            <a:r>
              <a:rPr lang="en-GB" altLang="en-US" dirty="0" smtClean="0"/>
              <a:t>Yet more in </a:t>
            </a:r>
            <a:r>
              <a:rPr lang="en-GB" altLang="en-US" dirty="0" err="1" smtClean="0"/>
              <a:t>Matlab</a:t>
            </a:r>
            <a:r>
              <a:rPr lang="en-GB" altLang="en-US" dirty="0" smtClean="0"/>
              <a:t>:  MANIA,  MANAS, MVPANI,  Brain </a:t>
            </a:r>
            <a:r>
              <a:rPr lang="en-GB" altLang="en-US" dirty="0"/>
              <a:t>Decoder Toolbox </a:t>
            </a:r>
            <a:r>
              <a:rPr lang="en-GB" altLang="en-US" dirty="0" smtClean="0"/>
              <a:t>2…</a:t>
            </a:r>
          </a:p>
        </p:txBody>
      </p:sp>
      <p:pic>
        <p:nvPicPr>
          <p:cNvPr id="10" name="Picture 9"/>
          <p:cNvPicPr>
            <a:picLocks noChangeAspect="1"/>
          </p:cNvPicPr>
          <p:nvPr/>
        </p:nvPicPr>
        <p:blipFill>
          <a:blip r:embed="rId17"/>
          <a:stretch>
            <a:fillRect/>
          </a:stretch>
        </p:blipFill>
        <p:spPr>
          <a:xfrm>
            <a:off x="4212689" y="1022489"/>
            <a:ext cx="558877" cy="575012"/>
          </a:xfrm>
          <a:prstGeom prst="rect">
            <a:avLst/>
          </a:prstGeom>
        </p:spPr>
      </p:pic>
      <p:pic>
        <p:nvPicPr>
          <p:cNvPr id="8" name="Picture 7"/>
          <p:cNvPicPr>
            <a:picLocks noChangeAspect="1"/>
          </p:cNvPicPr>
          <p:nvPr/>
        </p:nvPicPr>
        <p:blipFill>
          <a:blip r:embed="rId18"/>
          <a:stretch>
            <a:fillRect/>
          </a:stretch>
        </p:blipFill>
        <p:spPr>
          <a:xfrm>
            <a:off x="8315875" y="2908018"/>
            <a:ext cx="559187" cy="504056"/>
          </a:xfrm>
          <a:prstGeom prst="rect">
            <a:avLst/>
          </a:prstGeom>
        </p:spPr>
      </p:pic>
      <p:pic>
        <p:nvPicPr>
          <p:cNvPr id="9" name="Picture 8"/>
          <p:cNvPicPr>
            <a:picLocks noChangeAspect="1"/>
          </p:cNvPicPr>
          <p:nvPr/>
        </p:nvPicPr>
        <p:blipFill>
          <a:blip r:embed="rId19"/>
          <a:stretch>
            <a:fillRect/>
          </a:stretch>
        </p:blipFill>
        <p:spPr>
          <a:xfrm>
            <a:off x="7746151" y="1711068"/>
            <a:ext cx="1128911" cy="400480"/>
          </a:xfrm>
          <a:prstGeom prst="rect">
            <a:avLst/>
          </a:prstGeom>
        </p:spPr>
      </p:pic>
      <p:pic>
        <p:nvPicPr>
          <p:cNvPr id="11" name="Picture 10"/>
          <p:cNvPicPr>
            <a:picLocks noChangeAspect="1"/>
          </p:cNvPicPr>
          <p:nvPr/>
        </p:nvPicPr>
        <p:blipFill>
          <a:blip r:embed="rId20"/>
          <a:stretch>
            <a:fillRect/>
          </a:stretch>
        </p:blipFill>
        <p:spPr>
          <a:xfrm>
            <a:off x="8315875" y="2303490"/>
            <a:ext cx="559187" cy="474782"/>
          </a:xfrm>
          <a:prstGeom prst="rect">
            <a:avLst/>
          </a:prstGeom>
        </p:spPr>
      </p:pic>
      <p:pic>
        <p:nvPicPr>
          <p:cNvPr id="2" name="Picture 1"/>
          <p:cNvPicPr>
            <a:picLocks noChangeAspect="1"/>
          </p:cNvPicPr>
          <p:nvPr/>
        </p:nvPicPr>
        <p:blipFill>
          <a:blip r:embed="rId21"/>
          <a:stretch>
            <a:fillRect/>
          </a:stretch>
        </p:blipFill>
        <p:spPr>
          <a:xfrm>
            <a:off x="7589408" y="4508681"/>
            <a:ext cx="1286054" cy="485843"/>
          </a:xfrm>
          <a:prstGeom prst="rect">
            <a:avLst/>
          </a:prstGeom>
        </p:spPr>
      </p:pic>
      <p:sp>
        <p:nvSpPr>
          <p:cNvPr id="5" name="Rectangle 4"/>
          <p:cNvSpPr/>
          <p:nvPr/>
        </p:nvSpPr>
        <p:spPr>
          <a:xfrm>
            <a:off x="4860032" y="4437112"/>
            <a:ext cx="4069995" cy="125341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3" name="Rectangle 12"/>
          <p:cNvSpPr/>
          <p:nvPr/>
        </p:nvSpPr>
        <p:spPr>
          <a:xfrm>
            <a:off x="4860032" y="2267293"/>
            <a:ext cx="4069995" cy="584333"/>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86040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1"/>
          <p:cNvSpPr>
            <a:spLocks noGrp="1"/>
          </p:cNvSpPr>
          <p:nvPr>
            <p:ph idx="1"/>
          </p:nvPr>
        </p:nvSpPr>
        <p:spPr>
          <a:xfrm>
            <a:off x="438150" y="764704"/>
            <a:ext cx="8229600" cy="5936134"/>
          </a:xfrm>
        </p:spPr>
        <p:txBody>
          <a:bodyPr/>
          <a:lstStyle/>
          <a:p>
            <a:pPr eaLnBrk="1" hangingPunct="1"/>
            <a:r>
              <a:rPr lang="en-GB" altLang="en-US" sz="2800" dirty="0" smtClean="0"/>
              <a:t>Pros:</a:t>
            </a:r>
          </a:p>
          <a:p>
            <a:pPr lvl="1" eaLnBrk="1" hangingPunct="1"/>
            <a:r>
              <a:rPr lang="en-GB" altLang="en-US" sz="2400" dirty="0" smtClean="0"/>
              <a:t>Open source (Python)</a:t>
            </a:r>
          </a:p>
          <a:p>
            <a:pPr lvl="1" eaLnBrk="1" hangingPunct="1"/>
            <a:r>
              <a:rPr lang="en-GB" altLang="en-US" sz="2400" dirty="0" smtClean="0"/>
              <a:t>Popular: basis of many more specialised toolboxes</a:t>
            </a:r>
          </a:p>
          <a:p>
            <a:pPr lvl="1" eaLnBrk="1" hangingPunct="1"/>
            <a:r>
              <a:rPr lang="en-GB" altLang="en-US" sz="2400" dirty="0" smtClean="0"/>
              <a:t>“Simple and efficient”</a:t>
            </a:r>
          </a:p>
          <a:p>
            <a:pPr lvl="1" eaLnBrk="1" hangingPunct="1"/>
            <a:r>
              <a:rPr lang="en-GB" altLang="en-US" sz="2400" dirty="0" smtClean="0"/>
              <a:t>Built on standard packages (</a:t>
            </a:r>
            <a:r>
              <a:rPr lang="en-GB" altLang="en-US" sz="2400" dirty="0" err="1" smtClean="0"/>
              <a:t>Numpy</a:t>
            </a:r>
            <a:r>
              <a:rPr lang="en-GB" altLang="en-US" sz="2400" dirty="0" smtClean="0"/>
              <a:t>, </a:t>
            </a:r>
            <a:r>
              <a:rPr lang="en-GB" altLang="en-US" sz="2400" dirty="0" err="1" smtClean="0"/>
              <a:t>SciPy</a:t>
            </a:r>
            <a:r>
              <a:rPr lang="en-GB" altLang="en-US" sz="2400" dirty="0"/>
              <a:t>,</a:t>
            </a:r>
            <a:r>
              <a:rPr lang="en-GB" altLang="en-US" sz="2400" dirty="0" smtClean="0"/>
              <a:t> </a:t>
            </a:r>
            <a:r>
              <a:rPr lang="en-GB" altLang="en-US" sz="2400" dirty="0" err="1" smtClean="0"/>
              <a:t>matplotlib</a:t>
            </a:r>
            <a:r>
              <a:rPr lang="en-GB" altLang="en-US" sz="2400" dirty="0" smtClean="0"/>
              <a:t>)</a:t>
            </a:r>
          </a:p>
          <a:p>
            <a:pPr lvl="1" eaLnBrk="1" hangingPunct="1"/>
            <a:r>
              <a:rPr lang="en-GB" altLang="en-US" sz="2400" dirty="0" smtClean="0"/>
              <a:t>Good documentation, and examples</a:t>
            </a:r>
            <a:r>
              <a:rPr lang="en-GB" altLang="en-US" sz="2000" dirty="0"/>
              <a:t>: </a:t>
            </a:r>
            <a:r>
              <a:rPr lang="en-GB" altLang="en-US" sz="2000" dirty="0" smtClean="0"/>
              <a:t/>
            </a:r>
            <a:br>
              <a:rPr lang="en-GB" altLang="en-US" sz="2000" dirty="0" smtClean="0"/>
            </a:br>
            <a:r>
              <a:rPr lang="en-GB" altLang="en-US" sz="2000" dirty="0" smtClean="0">
                <a:hlinkClick r:id="rId3"/>
              </a:rPr>
              <a:t>https</a:t>
            </a:r>
            <a:r>
              <a:rPr lang="en-GB" altLang="en-US" sz="2000" dirty="0">
                <a:hlinkClick r:id="rId3"/>
              </a:rPr>
              <a:t>://scikit-learn.org/stable</a:t>
            </a:r>
            <a:r>
              <a:rPr lang="en-GB" altLang="en-US" sz="2000" dirty="0" smtClean="0">
                <a:hlinkClick r:id="rId3"/>
              </a:rPr>
              <a:t>/</a:t>
            </a:r>
            <a:r>
              <a:rPr lang="en-GB" altLang="en-US" sz="2000" dirty="0" smtClean="0"/>
              <a:t> </a:t>
            </a:r>
          </a:p>
          <a:p>
            <a:pPr lvl="1" eaLnBrk="1" hangingPunct="1"/>
            <a:r>
              <a:rPr lang="en-GB" altLang="en-US" sz="2400" dirty="0" smtClean="0"/>
              <a:t>Extensive and actively developed</a:t>
            </a:r>
          </a:p>
          <a:p>
            <a:pPr eaLnBrk="1" hangingPunct="1"/>
            <a:r>
              <a:rPr lang="en-GB" altLang="en-US" sz="2800" dirty="0" smtClean="0"/>
              <a:t>Limits:</a:t>
            </a:r>
          </a:p>
          <a:p>
            <a:pPr lvl="1" eaLnBrk="1" hangingPunct="1"/>
            <a:r>
              <a:rPr lang="en-GB" altLang="en-US" sz="2400" dirty="0" smtClean="0"/>
              <a:t>Not specialized for neuroimaging data</a:t>
            </a:r>
            <a:br>
              <a:rPr lang="en-GB" altLang="en-US" sz="2400" dirty="0" smtClean="0"/>
            </a:br>
            <a:r>
              <a:rPr lang="en-GB" altLang="en-US" sz="2000" dirty="0" smtClean="0"/>
              <a:t>(but integrated with neuroimaging packages, like </a:t>
            </a:r>
            <a:r>
              <a:rPr lang="en-GB" altLang="en-US" sz="2000" dirty="0" err="1" smtClean="0"/>
              <a:t>nilearn</a:t>
            </a:r>
            <a:r>
              <a:rPr lang="en-GB" altLang="en-US" sz="2000" dirty="0" smtClean="0"/>
              <a:t>)</a:t>
            </a:r>
            <a:endParaRPr lang="en-GB" altLang="en-US" sz="2400" dirty="0" smtClean="0"/>
          </a:p>
          <a:p>
            <a:pPr lvl="1" eaLnBrk="1" hangingPunct="1"/>
            <a:r>
              <a:rPr lang="en-GB" altLang="en-US" sz="2400" dirty="0" smtClean="0"/>
              <a:t>Doesn’t have deep learning capabilities</a:t>
            </a:r>
            <a:br>
              <a:rPr lang="en-GB" altLang="en-US" sz="2400" dirty="0" smtClean="0"/>
            </a:br>
            <a:r>
              <a:rPr lang="en-GB" altLang="en-US" sz="2000" dirty="0" smtClean="0"/>
              <a:t>(not needed for typical neuroimaging applications</a:t>
            </a:r>
            <a:r>
              <a:rPr lang="en-GB" altLang="en-US" sz="2000" dirty="0" smtClean="0"/>
              <a:t>)</a:t>
            </a:r>
            <a:endParaRPr lang="en-GB" altLang="en-US" sz="2000" dirty="0" smtClean="0"/>
          </a:p>
        </p:txBody>
      </p:sp>
      <p:sp>
        <p:nvSpPr>
          <p:cNvPr id="3"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Why use </a:t>
            </a:r>
            <a:r>
              <a:rPr lang="en-GB" altLang="en-US" sz="3600" b="1" dirty="0" err="1" smtClean="0">
                <a:latin typeface="Consolas" panose="020B0609020204030204" pitchFamily="49" charset="0"/>
              </a:rPr>
              <a:t>scikit</a:t>
            </a:r>
            <a:r>
              <a:rPr lang="en-GB" altLang="en-US" sz="3600" b="1" dirty="0" smtClean="0">
                <a:latin typeface="Consolas" panose="020B0609020204030204" pitchFamily="49" charset="0"/>
              </a:rPr>
              <a:t>-learn</a:t>
            </a:r>
            <a:r>
              <a:rPr lang="en-GB" altLang="en-US" sz="3600" b="1" dirty="0" smtClean="0"/>
              <a:t>?</a:t>
            </a:r>
            <a:endParaRPr lang="en-GB" altLang="en-US" sz="3600" b="1" dirty="0"/>
          </a:p>
        </p:txBody>
      </p:sp>
      <p:pic>
        <p:nvPicPr>
          <p:cNvPr id="5" name="Picture 4"/>
          <p:cNvPicPr>
            <a:picLocks noChangeAspect="1"/>
          </p:cNvPicPr>
          <p:nvPr/>
        </p:nvPicPr>
        <p:blipFill>
          <a:blip r:embed="rId4"/>
          <a:stretch>
            <a:fillRect/>
          </a:stretch>
        </p:blipFill>
        <p:spPr>
          <a:xfrm>
            <a:off x="7452320" y="31716"/>
            <a:ext cx="1691680" cy="639079"/>
          </a:xfrm>
          <a:prstGeom prst="rect">
            <a:avLst/>
          </a:prstGeom>
        </p:spPr>
      </p:pic>
    </p:spTree>
    <p:extLst>
      <p:ext uri="{BB962C8B-B14F-4D97-AF65-F5344CB8AC3E}">
        <p14:creationId xmlns:p14="http://schemas.microsoft.com/office/powerpoint/2010/main" val="4099003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2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2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bldLvl="2"/>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457200" y="0"/>
            <a:ext cx="8229600" cy="90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b="1" dirty="0" smtClean="0"/>
              <a:t>Python environment for these demos:</a:t>
            </a:r>
          </a:p>
        </p:txBody>
      </p:sp>
      <p:sp>
        <p:nvSpPr>
          <p:cNvPr id="6" name="Content Placeholder 2"/>
          <p:cNvSpPr>
            <a:spLocks noGrp="1"/>
          </p:cNvSpPr>
          <p:nvPr>
            <p:ph idx="1"/>
          </p:nvPr>
        </p:nvSpPr>
        <p:spPr>
          <a:xfrm>
            <a:off x="539552" y="836712"/>
            <a:ext cx="8604448" cy="5832648"/>
          </a:xfrm>
        </p:spPr>
        <p:txBody>
          <a:bodyPr>
            <a:noAutofit/>
          </a:bodyPr>
          <a:lstStyle/>
          <a:p>
            <a:pPr>
              <a:spcBef>
                <a:spcPts val="0"/>
              </a:spcBef>
              <a:spcAft>
                <a:spcPts val="600"/>
              </a:spcAft>
              <a:buFont typeface="Wingdings" panose="05000000000000000000" pitchFamily="2" charset="2"/>
              <a:buChar char="Ø"/>
            </a:pPr>
            <a:r>
              <a:rPr lang="en-US" sz="1800" dirty="0" smtClean="0">
                <a:cs typeface="Arial" panose="020B0604020202020204" pitchFamily="34" charset="0"/>
              </a:rPr>
              <a:t>Start the </a:t>
            </a:r>
            <a:r>
              <a:rPr lang="en-US" sz="1800" b="1" dirty="0" smtClean="0">
                <a:cs typeface="Arial" panose="020B0604020202020204" pitchFamily="34" charset="0"/>
              </a:rPr>
              <a:t>Virtual Machine</a:t>
            </a:r>
            <a:r>
              <a:rPr lang="en-US" sz="1800" dirty="0" smtClean="0">
                <a:cs typeface="Arial" panose="020B0604020202020204" pitchFamily="34" charset="0"/>
              </a:rPr>
              <a:t>; open a </a:t>
            </a:r>
            <a:r>
              <a:rPr lang="en-US" sz="1800" b="1" dirty="0" smtClean="0">
                <a:cs typeface="Arial" panose="020B0604020202020204" pitchFamily="34" charset="0"/>
              </a:rPr>
              <a:t>Terminal</a:t>
            </a:r>
            <a:r>
              <a:rPr lang="en-US" sz="1800" dirty="0" smtClean="0">
                <a:cs typeface="Arial" panose="020B0604020202020204" pitchFamily="34" charset="0"/>
              </a:rPr>
              <a:t>; then activate </a:t>
            </a:r>
            <a:r>
              <a:rPr lang="en-US" sz="1800" dirty="0">
                <a:cs typeface="Arial" panose="020B0604020202020204" pitchFamily="34" charset="0"/>
              </a:rPr>
              <a:t>the environment using:</a:t>
            </a:r>
            <a:r>
              <a:rPr lang="en-US" sz="1800" b="1" dirty="0" smtClean="0">
                <a:latin typeface="Consolas" panose="020B0609020204030204" pitchFamily="49" charset="0"/>
              </a:rPr>
              <a:t/>
            </a:r>
            <a:br>
              <a:rPr lang="en-US" sz="1800" b="1" dirty="0" smtClean="0">
                <a:latin typeface="Consolas" panose="020B0609020204030204" pitchFamily="49" charset="0"/>
              </a:rPr>
            </a:br>
            <a:r>
              <a:rPr lang="en-US" sz="1800" b="1" dirty="0" err="1" smtClean="0">
                <a:latin typeface="Consolas" panose="020B0609020204030204" pitchFamily="49" charset="0"/>
              </a:rPr>
              <a:t>conda</a:t>
            </a:r>
            <a:r>
              <a:rPr lang="en-US" sz="1800" b="1" dirty="0" smtClean="0">
                <a:latin typeface="Consolas" panose="020B0609020204030204" pitchFamily="49" charset="0"/>
              </a:rPr>
              <a:t> activate </a:t>
            </a:r>
            <a:r>
              <a:rPr lang="en-US" sz="1800" b="1" dirty="0" err="1" smtClean="0">
                <a:latin typeface="Consolas" panose="020B0609020204030204" pitchFamily="49" charset="0"/>
              </a:rPr>
              <a:t>mri</a:t>
            </a:r>
            <a:endParaRPr lang="en-US" sz="1000" b="1" dirty="0">
              <a:latin typeface="Consolas" panose="020B0609020204030204" pitchFamily="49" charset="0"/>
            </a:endParaRPr>
          </a:p>
          <a:p>
            <a:pPr>
              <a:spcBef>
                <a:spcPts val="0"/>
              </a:spcBef>
              <a:spcAft>
                <a:spcPts val="600"/>
              </a:spcAft>
              <a:buFont typeface="Wingdings" panose="05000000000000000000" pitchFamily="2" charset="2"/>
              <a:buChar char="Ø"/>
            </a:pPr>
            <a:endParaRPr lang="en-US" sz="1000" dirty="0">
              <a:latin typeface="Consolas" panose="020B0609020204030204" pitchFamily="49" charset="0"/>
            </a:endParaRPr>
          </a:p>
          <a:p>
            <a:pPr lvl="1">
              <a:spcBef>
                <a:spcPts val="0"/>
              </a:spcBef>
              <a:spcAft>
                <a:spcPts val="600"/>
              </a:spcAft>
              <a:buFont typeface="Wingdings" panose="05000000000000000000" pitchFamily="2" charset="2"/>
              <a:buChar char="Ø"/>
            </a:pPr>
            <a:r>
              <a:rPr lang="en-US" sz="1600" dirty="0" smtClean="0">
                <a:cs typeface="Arial" panose="020B0604020202020204" pitchFamily="34" charset="0"/>
              </a:rPr>
              <a:t>This includes the following packages that we will use in these demos:</a:t>
            </a:r>
          </a:p>
          <a:p>
            <a:pPr lvl="2">
              <a:spcBef>
                <a:spcPts val="0"/>
              </a:spcBef>
              <a:spcAft>
                <a:spcPts val="600"/>
              </a:spcAft>
              <a:buFont typeface="Wingdings" panose="05000000000000000000" pitchFamily="2" charset="2"/>
              <a:buChar char="Ø"/>
            </a:pPr>
            <a:r>
              <a:rPr lang="en-US" sz="1400" dirty="0" err="1" smtClean="0">
                <a:cs typeface="Arial" panose="020B0604020202020204" pitchFamily="34" charset="0"/>
              </a:rPr>
              <a:t>numpy</a:t>
            </a:r>
            <a:r>
              <a:rPr lang="en-US" sz="1400" dirty="0" smtClean="0">
                <a:cs typeface="Arial" panose="020B0604020202020204" pitchFamily="34" charset="0"/>
              </a:rPr>
              <a:t>		(so python can process arrays, like </a:t>
            </a:r>
            <a:r>
              <a:rPr lang="en-US" sz="1400" dirty="0" err="1" smtClean="0">
                <a:cs typeface="Arial" panose="020B0604020202020204" pitchFamily="34" charset="0"/>
              </a:rPr>
              <a:t>Matlab</a:t>
            </a:r>
            <a:r>
              <a:rPr lang="en-US" sz="1400" dirty="0" smtClean="0">
                <a:cs typeface="Arial" panose="020B0604020202020204" pitchFamily="34" charset="0"/>
              </a:rPr>
              <a:t>)</a:t>
            </a:r>
          </a:p>
          <a:p>
            <a:pPr lvl="2">
              <a:spcBef>
                <a:spcPts val="0"/>
              </a:spcBef>
              <a:spcAft>
                <a:spcPts val="600"/>
              </a:spcAft>
              <a:buFont typeface="Wingdings" panose="05000000000000000000" pitchFamily="2" charset="2"/>
              <a:buChar char="Ø"/>
            </a:pPr>
            <a:r>
              <a:rPr lang="en-US" sz="1400" dirty="0" err="1" smtClean="0">
                <a:cs typeface="Arial" panose="020B0604020202020204" pitchFamily="34" charset="0"/>
              </a:rPr>
              <a:t>matplotlib</a:t>
            </a:r>
            <a:r>
              <a:rPr lang="en-US" sz="1400" dirty="0">
                <a:cs typeface="Arial" panose="020B0604020202020204" pitchFamily="34" charset="0"/>
              </a:rPr>
              <a:t>	(so python can </a:t>
            </a:r>
            <a:r>
              <a:rPr lang="en-US" sz="1400" dirty="0" smtClean="0">
                <a:cs typeface="Arial" panose="020B0604020202020204" pitchFamily="34" charset="0"/>
              </a:rPr>
              <a:t>plot graphs </a:t>
            </a:r>
            <a:r>
              <a:rPr lang="en-US" sz="1400" dirty="0">
                <a:cs typeface="Arial" panose="020B0604020202020204" pitchFamily="34" charset="0"/>
              </a:rPr>
              <a:t>like </a:t>
            </a:r>
            <a:r>
              <a:rPr lang="en-US" sz="1400" dirty="0" err="1">
                <a:cs typeface="Arial" panose="020B0604020202020204" pitchFamily="34" charset="0"/>
              </a:rPr>
              <a:t>Matlab</a:t>
            </a:r>
            <a:r>
              <a:rPr lang="en-US" sz="1400" dirty="0" smtClean="0">
                <a:cs typeface="Arial" panose="020B0604020202020204" pitchFamily="34" charset="0"/>
              </a:rPr>
              <a:t>)</a:t>
            </a:r>
          </a:p>
          <a:p>
            <a:pPr lvl="2">
              <a:spcBef>
                <a:spcPts val="0"/>
              </a:spcBef>
              <a:spcAft>
                <a:spcPts val="600"/>
              </a:spcAft>
              <a:buFont typeface="Wingdings" panose="05000000000000000000" pitchFamily="2" charset="2"/>
              <a:buChar char="Ø"/>
            </a:pPr>
            <a:r>
              <a:rPr lang="en-US" sz="1400" dirty="0" err="1" smtClean="0">
                <a:cs typeface="Arial" panose="020B0604020202020204" pitchFamily="34" charset="0"/>
              </a:rPr>
              <a:t>seaborn</a:t>
            </a:r>
            <a:r>
              <a:rPr lang="en-US" sz="1400" dirty="0">
                <a:cs typeface="Arial" panose="020B0604020202020204" pitchFamily="34" charset="0"/>
              </a:rPr>
              <a:t>		</a:t>
            </a:r>
            <a:r>
              <a:rPr lang="en-US" sz="1400" dirty="0" smtClean="0">
                <a:cs typeface="Arial" panose="020B0604020202020204" pitchFamily="34" charset="0"/>
              </a:rPr>
              <a:t>(extra plotting functions, based on </a:t>
            </a:r>
            <a:r>
              <a:rPr lang="en-US" sz="1400" dirty="0" err="1" smtClean="0">
                <a:cs typeface="Arial" panose="020B0604020202020204" pitchFamily="34" charset="0"/>
              </a:rPr>
              <a:t>matplotlib</a:t>
            </a:r>
            <a:r>
              <a:rPr lang="en-US" sz="1400" dirty="0" smtClean="0">
                <a:cs typeface="Arial" panose="020B0604020202020204" pitchFamily="34" charset="0"/>
              </a:rPr>
              <a:t>)</a:t>
            </a:r>
          </a:p>
          <a:p>
            <a:pPr lvl="2">
              <a:spcBef>
                <a:spcPts val="0"/>
              </a:spcBef>
              <a:spcAft>
                <a:spcPts val="600"/>
              </a:spcAft>
              <a:buFont typeface="Wingdings" panose="05000000000000000000" pitchFamily="2" charset="2"/>
              <a:buChar char="Ø"/>
            </a:pPr>
            <a:r>
              <a:rPr lang="en-US" sz="1400" dirty="0" smtClean="0">
                <a:cs typeface="Arial" panose="020B0604020202020204" pitchFamily="34" charset="0"/>
              </a:rPr>
              <a:t>pandas		(to use “</a:t>
            </a:r>
            <a:r>
              <a:rPr lang="en-US" sz="1400" dirty="0" err="1" smtClean="0">
                <a:cs typeface="Arial" panose="020B0604020202020204" pitchFamily="34" charset="0"/>
              </a:rPr>
              <a:t>dataframes</a:t>
            </a:r>
            <a:r>
              <a:rPr lang="en-US" sz="1400" dirty="0" smtClean="0">
                <a:cs typeface="Arial" panose="020B0604020202020204" pitchFamily="34" charset="0"/>
              </a:rPr>
              <a:t>” – like tables in </a:t>
            </a:r>
            <a:r>
              <a:rPr lang="en-US" sz="1400" dirty="0" err="1" smtClean="0">
                <a:cs typeface="Arial" panose="020B0604020202020204" pitchFamily="34" charset="0"/>
              </a:rPr>
              <a:t>Matlab</a:t>
            </a:r>
            <a:r>
              <a:rPr lang="en-US" sz="1400" dirty="0" smtClean="0">
                <a:cs typeface="Arial" panose="020B0604020202020204" pitchFamily="34" charset="0"/>
              </a:rPr>
              <a:t>)</a:t>
            </a:r>
          </a:p>
          <a:p>
            <a:pPr lvl="2">
              <a:spcBef>
                <a:spcPts val="0"/>
              </a:spcBef>
              <a:spcAft>
                <a:spcPts val="600"/>
              </a:spcAft>
              <a:buFont typeface="Wingdings" panose="05000000000000000000" pitchFamily="2" charset="2"/>
              <a:buChar char="Ø"/>
            </a:pPr>
            <a:r>
              <a:rPr lang="en-US" sz="1400" dirty="0" err="1" smtClean="0">
                <a:latin typeface="Calibri" panose="020F0502020204030204" pitchFamily="34" charset="0"/>
                <a:ea typeface="Calibri" panose="020F0502020204030204" pitchFamily="34" charset="0"/>
                <a:cs typeface="Calibri" panose="020F0502020204030204" pitchFamily="34" charset="0"/>
              </a:rPr>
              <a:t>os</a:t>
            </a:r>
            <a:r>
              <a:rPr lang="en-US" sz="1400" dirty="0">
                <a:latin typeface="Calibri" panose="020F0502020204030204" pitchFamily="34" charset="0"/>
                <a:ea typeface="Calibri" panose="020F0502020204030204" pitchFamily="34" charset="0"/>
                <a:cs typeface="Calibri" panose="020F0502020204030204" pitchFamily="34" charset="0"/>
              </a:rPr>
              <a:t>, time		(to interact with operating system, and system clock</a:t>
            </a:r>
            <a:r>
              <a:rPr lang="en-US" sz="1400" dirty="0" smtClean="0">
                <a:latin typeface="Calibri" panose="020F0502020204030204" pitchFamily="34" charset="0"/>
                <a:ea typeface="Calibri" panose="020F0502020204030204" pitchFamily="34" charset="0"/>
                <a:cs typeface="Calibri" panose="020F0502020204030204" pitchFamily="34" charset="0"/>
              </a:rPr>
              <a:t>)</a:t>
            </a:r>
            <a:endParaRPr lang="en-US" sz="1400" dirty="0" smtClean="0">
              <a:cs typeface="Arial" panose="020B0604020202020204" pitchFamily="34" charset="0"/>
            </a:endParaRPr>
          </a:p>
          <a:p>
            <a:pPr lvl="2">
              <a:spcBef>
                <a:spcPts val="0"/>
              </a:spcBef>
              <a:spcAft>
                <a:spcPts val="600"/>
              </a:spcAft>
              <a:buFont typeface="Wingdings" panose="05000000000000000000" pitchFamily="2" charset="2"/>
              <a:buChar char="Ø"/>
            </a:pPr>
            <a:r>
              <a:rPr lang="en-US" sz="1400" b="1" dirty="0" err="1" smtClean="0">
                <a:solidFill>
                  <a:schemeClr val="accent6"/>
                </a:solidFill>
                <a:cs typeface="Arial" panose="020B0604020202020204" pitchFamily="34" charset="0"/>
              </a:rPr>
              <a:t>scikit</a:t>
            </a:r>
            <a:r>
              <a:rPr lang="en-US" sz="1400" b="1" dirty="0" smtClean="0">
                <a:solidFill>
                  <a:schemeClr val="accent6"/>
                </a:solidFill>
                <a:cs typeface="Arial" panose="020B0604020202020204" pitchFamily="34" charset="0"/>
              </a:rPr>
              <a:t>-learn	(major, general-purpose machine learning package)</a:t>
            </a:r>
          </a:p>
          <a:p>
            <a:pPr lvl="2">
              <a:spcBef>
                <a:spcPts val="0"/>
              </a:spcBef>
              <a:spcAft>
                <a:spcPts val="600"/>
              </a:spcAft>
              <a:buFont typeface="Wingdings" panose="05000000000000000000" pitchFamily="2" charset="2"/>
              <a:buChar char="Ø"/>
            </a:pPr>
            <a:r>
              <a:rPr lang="en-US" sz="1400" b="1" dirty="0" err="1">
                <a:solidFill>
                  <a:schemeClr val="accent6">
                    <a:lumMod val="50000"/>
                  </a:schemeClr>
                </a:solidFill>
                <a:cs typeface="Arial" panose="020B0604020202020204" pitchFamily="34" charset="0"/>
              </a:rPr>
              <a:t>nilearn</a:t>
            </a:r>
            <a:r>
              <a:rPr lang="en-US" sz="1400" b="1" dirty="0">
                <a:solidFill>
                  <a:schemeClr val="accent6">
                    <a:lumMod val="50000"/>
                  </a:schemeClr>
                </a:solidFill>
                <a:cs typeface="Arial" panose="020B0604020202020204" pitchFamily="34" charset="0"/>
              </a:rPr>
              <a:t>		(many useful functions for loading/processing/viewing MRI data</a:t>
            </a:r>
            <a:r>
              <a:rPr lang="en-US" sz="1400" b="1" dirty="0" smtClean="0">
                <a:solidFill>
                  <a:schemeClr val="accent6">
                    <a:lumMod val="50000"/>
                  </a:schemeClr>
                </a:solidFill>
                <a:cs typeface="Arial" panose="020B0604020202020204" pitchFamily="34" charset="0"/>
              </a:rPr>
              <a:t>)</a:t>
            </a:r>
          </a:p>
          <a:p>
            <a:pPr lvl="2">
              <a:spcBef>
                <a:spcPts val="0"/>
              </a:spcBef>
              <a:spcAft>
                <a:spcPts val="600"/>
              </a:spcAft>
              <a:buFont typeface="Wingdings" panose="05000000000000000000" pitchFamily="2" charset="2"/>
              <a:buChar char="Ø"/>
            </a:pPr>
            <a:r>
              <a:rPr lang="en-US" sz="1400" b="1" dirty="0" err="1" smtClean="0">
                <a:solidFill>
                  <a:srgbClr val="C00000"/>
                </a:solidFill>
                <a:cs typeface="Arial" panose="020B0604020202020204" pitchFamily="34" charset="0"/>
              </a:rPr>
              <a:t>rsatoolbox</a:t>
            </a:r>
            <a:r>
              <a:rPr lang="en-US" sz="1400" b="1" dirty="0">
                <a:solidFill>
                  <a:srgbClr val="C00000"/>
                </a:solidFill>
                <a:cs typeface="Arial" panose="020B0604020202020204" pitchFamily="34" charset="0"/>
              </a:rPr>
              <a:t>	</a:t>
            </a:r>
            <a:r>
              <a:rPr lang="en-US" sz="1400" b="1" dirty="0" smtClean="0">
                <a:solidFill>
                  <a:srgbClr val="C00000"/>
                </a:solidFill>
                <a:cs typeface="Arial" panose="020B0604020202020204" pitchFamily="34" charset="0"/>
              </a:rPr>
              <a:t>(for this afternoon)</a:t>
            </a:r>
            <a:endParaRPr lang="en-US" sz="14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lvl="2">
              <a:spcBef>
                <a:spcPts val="0"/>
              </a:spcBef>
              <a:spcAft>
                <a:spcPts val="600"/>
              </a:spcAft>
              <a:buFont typeface="Wingdings" panose="05000000000000000000" pitchFamily="2" charset="2"/>
              <a:buChar char="Ø"/>
            </a:pPr>
            <a:endParaRPr lang="en-US" sz="1400" dirty="0"/>
          </a:p>
          <a:p>
            <a:pPr>
              <a:spcBef>
                <a:spcPts val="0"/>
              </a:spcBef>
              <a:spcAft>
                <a:spcPts val="600"/>
              </a:spcAft>
              <a:buFont typeface="Wingdings" panose="05000000000000000000" pitchFamily="2" charset="2"/>
              <a:buChar char="Ø"/>
            </a:pPr>
            <a:r>
              <a:rPr lang="en-US" sz="1800" dirty="0" smtClean="0"/>
              <a:t>Start </a:t>
            </a:r>
            <a:r>
              <a:rPr lang="en-US" sz="1800" dirty="0" err="1" smtClean="0"/>
              <a:t>jupyter</a:t>
            </a:r>
            <a:r>
              <a:rPr lang="en-US" sz="1800" dirty="0" smtClean="0"/>
              <a:t> lab </a:t>
            </a:r>
            <a:r>
              <a:rPr lang="en-US" sz="1800" u="sng" dirty="0"/>
              <a:t>f</a:t>
            </a:r>
            <a:r>
              <a:rPr lang="en-US" sz="1800" u="sng" dirty="0" smtClean="0"/>
              <a:t>rom the COGNESTIC folder</a:t>
            </a:r>
            <a:r>
              <a:rPr lang="en-US" sz="1800" dirty="0" smtClean="0"/>
              <a:t>, and find the current notebooks:</a:t>
            </a:r>
            <a:br>
              <a:rPr lang="en-US" sz="1800" dirty="0" smtClean="0"/>
            </a:br>
            <a:r>
              <a:rPr lang="en-US" sz="1800" b="1" dirty="0" smtClean="0">
                <a:latin typeface="Consolas" panose="020B0609020204030204" pitchFamily="49" charset="0"/>
              </a:rPr>
              <a:t>cd COGNESTIC/</a:t>
            </a:r>
            <a:br>
              <a:rPr lang="en-US" sz="1800" b="1" dirty="0" smtClean="0">
                <a:latin typeface="Consolas" panose="020B0609020204030204" pitchFamily="49" charset="0"/>
              </a:rPr>
            </a:br>
            <a:r>
              <a:rPr lang="en-US" sz="1800" b="1" dirty="0" err="1" smtClean="0">
                <a:latin typeface="Consolas" panose="020B0609020204030204" pitchFamily="49" charset="0"/>
              </a:rPr>
              <a:t>jupyter</a:t>
            </a:r>
            <a:r>
              <a:rPr lang="en-US" sz="1800" b="1" dirty="0" smtClean="0">
                <a:latin typeface="Consolas" panose="020B0609020204030204" pitchFamily="49" charset="0"/>
              </a:rPr>
              <a:t> </a:t>
            </a:r>
            <a:r>
              <a:rPr lang="en-US" sz="1800" b="1" dirty="0">
                <a:latin typeface="Consolas" panose="020B0609020204030204" pitchFamily="49" charset="0"/>
              </a:rPr>
              <a:t>lab </a:t>
            </a:r>
            <a:r>
              <a:rPr lang="en-US" sz="1800" dirty="0">
                <a:solidFill>
                  <a:schemeClr val="bg1">
                    <a:lumMod val="65000"/>
                  </a:schemeClr>
                </a:solidFill>
              </a:rPr>
              <a:t>(</a:t>
            </a:r>
            <a:r>
              <a:rPr lang="en-US" sz="1800" dirty="0" smtClean="0">
                <a:solidFill>
                  <a:schemeClr val="bg1">
                    <a:lumMod val="65000"/>
                  </a:schemeClr>
                </a:solidFill>
              </a:rPr>
              <a:t>or </a:t>
            </a:r>
            <a:r>
              <a:rPr lang="en-US" sz="1800" b="1" dirty="0" err="1">
                <a:solidFill>
                  <a:schemeClr val="bg1">
                    <a:lumMod val="65000"/>
                  </a:schemeClr>
                </a:solidFill>
                <a:latin typeface="Consolas" panose="020B0609020204030204" pitchFamily="49" charset="0"/>
              </a:rPr>
              <a:t>jupyter</a:t>
            </a:r>
            <a:r>
              <a:rPr lang="en-US" sz="1800" b="1" dirty="0">
                <a:solidFill>
                  <a:schemeClr val="bg1">
                    <a:lumMod val="65000"/>
                  </a:schemeClr>
                </a:solidFill>
                <a:latin typeface="Consolas" panose="020B0609020204030204" pitchFamily="49" charset="0"/>
              </a:rPr>
              <a:t> </a:t>
            </a:r>
            <a:r>
              <a:rPr lang="en-US" sz="1800" b="1" dirty="0" smtClean="0">
                <a:solidFill>
                  <a:schemeClr val="bg1">
                    <a:lumMod val="65000"/>
                  </a:schemeClr>
                </a:solidFill>
                <a:latin typeface="Consolas" panose="020B0609020204030204" pitchFamily="49" charset="0"/>
              </a:rPr>
              <a:t>notebook</a:t>
            </a:r>
            <a:r>
              <a:rPr lang="en-US" sz="1800" dirty="0" smtClean="0">
                <a:solidFill>
                  <a:schemeClr val="bg1">
                    <a:lumMod val="65000"/>
                  </a:schemeClr>
                </a:solidFill>
              </a:rPr>
              <a:t>)</a:t>
            </a:r>
            <a:br>
              <a:rPr lang="en-US" sz="1800" dirty="0" smtClean="0">
                <a:solidFill>
                  <a:schemeClr val="bg1">
                    <a:lumMod val="65000"/>
                  </a:schemeClr>
                </a:solidFill>
              </a:rPr>
            </a:br>
            <a:endParaRPr lang="en-US" sz="1800" dirty="0">
              <a:solidFill>
                <a:schemeClr val="bg1">
                  <a:lumMod val="65000"/>
                </a:schemeClr>
              </a:solidFill>
            </a:endParaRPr>
          </a:p>
          <a:p>
            <a:pPr>
              <a:spcBef>
                <a:spcPts val="0"/>
              </a:spcBef>
              <a:spcAft>
                <a:spcPts val="600"/>
              </a:spcAft>
              <a:buFont typeface="Wingdings" panose="05000000000000000000" pitchFamily="2" charset="2"/>
              <a:buChar char="Ø"/>
            </a:pPr>
            <a:r>
              <a:rPr lang="en-US" sz="1800" dirty="0" smtClean="0"/>
              <a:t>Open </a:t>
            </a:r>
            <a:r>
              <a:rPr lang="en-US" sz="1800" b="1" dirty="0" smtClean="0"/>
              <a:t>“/</a:t>
            </a:r>
            <a:r>
              <a:rPr lang="en-US" sz="1800" b="1" dirty="0" smtClean="0">
                <a:latin typeface="Consolas" panose="020B0609020204030204" pitchFamily="49" charset="0"/>
              </a:rPr>
              <a:t>09_MVPA_MRI/</a:t>
            </a:r>
            <a:r>
              <a:rPr lang="en-US" sz="1800" b="1" dirty="0" smtClean="0"/>
              <a:t>Decoding/DECODING_demo_djm_2025.ipynb”</a:t>
            </a:r>
          </a:p>
        </p:txBody>
      </p:sp>
      <p:sp>
        <p:nvSpPr>
          <p:cNvPr id="5" name="Title 1"/>
          <p:cNvSpPr txBox="1">
            <a:spLocks/>
          </p:cNvSpPr>
          <p:nvPr/>
        </p:nvSpPr>
        <p:spPr bwMode="auto">
          <a:xfrm>
            <a:off x="7452320" y="6406051"/>
            <a:ext cx="1584176"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t>To demo!</a:t>
            </a:r>
            <a:endParaRPr lang="en-GB" altLang="en-US" sz="2800" b="1" dirty="0"/>
          </a:p>
        </p:txBody>
      </p:sp>
      <p:sp>
        <p:nvSpPr>
          <p:cNvPr id="2" name="Explosion 2 1"/>
          <p:cNvSpPr/>
          <p:nvPr/>
        </p:nvSpPr>
        <p:spPr>
          <a:xfrm>
            <a:off x="5220072" y="5027327"/>
            <a:ext cx="2952328" cy="648073"/>
          </a:xfrm>
          <a:prstGeom prst="irregularSeal2">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GB" b="1" dirty="0" smtClean="0"/>
              <a:t>Important!</a:t>
            </a:r>
            <a:endParaRPr lang="en-GB" b="1" dirty="0"/>
          </a:p>
        </p:txBody>
      </p:sp>
    </p:spTree>
    <p:extLst>
      <p:ext uri="{BB962C8B-B14F-4D97-AF65-F5344CB8AC3E}">
        <p14:creationId xmlns:p14="http://schemas.microsoft.com/office/powerpoint/2010/main" val="83903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1000" fill="hold"/>
                                        <p:tgtEl>
                                          <p:spTgt spid="2"/>
                                        </p:tgtEl>
                                        <p:attrNameLst>
                                          <p:attrName>ppt_w</p:attrName>
                                        </p:attrNameLst>
                                      </p:cBhvr>
                                      <p:tavLst>
                                        <p:tav tm="0">
                                          <p:val>
                                            <p:fltVal val="0"/>
                                          </p:val>
                                        </p:tav>
                                        <p:tav tm="100000">
                                          <p:val>
                                            <p:strVal val="#ppt_w"/>
                                          </p:val>
                                        </p:tav>
                                      </p:tavLst>
                                    </p:anim>
                                    <p:anim calcmode="lin" valueType="num">
                                      <p:cBhvr>
                                        <p:cTn id="36" dur="1000" fill="hold"/>
                                        <p:tgtEl>
                                          <p:spTgt spid="2"/>
                                        </p:tgtEl>
                                        <p:attrNameLst>
                                          <p:attrName>ppt_h</p:attrName>
                                        </p:attrNameLst>
                                      </p:cBhvr>
                                      <p:tavLst>
                                        <p:tav tm="0">
                                          <p:val>
                                            <p:fltVal val="0"/>
                                          </p:val>
                                        </p:tav>
                                        <p:tav tm="100000">
                                          <p:val>
                                            <p:strVal val="#ppt_h"/>
                                          </p:val>
                                        </p:tav>
                                      </p:tavLst>
                                    </p:anim>
                                    <p:anim calcmode="lin" valueType="num">
                                      <p:cBhvr>
                                        <p:cTn id="37" dur="1000" fill="hold"/>
                                        <p:tgtEl>
                                          <p:spTgt spid="2"/>
                                        </p:tgtEl>
                                        <p:attrNameLst>
                                          <p:attrName>style.rotation</p:attrName>
                                        </p:attrNameLst>
                                      </p:cBhvr>
                                      <p:tavLst>
                                        <p:tav tm="0">
                                          <p:val>
                                            <p:fltVal val="90"/>
                                          </p:val>
                                        </p:tav>
                                        <p:tav tm="100000">
                                          <p:val>
                                            <p:fltVal val="0"/>
                                          </p:val>
                                        </p:tav>
                                      </p:tavLst>
                                    </p:anim>
                                    <p:animEffect transition="in" filter="fade">
                                      <p:cBhvr>
                                        <p:cTn id="38" dur="10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Content Placeholder 1"/>
          <p:cNvSpPr>
            <a:spLocks noGrp="1"/>
          </p:cNvSpPr>
          <p:nvPr>
            <p:ph idx="1"/>
          </p:nvPr>
        </p:nvSpPr>
        <p:spPr>
          <a:xfrm>
            <a:off x="251520" y="764704"/>
            <a:ext cx="8892480" cy="5688632"/>
          </a:xfrm>
        </p:spPr>
        <p:txBody>
          <a:bodyPr/>
          <a:lstStyle/>
          <a:p>
            <a:pPr eaLnBrk="1" hangingPunct="1"/>
            <a:r>
              <a:rPr lang="en-GB" altLang="en-US" sz="1900" dirty="0"/>
              <a:t>Python(+</a:t>
            </a:r>
            <a:r>
              <a:rPr lang="en-GB" altLang="en-US" sz="1900" dirty="0" err="1"/>
              <a:t>Numpy</a:t>
            </a:r>
            <a:r>
              <a:rPr lang="en-GB" altLang="en-US" sz="1900" dirty="0"/>
              <a:t>)  </a:t>
            </a:r>
            <a:r>
              <a:rPr lang="en-GB" altLang="en-US" sz="1900" dirty="0" smtClean="0"/>
              <a:t>and </a:t>
            </a:r>
            <a:r>
              <a:rPr lang="en-GB" altLang="en-US" sz="1900" dirty="0" err="1" smtClean="0"/>
              <a:t>Matlab</a:t>
            </a:r>
            <a:r>
              <a:rPr lang="en-GB" altLang="en-US" sz="1900" dirty="0" smtClean="0"/>
              <a:t>/Octave are both high-level programming languages with many similarities</a:t>
            </a:r>
          </a:p>
          <a:p>
            <a:pPr eaLnBrk="1" hangingPunct="1"/>
            <a:r>
              <a:rPr lang="en-GB" altLang="en-US" sz="1900" dirty="0" smtClean="0"/>
              <a:t>But note some differences:</a:t>
            </a:r>
          </a:p>
          <a:p>
            <a:pPr eaLnBrk="1" hangingPunct="1"/>
            <a:endParaRPr lang="en-GB" altLang="en-US" sz="2200" dirty="0" smtClean="0"/>
          </a:p>
          <a:p>
            <a:pPr eaLnBrk="1" hangingPunct="1"/>
            <a:endParaRPr lang="en-GB" altLang="en-US" sz="2200" dirty="0" smtClean="0"/>
          </a:p>
          <a:p>
            <a:pPr eaLnBrk="1" hangingPunct="1"/>
            <a:endParaRPr lang="en-GB" altLang="en-US" sz="2200" dirty="0" smtClean="0"/>
          </a:p>
          <a:p>
            <a:pPr eaLnBrk="1" hangingPunct="1"/>
            <a:endParaRPr lang="en-GB" altLang="en-US" sz="2200" dirty="0"/>
          </a:p>
          <a:p>
            <a:pPr eaLnBrk="1" hangingPunct="1"/>
            <a:endParaRPr lang="en-GB" altLang="en-US" sz="2200" dirty="0" smtClean="0"/>
          </a:p>
          <a:p>
            <a:pPr eaLnBrk="1" hangingPunct="1"/>
            <a:endParaRPr lang="en-GB" altLang="en-US" sz="2200" dirty="0"/>
          </a:p>
          <a:p>
            <a:pPr eaLnBrk="1" hangingPunct="1"/>
            <a:endParaRPr lang="en-GB" altLang="en-US" sz="2200" dirty="0" smtClean="0"/>
          </a:p>
          <a:p>
            <a:pPr eaLnBrk="1" hangingPunct="1"/>
            <a:endParaRPr lang="en-GB" altLang="en-US" sz="2200" dirty="0"/>
          </a:p>
          <a:p>
            <a:pPr eaLnBrk="1" hangingPunct="1"/>
            <a:endParaRPr lang="en-GB" altLang="en-US" sz="2200" dirty="0" smtClean="0"/>
          </a:p>
          <a:p>
            <a:pPr eaLnBrk="1" hangingPunct="1"/>
            <a:endParaRPr lang="en-GB" altLang="en-US" sz="2200" dirty="0"/>
          </a:p>
          <a:p>
            <a:pPr eaLnBrk="1" hangingPunct="1"/>
            <a:endParaRPr lang="en-GB" altLang="en-US" sz="2200" dirty="0" smtClean="0"/>
          </a:p>
          <a:p>
            <a:pPr eaLnBrk="1" hangingPunct="1"/>
            <a:r>
              <a:rPr lang="en-GB" altLang="en-US" sz="2200" dirty="0" smtClean="0"/>
              <a:t>If unsure, just ask!   (</a:t>
            </a:r>
            <a:r>
              <a:rPr lang="en-GB" altLang="en-US" sz="2200" dirty="0"/>
              <a:t>or </a:t>
            </a:r>
            <a:r>
              <a:rPr lang="en-GB" altLang="en-US" sz="2200" dirty="0" smtClean="0"/>
              <a:t>Google e.g. “</a:t>
            </a:r>
            <a:r>
              <a:rPr lang="en-GB" altLang="en-US" sz="2200" dirty="0" err="1" smtClean="0"/>
              <a:t>numpy</a:t>
            </a:r>
            <a:r>
              <a:rPr lang="en-GB" altLang="en-US" sz="2200" dirty="0" smtClean="0"/>
              <a:t>-for-</a:t>
            </a:r>
            <a:r>
              <a:rPr lang="en-GB" altLang="en-US" sz="2200" dirty="0" err="1" smtClean="0"/>
              <a:t>matlab</a:t>
            </a:r>
            <a:r>
              <a:rPr lang="en-GB" altLang="en-US" sz="2200" dirty="0" smtClean="0"/>
              <a:t>-users”)</a:t>
            </a:r>
          </a:p>
          <a:p>
            <a:pPr marL="457200" lvl="1" indent="0" eaLnBrk="1" hangingPunct="1">
              <a:buNone/>
            </a:pPr>
            <a:endParaRPr lang="en-GB" altLang="en-US" sz="2200" dirty="0" smtClean="0"/>
          </a:p>
        </p:txBody>
      </p:sp>
      <p:sp>
        <p:nvSpPr>
          <p:cNvPr id="3" name="Title 1"/>
          <p:cNvSpPr txBox="1">
            <a:spLocks/>
          </p:cNvSpPr>
          <p:nvPr/>
        </p:nvSpPr>
        <p:spPr bwMode="auto">
          <a:xfrm>
            <a:off x="457200" y="188640"/>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Python(+</a:t>
            </a:r>
            <a:r>
              <a:rPr lang="en-GB" altLang="en-US" sz="3600" b="1" dirty="0" err="1" smtClean="0"/>
              <a:t>Numpy</a:t>
            </a:r>
            <a:r>
              <a:rPr lang="en-GB" altLang="en-US" sz="3600" b="1" dirty="0" smtClean="0"/>
              <a:t>) vs </a:t>
            </a:r>
            <a:r>
              <a:rPr lang="en-GB" altLang="en-US" sz="3600" b="1" dirty="0" err="1" smtClean="0"/>
              <a:t>Matlab</a:t>
            </a:r>
            <a:r>
              <a:rPr lang="en-GB" altLang="en-US" sz="3600" b="1" dirty="0" smtClean="0"/>
              <a:t>/Octave</a:t>
            </a:r>
            <a:endParaRPr lang="en-GB" altLang="en-US" sz="3600" b="1" dirty="0"/>
          </a:p>
        </p:txBody>
      </p:sp>
      <p:graphicFrame>
        <p:nvGraphicFramePr>
          <p:cNvPr id="2" name="Table 1"/>
          <p:cNvGraphicFramePr>
            <a:graphicFrameLocks noGrp="1"/>
          </p:cNvGraphicFramePr>
          <p:nvPr>
            <p:extLst>
              <p:ext uri="{D42A27DB-BD31-4B8C-83A1-F6EECF244321}">
                <p14:modId xmlns:p14="http://schemas.microsoft.com/office/powerpoint/2010/main" val="3596565011"/>
              </p:ext>
            </p:extLst>
          </p:nvPr>
        </p:nvGraphicFramePr>
        <p:xfrm>
          <a:off x="332493" y="1867624"/>
          <a:ext cx="8496944" cy="4297680"/>
        </p:xfrm>
        <a:graphic>
          <a:graphicData uri="http://schemas.openxmlformats.org/drawingml/2006/table">
            <a:tbl>
              <a:tblPr firstRow="1" bandRow="1">
                <a:tableStyleId>{5C22544A-7EE6-4342-B048-85BDC9FD1C3A}</a:tableStyleId>
              </a:tblPr>
              <a:tblGrid>
                <a:gridCol w="4248472">
                  <a:extLst>
                    <a:ext uri="{9D8B030D-6E8A-4147-A177-3AD203B41FA5}">
                      <a16:colId xmlns:a16="http://schemas.microsoft.com/office/drawing/2014/main" val="3949759393"/>
                    </a:ext>
                  </a:extLst>
                </a:gridCol>
                <a:gridCol w="4248472">
                  <a:extLst>
                    <a:ext uri="{9D8B030D-6E8A-4147-A177-3AD203B41FA5}">
                      <a16:colId xmlns:a16="http://schemas.microsoft.com/office/drawing/2014/main" val="4219300975"/>
                    </a:ext>
                  </a:extLst>
                </a:gridCol>
              </a:tblGrid>
              <a:tr h="274940">
                <a:tc>
                  <a:txBody>
                    <a:bodyPr/>
                    <a:lstStyle/>
                    <a:p>
                      <a:pPr algn="ctr"/>
                      <a:r>
                        <a:rPr lang="en-GB" dirty="0" smtClean="0"/>
                        <a:t>Python</a:t>
                      </a:r>
                      <a:endParaRPr lang="en-GB" dirty="0"/>
                    </a:p>
                  </a:txBody>
                  <a:tcPr/>
                </a:tc>
                <a:tc>
                  <a:txBody>
                    <a:bodyPr/>
                    <a:lstStyle/>
                    <a:p>
                      <a:pPr algn="ctr"/>
                      <a:r>
                        <a:rPr lang="en-GB" dirty="0" smtClean="0"/>
                        <a:t>Octave/</a:t>
                      </a:r>
                      <a:r>
                        <a:rPr lang="en-GB" dirty="0" err="1" smtClean="0"/>
                        <a:t>Matlab</a:t>
                      </a:r>
                      <a:endParaRPr lang="en-GB" dirty="0"/>
                    </a:p>
                  </a:txBody>
                  <a:tcPr/>
                </a:tc>
                <a:extLst>
                  <a:ext uri="{0D108BD9-81ED-4DB2-BD59-A6C34878D82A}">
                    <a16:rowId xmlns:a16="http://schemas.microsoft.com/office/drawing/2014/main" val="1097091634"/>
                  </a:ext>
                </a:extLst>
              </a:tr>
              <a:tr h="481144">
                <a:tc>
                  <a:txBody>
                    <a:bodyPr/>
                    <a:lstStyle/>
                    <a:p>
                      <a:r>
                        <a:rPr lang="en-GB" dirty="0" smtClean="0"/>
                        <a:t>Zero-based indexing, with [ ]:</a:t>
                      </a:r>
                    </a:p>
                    <a:p>
                      <a:r>
                        <a:rPr lang="en-GB" dirty="0" smtClean="0"/>
                        <a:t>e.g. </a:t>
                      </a:r>
                      <a:r>
                        <a:rPr lang="en-GB" b="1" dirty="0" smtClean="0"/>
                        <a:t>a[0:3]</a:t>
                      </a:r>
                      <a:r>
                        <a:rPr lang="en-GB" dirty="0" smtClean="0"/>
                        <a:t> returns first 3 elements of </a:t>
                      </a:r>
                      <a:r>
                        <a:rPr lang="en-GB" b="1" dirty="0" smtClean="0"/>
                        <a:t>a</a:t>
                      </a:r>
                      <a:endParaRPr lang="en-GB" b="1" dirty="0"/>
                    </a:p>
                  </a:txBody>
                  <a:tcPr/>
                </a:tc>
                <a:tc>
                  <a:txBody>
                    <a:bodyPr/>
                    <a:lstStyle/>
                    <a:p>
                      <a:r>
                        <a:rPr lang="en-GB" dirty="0" smtClean="0"/>
                        <a:t>One-based indexing, with ( ):</a:t>
                      </a:r>
                    </a:p>
                    <a:p>
                      <a:r>
                        <a:rPr lang="en-GB" dirty="0" smtClean="0"/>
                        <a:t>e.g. </a:t>
                      </a:r>
                      <a:r>
                        <a:rPr lang="en-GB" b="1" dirty="0" smtClean="0"/>
                        <a:t>a(1:3) </a:t>
                      </a:r>
                      <a:r>
                        <a:rPr lang="en-GB" dirty="0" smtClean="0"/>
                        <a:t>returns first 3 elements of </a:t>
                      </a:r>
                      <a:r>
                        <a:rPr lang="en-GB" b="1" dirty="0" smtClean="0"/>
                        <a:t>a</a:t>
                      </a:r>
                    </a:p>
                  </a:txBody>
                  <a:tcPr/>
                </a:tc>
                <a:extLst>
                  <a:ext uri="{0D108BD9-81ED-4DB2-BD59-A6C34878D82A}">
                    <a16:rowId xmlns:a16="http://schemas.microsoft.com/office/drawing/2014/main" val="3689811076"/>
                  </a:ext>
                </a:extLst>
              </a:tr>
              <a:tr h="274940">
                <a:tc>
                  <a:txBody>
                    <a:bodyPr/>
                    <a:lstStyle/>
                    <a:p>
                      <a:r>
                        <a:rPr lang="en-GB" b="0" dirty="0" smtClean="0"/>
                        <a:t>Transpose with: </a:t>
                      </a:r>
                      <a:r>
                        <a:rPr lang="en-GB" b="1" dirty="0" err="1" smtClean="0"/>
                        <a:t>a.conj</a:t>
                      </a:r>
                      <a:r>
                        <a:rPr lang="en-GB" b="1" dirty="0" smtClean="0"/>
                        <a:t>().T</a:t>
                      </a:r>
                      <a:endParaRPr lang="en-GB" b="1" dirty="0"/>
                    </a:p>
                  </a:txBody>
                  <a:tcPr/>
                </a:tc>
                <a:tc>
                  <a:txBody>
                    <a:bodyPr/>
                    <a:lstStyle/>
                    <a:p>
                      <a:r>
                        <a:rPr lang="en-GB" b="0" dirty="0" smtClean="0"/>
                        <a:t>Transpose with: </a:t>
                      </a:r>
                      <a:r>
                        <a:rPr lang="en-GB" b="1" dirty="0" smtClean="0"/>
                        <a:t>a’</a:t>
                      </a:r>
                    </a:p>
                  </a:txBody>
                  <a:tcPr/>
                </a:tc>
                <a:extLst>
                  <a:ext uri="{0D108BD9-81ED-4DB2-BD59-A6C34878D82A}">
                    <a16:rowId xmlns:a16="http://schemas.microsoft.com/office/drawing/2014/main" val="1086136299"/>
                  </a:ext>
                </a:extLst>
              </a:tr>
              <a:tr h="274940">
                <a:tc>
                  <a:txBody>
                    <a:bodyPr/>
                    <a:lstStyle/>
                    <a:p>
                      <a:r>
                        <a:rPr lang="en-GB" dirty="0" smtClean="0"/>
                        <a:t>Comment with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t>Comment with %</a:t>
                      </a:r>
                    </a:p>
                  </a:txBody>
                  <a:tcPr/>
                </a:tc>
                <a:extLst>
                  <a:ext uri="{0D108BD9-81ED-4DB2-BD59-A6C34878D82A}">
                    <a16:rowId xmlns:a16="http://schemas.microsoft.com/office/drawing/2014/main" val="3447900121"/>
                  </a:ext>
                </a:extLst>
              </a:tr>
              <a:tr h="481144">
                <a:tc>
                  <a:txBody>
                    <a:bodyPr/>
                    <a:lstStyle/>
                    <a:p>
                      <a:r>
                        <a:rPr lang="en-GB" dirty="0" smtClean="0"/>
                        <a:t>Print values with: </a:t>
                      </a:r>
                      <a:r>
                        <a:rPr lang="en-GB" b="1" dirty="0" smtClean="0"/>
                        <a:t>print(a)</a:t>
                      </a:r>
                      <a:endParaRPr lang="en-GB" b="1" dirty="0"/>
                    </a:p>
                  </a:txBody>
                  <a:tcPr/>
                </a:tc>
                <a:tc>
                  <a:txBody>
                    <a:bodyPr/>
                    <a:lstStyle/>
                    <a:p>
                      <a:r>
                        <a:rPr lang="en-GB" dirty="0" smtClean="0"/>
                        <a:t>Print values with: </a:t>
                      </a:r>
                      <a:r>
                        <a:rPr lang="en-GB" b="1" dirty="0" smtClean="0"/>
                        <a:t>a,     </a:t>
                      </a:r>
                      <a:r>
                        <a:rPr lang="en-GB" b="0" dirty="0" smtClean="0"/>
                        <a:t>or</a:t>
                      </a:r>
                      <a:r>
                        <a:rPr lang="en-GB" b="1" dirty="0" smtClean="0"/>
                        <a:t>      </a:t>
                      </a:r>
                      <a:r>
                        <a:rPr lang="en-GB" b="1" dirty="0" err="1" smtClean="0"/>
                        <a:t>disp</a:t>
                      </a:r>
                      <a:r>
                        <a:rPr lang="en-GB" b="1" dirty="0" smtClean="0"/>
                        <a:t>(a)</a:t>
                      </a:r>
                      <a:r>
                        <a:rPr lang="en-GB" dirty="0" smtClean="0"/>
                        <a:t>,</a:t>
                      </a:r>
                      <a:br>
                        <a:rPr lang="en-GB" dirty="0" smtClean="0"/>
                      </a:br>
                      <a:r>
                        <a:rPr lang="en-GB" dirty="0" smtClean="0"/>
                        <a:t>or                            </a:t>
                      </a:r>
                      <a:r>
                        <a:rPr lang="en-GB" b="1" dirty="0" err="1" smtClean="0"/>
                        <a:t>fprintf</a:t>
                      </a:r>
                      <a:r>
                        <a:rPr lang="en-GB" b="1" dirty="0" smtClean="0"/>
                        <a:t>( ‘%g’ , a)</a:t>
                      </a:r>
                      <a:endParaRPr lang="en-GB" b="1" dirty="0"/>
                    </a:p>
                  </a:txBody>
                  <a:tcPr/>
                </a:tc>
                <a:extLst>
                  <a:ext uri="{0D108BD9-81ED-4DB2-BD59-A6C34878D82A}">
                    <a16:rowId xmlns:a16="http://schemas.microsoft.com/office/drawing/2014/main" val="1918939614"/>
                  </a:ext>
                </a:extLst>
              </a:tr>
              <a:tr h="481144">
                <a:tc>
                  <a:txBody>
                    <a:bodyPr/>
                    <a:lstStyle/>
                    <a:p>
                      <a:r>
                        <a:rPr lang="en-GB" dirty="0" smtClean="0"/>
                        <a:t>Loop</a:t>
                      </a:r>
                      <a:r>
                        <a:rPr lang="en-GB" baseline="0" dirty="0" smtClean="0"/>
                        <a:t> with e.g.: </a:t>
                      </a:r>
                      <a:r>
                        <a:rPr lang="en-GB" sz="1800" b="1" kern="1200" dirty="0" smtClean="0">
                          <a:solidFill>
                            <a:schemeClr val="dk1"/>
                          </a:solidFill>
                          <a:effectLst/>
                          <a:latin typeface="+mn-lt"/>
                          <a:ea typeface="+mn-ea"/>
                          <a:cs typeface="+mn-cs"/>
                        </a:rPr>
                        <a:t>for</a:t>
                      </a:r>
                      <a:r>
                        <a:rPr lang="en-GB" b="1" dirty="0" smtClean="0"/>
                        <a:t> </a:t>
                      </a:r>
                      <a:r>
                        <a:rPr lang="en-GB" sz="1800" b="1" kern="1200" dirty="0" err="1" smtClean="0">
                          <a:solidFill>
                            <a:schemeClr val="dk1"/>
                          </a:solidFill>
                          <a:effectLst/>
                          <a:latin typeface="+mn-lt"/>
                          <a:ea typeface="+mn-ea"/>
                          <a:cs typeface="+mn-cs"/>
                        </a:rPr>
                        <a:t>i</a:t>
                      </a:r>
                      <a:r>
                        <a:rPr lang="en-GB" b="1" dirty="0" smtClean="0"/>
                        <a:t> </a:t>
                      </a:r>
                      <a:r>
                        <a:rPr lang="en-GB" sz="1800" b="1" kern="1200" dirty="0" smtClean="0">
                          <a:solidFill>
                            <a:schemeClr val="dk1"/>
                          </a:solidFill>
                          <a:effectLst/>
                          <a:latin typeface="+mn-lt"/>
                          <a:ea typeface="+mn-ea"/>
                          <a:cs typeface="+mn-cs"/>
                        </a:rPr>
                        <a:t>in</a:t>
                      </a:r>
                      <a:r>
                        <a:rPr lang="en-GB" b="1" dirty="0" smtClean="0"/>
                        <a:t> </a:t>
                      </a:r>
                      <a:r>
                        <a:rPr lang="en-GB" sz="1800" b="1" kern="1200" dirty="0" smtClean="0">
                          <a:solidFill>
                            <a:schemeClr val="dk1"/>
                          </a:solidFill>
                          <a:effectLst/>
                          <a:latin typeface="+mn-lt"/>
                          <a:ea typeface="+mn-ea"/>
                          <a:cs typeface="+mn-cs"/>
                        </a:rPr>
                        <a:t>range(1,</a:t>
                      </a:r>
                      <a:r>
                        <a:rPr lang="en-GB" b="1" dirty="0" smtClean="0"/>
                        <a:t> </a:t>
                      </a:r>
                      <a:r>
                        <a:rPr lang="en-GB" sz="1800" b="1" kern="1200" dirty="0" smtClean="0">
                          <a:solidFill>
                            <a:schemeClr val="dk1"/>
                          </a:solidFill>
                          <a:effectLst/>
                          <a:latin typeface="+mn-lt"/>
                          <a:ea typeface="+mn-ea"/>
                          <a:cs typeface="+mn-cs"/>
                        </a:rPr>
                        <a:t>4):</a:t>
                      </a:r>
                    </a:p>
                    <a:p>
                      <a:r>
                        <a:rPr lang="en-GB" b="1" dirty="0" smtClean="0"/>
                        <a:t>                                  # indented code</a:t>
                      </a:r>
                      <a:endParaRPr lang="en-GB" b="1" dirty="0"/>
                    </a:p>
                  </a:txBody>
                  <a:tcPr/>
                </a:tc>
                <a:tc>
                  <a:txBody>
                    <a:bodyPr/>
                    <a:lstStyle/>
                    <a:p>
                      <a:r>
                        <a:rPr lang="en-GB" dirty="0" smtClean="0"/>
                        <a:t>Loop with</a:t>
                      </a:r>
                      <a:r>
                        <a:rPr lang="en-GB" baseline="0" dirty="0" smtClean="0"/>
                        <a:t> e.g.</a:t>
                      </a:r>
                      <a:r>
                        <a:rPr lang="en-GB" dirty="0" smtClean="0"/>
                        <a:t>: </a:t>
                      </a:r>
                      <a:r>
                        <a:rPr lang="en-GB" sz="1800" b="1" kern="1200" dirty="0" smtClean="0">
                          <a:solidFill>
                            <a:schemeClr val="dk1"/>
                          </a:solidFill>
                          <a:effectLst/>
                          <a:latin typeface="+mn-lt"/>
                          <a:ea typeface="+mn-ea"/>
                          <a:cs typeface="+mn-cs"/>
                        </a:rPr>
                        <a:t>for</a:t>
                      </a:r>
                      <a:r>
                        <a:rPr lang="en-GB" b="1" dirty="0" smtClean="0"/>
                        <a:t> </a:t>
                      </a:r>
                      <a:r>
                        <a:rPr lang="en-GB" sz="1800" b="1" kern="1200" dirty="0" smtClean="0">
                          <a:solidFill>
                            <a:schemeClr val="dk1"/>
                          </a:solidFill>
                          <a:effectLst/>
                          <a:latin typeface="+mn-lt"/>
                          <a:ea typeface="+mn-ea"/>
                          <a:cs typeface="+mn-cs"/>
                        </a:rPr>
                        <a:t>i = 1:3</a:t>
                      </a:r>
                      <a:br>
                        <a:rPr lang="en-GB" sz="1800" b="1" kern="1200" dirty="0" smtClean="0">
                          <a:solidFill>
                            <a:schemeClr val="dk1"/>
                          </a:solidFill>
                          <a:effectLst/>
                          <a:latin typeface="+mn-lt"/>
                          <a:ea typeface="+mn-ea"/>
                          <a:cs typeface="+mn-cs"/>
                        </a:rPr>
                      </a:br>
                      <a:r>
                        <a:rPr lang="en-GB" sz="1800" b="1" kern="1200" dirty="0" smtClean="0">
                          <a:solidFill>
                            <a:schemeClr val="dk1"/>
                          </a:solidFill>
                          <a:effectLst/>
                          <a:latin typeface="+mn-lt"/>
                          <a:ea typeface="+mn-ea"/>
                          <a:cs typeface="+mn-cs"/>
                        </a:rPr>
                        <a:t>                                  % </a:t>
                      </a:r>
                      <a:r>
                        <a:rPr lang="en-GB" sz="1800" b="1" kern="1200" smtClean="0">
                          <a:solidFill>
                            <a:schemeClr val="dk1"/>
                          </a:solidFill>
                          <a:effectLst/>
                          <a:latin typeface="+mn-lt"/>
                          <a:ea typeface="+mn-ea"/>
                          <a:cs typeface="+mn-cs"/>
                        </a:rPr>
                        <a:t>optional</a:t>
                      </a:r>
                      <a:r>
                        <a:rPr lang="en-GB" sz="1800" b="1" kern="1200" baseline="0" smtClean="0">
                          <a:solidFill>
                            <a:schemeClr val="dk1"/>
                          </a:solidFill>
                          <a:effectLst/>
                          <a:latin typeface="+mn-lt"/>
                          <a:ea typeface="+mn-ea"/>
                          <a:cs typeface="+mn-cs"/>
                        </a:rPr>
                        <a:t> indent</a:t>
                      </a:r>
                      <a:r>
                        <a:rPr lang="en-GB" sz="1800" b="1" kern="1200" dirty="0" smtClean="0">
                          <a:solidFill>
                            <a:schemeClr val="dk1"/>
                          </a:solidFill>
                          <a:effectLst/>
                          <a:latin typeface="+mn-lt"/>
                          <a:ea typeface="+mn-ea"/>
                          <a:cs typeface="+mn-cs"/>
                        </a:rPr>
                        <a:t/>
                      </a:r>
                      <a:br>
                        <a:rPr lang="en-GB" sz="1800" b="1" kern="1200" dirty="0" smtClean="0">
                          <a:solidFill>
                            <a:schemeClr val="dk1"/>
                          </a:solidFill>
                          <a:effectLst/>
                          <a:latin typeface="+mn-lt"/>
                          <a:ea typeface="+mn-ea"/>
                          <a:cs typeface="+mn-cs"/>
                        </a:rPr>
                      </a:br>
                      <a:r>
                        <a:rPr lang="en-GB" sz="1800" b="1" kern="1200" dirty="0" smtClean="0">
                          <a:solidFill>
                            <a:schemeClr val="dk1"/>
                          </a:solidFill>
                          <a:effectLst/>
                          <a:latin typeface="+mn-lt"/>
                          <a:ea typeface="+mn-ea"/>
                          <a:cs typeface="+mn-cs"/>
                        </a:rPr>
                        <a:t>                            end</a:t>
                      </a:r>
                      <a:endParaRPr lang="en-GB" b="1" dirty="0"/>
                    </a:p>
                  </a:txBody>
                  <a:tcPr/>
                </a:tc>
                <a:extLst>
                  <a:ext uri="{0D108BD9-81ED-4DB2-BD59-A6C34878D82A}">
                    <a16:rowId xmlns:a16="http://schemas.microsoft.com/office/drawing/2014/main" val="3204637143"/>
                  </a:ext>
                </a:extLst>
              </a:tr>
              <a:tr h="481144">
                <a:tc>
                  <a:txBody>
                    <a:bodyPr/>
                    <a:lstStyle/>
                    <a:p>
                      <a:r>
                        <a:rPr lang="en-GB" b="0" dirty="0" smtClean="0"/>
                        <a:t>Can</a:t>
                      </a:r>
                      <a:r>
                        <a:rPr lang="en-GB" b="0" baseline="0" dirty="0" smtClean="0"/>
                        <a:t> store arbitrary items in a list, e.g.:</a:t>
                      </a:r>
                      <a:br>
                        <a:rPr lang="en-GB" b="0" baseline="0" dirty="0" smtClean="0"/>
                      </a:br>
                      <a:r>
                        <a:rPr lang="en-GB" b="1" baseline="0" dirty="0" smtClean="0"/>
                        <a:t>a = [10, “hello” ];  </a:t>
                      </a:r>
                      <a:r>
                        <a:rPr lang="en-GB" b="0" baseline="0" dirty="0" smtClean="0"/>
                        <a:t>get last item with: </a:t>
                      </a:r>
                      <a:r>
                        <a:rPr lang="en-GB" b="1" baseline="0" dirty="0" smtClean="0"/>
                        <a:t>a[-1]</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smtClean="0"/>
                        <a:t>Can</a:t>
                      </a:r>
                      <a:r>
                        <a:rPr lang="en-GB" b="0" baseline="0" dirty="0" smtClean="0"/>
                        <a:t> store arbitrary items in cell array, e.g.:</a:t>
                      </a:r>
                      <a:br>
                        <a:rPr lang="en-GB" b="0" baseline="0" dirty="0" smtClean="0"/>
                      </a:br>
                      <a:r>
                        <a:rPr lang="en-GB" b="1" baseline="0" dirty="0" smtClean="0"/>
                        <a:t>a = {10, “hello” }; </a:t>
                      </a:r>
                      <a:r>
                        <a:rPr lang="en-GB" b="0" baseline="0" dirty="0" smtClean="0"/>
                        <a:t>get last item with: </a:t>
                      </a:r>
                      <a:r>
                        <a:rPr lang="en-GB" b="1" baseline="0" dirty="0" smtClean="0"/>
                        <a:t>a{end}</a:t>
                      </a:r>
                      <a:endParaRPr lang="en-GB" b="1" dirty="0" smtClean="0"/>
                    </a:p>
                  </a:txBody>
                  <a:tcPr/>
                </a:tc>
                <a:extLst>
                  <a:ext uri="{0D108BD9-81ED-4DB2-BD59-A6C34878D82A}">
                    <a16:rowId xmlns:a16="http://schemas.microsoft.com/office/drawing/2014/main" val="2616456287"/>
                  </a:ext>
                </a:extLst>
              </a:tr>
              <a:tr h="274940">
                <a:tc>
                  <a:txBody>
                    <a:bodyPr/>
                    <a:lstStyle/>
                    <a:p>
                      <a:r>
                        <a:rPr lang="en-GB" dirty="0" smtClean="0"/>
                        <a:t>Get help with:</a:t>
                      </a:r>
                      <a:r>
                        <a:rPr lang="en-GB" baseline="0" dirty="0" smtClean="0"/>
                        <a:t> </a:t>
                      </a:r>
                      <a:r>
                        <a:rPr lang="en-GB" b="1" baseline="0" dirty="0" err="1" smtClean="0"/>
                        <a:t>func</a:t>
                      </a:r>
                      <a:r>
                        <a:rPr lang="en-GB" b="1" baseline="0" dirty="0" smtClean="0"/>
                        <a:t>?</a:t>
                      </a:r>
                      <a:endParaRPr lang="en-GB" b="1" dirty="0"/>
                    </a:p>
                  </a:txBody>
                  <a:tcPr/>
                </a:tc>
                <a:tc>
                  <a:txBody>
                    <a:bodyPr/>
                    <a:lstStyle/>
                    <a:p>
                      <a:r>
                        <a:rPr lang="en-GB" dirty="0" smtClean="0"/>
                        <a:t>Get help with:  </a:t>
                      </a:r>
                      <a:r>
                        <a:rPr lang="en-GB" b="1" dirty="0" smtClean="0"/>
                        <a:t>help </a:t>
                      </a:r>
                      <a:r>
                        <a:rPr lang="en-GB" b="1" dirty="0" err="1" smtClean="0"/>
                        <a:t>func</a:t>
                      </a:r>
                      <a:endParaRPr lang="en-GB" b="1" dirty="0"/>
                    </a:p>
                  </a:txBody>
                  <a:tcPr/>
                </a:tc>
                <a:extLst>
                  <a:ext uri="{0D108BD9-81ED-4DB2-BD59-A6C34878D82A}">
                    <a16:rowId xmlns:a16="http://schemas.microsoft.com/office/drawing/2014/main" val="1897001809"/>
                  </a:ext>
                </a:extLst>
              </a:tr>
            </a:tbl>
          </a:graphicData>
        </a:graphic>
      </p:graphicFrame>
    </p:spTree>
    <p:extLst>
      <p:ext uri="{BB962C8B-B14F-4D97-AF65-F5344CB8AC3E}">
        <p14:creationId xmlns:p14="http://schemas.microsoft.com/office/powerpoint/2010/main" val="3112662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uiExpand="1"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An example dataset/experiment</a:t>
            </a:r>
            <a:endParaRPr lang="en-GB" altLang="en-US" sz="2400" dirty="0"/>
          </a:p>
        </p:txBody>
      </p:sp>
      <p:sp>
        <p:nvSpPr>
          <p:cNvPr id="7" name="Content Placeholder 1"/>
          <p:cNvSpPr>
            <a:spLocks noGrp="1"/>
          </p:cNvSpPr>
          <p:nvPr>
            <p:ph idx="1"/>
          </p:nvPr>
        </p:nvSpPr>
        <p:spPr>
          <a:xfrm>
            <a:off x="281234" y="908720"/>
            <a:ext cx="8363272" cy="2736304"/>
          </a:xfrm>
        </p:spPr>
        <p:txBody>
          <a:bodyPr/>
          <a:lstStyle/>
          <a:p>
            <a:pPr eaLnBrk="1" hangingPunct="1"/>
            <a:r>
              <a:rPr lang="en-GB" altLang="en-US" sz="2400" dirty="0" smtClean="0"/>
              <a:t>single participant</a:t>
            </a:r>
          </a:p>
          <a:p>
            <a:pPr eaLnBrk="1" hangingPunct="1"/>
            <a:r>
              <a:rPr lang="en-GB" altLang="en-US" sz="2400" dirty="0" smtClean="0"/>
              <a:t>2 conditions: </a:t>
            </a:r>
            <a:r>
              <a:rPr lang="en-GB" altLang="en-US" sz="2400" b="1" dirty="0" smtClean="0"/>
              <a:t>thumb vs index finger </a:t>
            </a:r>
            <a:r>
              <a:rPr lang="en-GB" altLang="en-US" sz="2400" dirty="0" smtClean="0"/>
              <a:t>right-hand button presses, in alternating blocks, each lasting 16 s.</a:t>
            </a:r>
          </a:p>
          <a:p>
            <a:pPr eaLnBrk="1" hangingPunct="1"/>
            <a:r>
              <a:rPr lang="en-GB" altLang="en-US" sz="2400" dirty="0" smtClean="0"/>
              <a:t>4 fMRI runs with 3 repeats of each condition per run</a:t>
            </a:r>
          </a:p>
          <a:p>
            <a:pPr eaLnBrk="1" hangingPunct="1"/>
            <a:r>
              <a:rPr lang="en-GB" altLang="en-US" sz="2400" dirty="0" smtClean="0">
                <a:sym typeface="Wingdings" panose="05000000000000000000" pitchFamily="2" charset="2"/>
              </a:rPr>
              <a:t> 4 x 3 x 2 = </a:t>
            </a:r>
            <a:r>
              <a:rPr lang="en-GB" altLang="en-US" sz="2400" dirty="0" smtClean="0"/>
              <a:t>24 volumes of beta coefficient (or t-value) maps</a:t>
            </a:r>
          </a:p>
        </p:txBody>
      </p:sp>
      <p:sp>
        <p:nvSpPr>
          <p:cNvPr id="6" name="Content Placeholder 1"/>
          <p:cNvSpPr txBox="1">
            <a:spLocks/>
          </p:cNvSpPr>
          <p:nvPr/>
        </p:nvSpPr>
        <p:spPr bwMode="auto">
          <a:xfrm>
            <a:off x="281234" y="3212976"/>
            <a:ext cx="8862766" cy="554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None/>
            </a:pPr>
            <a:r>
              <a:rPr lang="en-GB" altLang="en-US" sz="2400" dirty="0" smtClean="0"/>
              <a:t>We might ask – where in the brain is there information about which finger is moving?</a:t>
            </a:r>
            <a:endParaRPr lang="en-GB" altLang="en-US" sz="2000" dirty="0" smtClean="0"/>
          </a:p>
        </p:txBody>
      </p:sp>
      <p:sp>
        <p:nvSpPr>
          <p:cNvPr id="9" name="Content Placeholder 1"/>
          <p:cNvSpPr txBox="1">
            <a:spLocks/>
          </p:cNvSpPr>
          <p:nvPr/>
        </p:nvSpPr>
        <p:spPr bwMode="auto">
          <a:xfrm>
            <a:off x="281234" y="5828846"/>
            <a:ext cx="8862766" cy="554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None/>
            </a:pPr>
            <a:r>
              <a:rPr lang="en-GB" altLang="en-US" sz="2400" dirty="0" smtClean="0"/>
              <a:t>Or – in a region of interest, is there information about which finger is moving?</a:t>
            </a:r>
            <a:endParaRPr lang="en-GB" altLang="en-US" sz="2000" dirty="0" smtClean="0"/>
          </a:p>
        </p:txBody>
      </p:sp>
      <p:grpSp>
        <p:nvGrpSpPr>
          <p:cNvPr id="8" name="Group 7"/>
          <p:cNvGrpSpPr/>
          <p:nvPr/>
        </p:nvGrpSpPr>
        <p:grpSpPr>
          <a:xfrm>
            <a:off x="2023134" y="4109115"/>
            <a:ext cx="5141154" cy="1732104"/>
            <a:chOff x="2023134" y="4109115"/>
            <a:chExt cx="5141154" cy="1732104"/>
          </a:xfrm>
        </p:grpSpPr>
        <p:pic>
          <p:nvPicPr>
            <p:cNvPr id="10" name="Picture 9"/>
            <p:cNvPicPr>
              <a:picLocks noChangeAspect="1"/>
            </p:cNvPicPr>
            <p:nvPr/>
          </p:nvPicPr>
          <p:blipFill>
            <a:blip r:embed="rId3"/>
            <a:stretch>
              <a:fillRect/>
            </a:stretch>
          </p:blipFill>
          <p:spPr>
            <a:xfrm>
              <a:off x="2023134" y="4109115"/>
              <a:ext cx="5141154" cy="1719731"/>
            </a:xfrm>
            <a:prstGeom prst="rect">
              <a:avLst/>
            </a:prstGeom>
          </p:spPr>
        </p:pic>
        <p:pic>
          <p:nvPicPr>
            <p:cNvPr id="11" name="Picture 10"/>
            <p:cNvPicPr>
              <a:picLocks noChangeAspect="1"/>
            </p:cNvPicPr>
            <p:nvPr/>
          </p:nvPicPr>
          <p:blipFill>
            <a:blip r:embed="rId4"/>
            <a:stretch>
              <a:fillRect/>
            </a:stretch>
          </p:blipFill>
          <p:spPr>
            <a:xfrm>
              <a:off x="2915816" y="5257800"/>
              <a:ext cx="2572109" cy="323895"/>
            </a:xfrm>
            <a:prstGeom prst="rect">
              <a:avLst/>
            </a:prstGeom>
          </p:spPr>
        </p:pic>
        <p:sp>
          <p:nvSpPr>
            <p:cNvPr id="12" name="Text Box 1056"/>
            <p:cNvSpPr txBox="1">
              <a:spLocks noChangeArrowheads="1"/>
            </p:cNvSpPr>
            <p:nvPr/>
          </p:nvSpPr>
          <p:spPr bwMode="auto">
            <a:xfrm>
              <a:off x="2915816" y="5564220"/>
              <a:ext cx="2572109" cy="276999"/>
            </a:xfrm>
            <a:prstGeom prst="rect">
              <a:avLst/>
            </a:prstGeom>
            <a:solidFill>
              <a:schemeClr val="bg1">
                <a:lumMod val="95000"/>
              </a:schemeClr>
            </a:solidFill>
            <a:ln>
              <a:noFill/>
            </a:ln>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Classification accuracy</a:t>
              </a:r>
              <a:endParaRPr lang="en-US" altLang="en-US" sz="1200" b="1" dirty="0">
                <a:latin typeface="Albertus Medium"/>
              </a:endParaRPr>
            </a:p>
          </p:txBody>
        </p:sp>
      </p:grpSp>
    </p:spTree>
    <p:extLst>
      <p:ext uri="{BB962C8B-B14F-4D97-AF65-F5344CB8AC3E}">
        <p14:creationId xmlns:p14="http://schemas.microsoft.com/office/powerpoint/2010/main" val="25579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p:bldP spid="9"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bwMode="auto">
          <a:xfrm>
            <a:off x="281234" y="836712"/>
            <a:ext cx="8611247" cy="554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GB" altLang="en-US" sz="2000" dirty="0" smtClean="0"/>
              <a:t>Where in the brain is there information about which finger is moving?</a:t>
            </a:r>
            <a:endParaRPr lang="en-GB" altLang="en-US" sz="1800" dirty="0" smtClean="0"/>
          </a:p>
        </p:txBody>
      </p:sp>
      <p:sp>
        <p:nvSpPr>
          <p:cNvPr id="8" name="Content Placeholder 1"/>
          <p:cNvSpPr txBox="1">
            <a:spLocks/>
          </p:cNvSpPr>
          <p:nvPr/>
        </p:nvSpPr>
        <p:spPr bwMode="auto">
          <a:xfrm>
            <a:off x="281235" y="3356992"/>
            <a:ext cx="8611246"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None/>
            </a:pPr>
            <a:r>
              <a:rPr lang="en-GB" altLang="en-US" sz="2400" dirty="0" smtClean="0"/>
              <a:t>What choices do we need to make to produce this output?</a:t>
            </a:r>
          </a:p>
          <a:p>
            <a:pPr lvl="1" eaLnBrk="1" hangingPunct="1"/>
            <a:r>
              <a:rPr lang="en-GB" altLang="en-US" sz="1600" dirty="0" smtClean="0"/>
              <a:t>Which voxels to include?</a:t>
            </a:r>
          </a:p>
          <a:p>
            <a:pPr lvl="1" eaLnBrk="1" hangingPunct="1"/>
            <a:r>
              <a:rPr lang="en-GB" altLang="en-US" sz="1600" dirty="0"/>
              <a:t>How </a:t>
            </a:r>
            <a:r>
              <a:rPr lang="en-GB" altLang="en-US" sz="1600" dirty="0" smtClean="0"/>
              <a:t>to partition/cross-validate</a:t>
            </a:r>
            <a:r>
              <a:rPr lang="en-GB" altLang="en-US" sz="1600" dirty="0"/>
              <a:t>? </a:t>
            </a:r>
          </a:p>
          <a:p>
            <a:pPr lvl="1" eaLnBrk="1" hangingPunct="1"/>
            <a:r>
              <a:rPr lang="en-GB" altLang="en-US" sz="1600" dirty="0" smtClean="0"/>
              <a:t>Which method/classifier to use?</a:t>
            </a:r>
          </a:p>
          <a:p>
            <a:pPr lvl="1" eaLnBrk="1" hangingPunct="1"/>
            <a:r>
              <a:rPr lang="en-GB" altLang="en-US" sz="1600" dirty="0" smtClean="0"/>
              <a:t>Which output measure to use?</a:t>
            </a:r>
          </a:p>
          <a:p>
            <a:pPr lvl="1" eaLnBrk="1" hangingPunct="1"/>
            <a:r>
              <a:rPr lang="en-GB" altLang="en-US" sz="1600" dirty="0" smtClean="0"/>
              <a:t>(Also, choice of pre-processing etc…)</a:t>
            </a:r>
            <a:endParaRPr lang="en-GB" altLang="en-US" sz="1400" dirty="0"/>
          </a:p>
          <a:p>
            <a:pPr marL="0" indent="0" eaLnBrk="1" hangingPunct="1">
              <a:buNone/>
            </a:pPr>
            <a:r>
              <a:rPr lang="en-GB" altLang="en-US" sz="2400" dirty="0" smtClean="0"/>
              <a:t>What question should we ask next?</a:t>
            </a:r>
          </a:p>
          <a:p>
            <a:pPr lvl="1" eaLnBrk="1" hangingPunct="1"/>
            <a:r>
              <a:rPr lang="en-GB" altLang="en-US" sz="1600" dirty="0" smtClean="0"/>
              <a:t>Is the information significant?</a:t>
            </a:r>
          </a:p>
          <a:p>
            <a:pPr lvl="2" eaLnBrk="1" hangingPunct="1"/>
            <a:r>
              <a:rPr lang="en-GB" altLang="en-US" sz="1600" dirty="0" smtClean="0"/>
              <a:t>for this participant?</a:t>
            </a:r>
          </a:p>
          <a:p>
            <a:pPr lvl="2" eaLnBrk="1" hangingPunct="1"/>
            <a:r>
              <a:rPr lang="en-GB" altLang="en-US" sz="1600" dirty="0" smtClean="0"/>
              <a:t>on average across participants?</a:t>
            </a:r>
          </a:p>
        </p:txBody>
      </p:sp>
      <p:sp>
        <p:nvSpPr>
          <p:cNvPr id="9" name="Title 1"/>
          <p:cNvSpPr txBox="1">
            <a:spLocks/>
          </p:cNvSpPr>
          <p:nvPr/>
        </p:nvSpPr>
        <p:spPr bwMode="auto">
          <a:xfrm>
            <a:off x="457200" y="274638"/>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3600" b="1" dirty="0" smtClean="0"/>
              <a:t>An example dataset/experiment</a:t>
            </a:r>
            <a:endParaRPr lang="en-GB" altLang="en-US" sz="2400" dirty="0"/>
          </a:p>
        </p:txBody>
      </p:sp>
      <p:grpSp>
        <p:nvGrpSpPr>
          <p:cNvPr id="7" name="Group 6"/>
          <p:cNvGrpSpPr/>
          <p:nvPr/>
        </p:nvGrpSpPr>
        <p:grpSpPr>
          <a:xfrm>
            <a:off x="2016280" y="1391678"/>
            <a:ext cx="5141154" cy="1732104"/>
            <a:chOff x="2023134" y="4109115"/>
            <a:chExt cx="5141154" cy="1732104"/>
          </a:xfrm>
        </p:grpSpPr>
        <p:pic>
          <p:nvPicPr>
            <p:cNvPr id="10" name="Picture 9"/>
            <p:cNvPicPr>
              <a:picLocks noChangeAspect="1"/>
            </p:cNvPicPr>
            <p:nvPr/>
          </p:nvPicPr>
          <p:blipFill>
            <a:blip r:embed="rId3"/>
            <a:stretch>
              <a:fillRect/>
            </a:stretch>
          </p:blipFill>
          <p:spPr>
            <a:xfrm>
              <a:off x="2023134" y="4109115"/>
              <a:ext cx="5141154" cy="1719731"/>
            </a:xfrm>
            <a:prstGeom prst="rect">
              <a:avLst/>
            </a:prstGeom>
          </p:spPr>
        </p:pic>
        <p:pic>
          <p:nvPicPr>
            <p:cNvPr id="11" name="Picture 10"/>
            <p:cNvPicPr>
              <a:picLocks noChangeAspect="1"/>
            </p:cNvPicPr>
            <p:nvPr/>
          </p:nvPicPr>
          <p:blipFill>
            <a:blip r:embed="rId4"/>
            <a:stretch>
              <a:fillRect/>
            </a:stretch>
          </p:blipFill>
          <p:spPr>
            <a:xfrm>
              <a:off x="2915816" y="5257800"/>
              <a:ext cx="2572109" cy="323895"/>
            </a:xfrm>
            <a:prstGeom prst="rect">
              <a:avLst/>
            </a:prstGeom>
          </p:spPr>
        </p:pic>
        <p:sp>
          <p:nvSpPr>
            <p:cNvPr id="12" name="Text Box 1056"/>
            <p:cNvSpPr txBox="1">
              <a:spLocks noChangeArrowheads="1"/>
            </p:cNvSpPr>
            <p:nvPr/>
          </p:nvSpPr>
          <p:spPr bwMode="auto">
            <a:xfrm>
              <a:off x="2915816" y="5564220"/>
              <a:ext cx="2572109" cy="276999"/>
            </a:xfrm>
            <a:prstGeom prst="rect">
              <a:avLst/>
            </a:prstGeom>
            <a:solidFill>
              <a:schemeClr val="bg1">
                <a:lumMod val="95000"/>
              </a:schemeClr>
            </a:solidFill>
            <a:ln>
              <a:noFill/>
            </a:ln>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GB" altLang="en-US" sz="1200" b="1" dirty="0" smtClean="0">
                  <a:latin typeface="Albertus Medium"/>
                </a:rPr>
                <a:t>Classification accuracy</a:t>
              </a:r>
              <a:endParaRPr lang="en-US" altLang="en-US" sz="1200" b="1" dirty="0">
                <a:latin typeface="Albertus Medium"/>
              </a:endParaRPr>
            </a:p>
          </p:txBody>
        </p:sp>
      </p:grpSp>
    </p:spTree>
    <p:extLst>
      <p:ext uri="{BB962C8B-B14F-4D97-AF65-F5344CB8AC3E}">
        <p14:creationId xmlns:p14="http://schemas.microsoft.com/office/powerpoint/2010/main" val="344639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457200" y="0"/>
            <a:ext cx="8229600"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b="1" dirty="0" smtClean="0"/>
              <a:t>Partitions, classifiers &amp; metrics</a:t>
            </a:r>
            <a:endParaRPr lang="en-GB" altLang="en-US" b="1" dirty="0"/>
          </a:p>
        </p:txBody>
      </p:sp>
      <p:sp>
        <p:nvSpPr>
          <p:cNvPr id="8" name="Title 1"/>
          <p:cNvSpPr txBox="1">
            <a:spLocks/>
          </p:cNvSpPr>
          <p:nvPr/>
        </p:nvSpPr>
        <p:spPr bwMode="auto">
          <a:xfrm>
            <a:off x="457200" y="908720"/>
            <a:ext cx="8686800" cy="568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55600" indent="-355600" eaLnBrk="1" hangingPunct="1">
              <a:spcBef>
                <a:spcPct val="0"/>
              </a:spcBef>
              <a:spcAft>
                <a:spcPts val="600"/>
              </a:spcAft>
            </a:pPr>
            <a:r>
              <a:rPr lang="en-GB" altLang="en-US" sz="2800" dirty="0" smtClean="0"/>
              <a:t>Partition schemes, for cross-validation, e.g.:</a:t>
            </a:r>
          </a:p>
          <a:p>
            <a:pPr marL="720725" lvl="1" indent="-365125" eaLnBrk="1" hangingPunct="1">
              <a:spcBef>
                <a:spcPct val="0"/>
              </a:spcBef>
              <a:spcAft>
                <a:spcPts val="0"/>
              </a:spcAft>
            </a:pPr>
            <a:r>
              <a:rPr lang="en-GB" sz="2000" dirty="0"/>
              <a:t>“hold out” (e.g. odd/even split)</a:t>
            </a:r>
          </a:p>
          <a:p>
            <a:pPr marL="720725" lvl="1" indent="-365125" eaLnBrk="1" hangingPunct="1">
              <a:spcBef>
                <a:spcPct val="0"/>
              </a:spcBef>
              <a:spcAft>
                <a:spcPts val="0"/>
              </a:spcAft>
            </a:pPr>
            <a:r>
              <a:rPr lang="en-GB" sz="2000" dirty="0"/>
              <a:t>“k-fold” (repeated? grouped? stratified</a:t>
            </a:r>
            <a:r>
              <a:rPr lang="en-GB" sz="2000" dirty="0" smtClean="0"/>
              <a:t>?)</a:t>
            </a:r>
            <a:endParaRPr lang="en-GB" sz="2000" dirty="0"/>
          </a:p>
          <a:p>
            <a:pPr marL="720725" lvl="1" indent="-365125" eaLnBrk="1" hangingPunct="1">
              <a:spcBef>
                <a:spcPct val="0"/>
              </a:spcBef>
              <a:spcAft>
                <a:spcPts val="0"/>
              </a:spcAft>
            </a:pPr>
            <a:r>
              <a:rPr lang="en-GB" sz="2000" dirty="0"/>
              <a:t>“cross-generalisation</a:t>
            </a:r>
            <a:r>
              <a:rPr lang="en-GB" sz="2000" dirty="0" smtClean="0"/>
              <a:t>”</a:t>
            </a:r>
          </a:p>
          <a:p>
            <a:pPr marL="720725" lvl="1" indent="-365125" eaLnBrk="1" hangingPunct="1">
              <a:spcBef>
                <a:spcPct val="0"/>
              </a:spcBef>
              <a:spcAft>
                <a:spcPts val="0"/>
              </a:spcAft>
            </a:pPr>
            <a:r>
              <a:rPr lang="en-GB" sz="2000" dirty="0" smtClean="0"/>
              <a:t>...</a:t>
            </a:r>
            <a:endParaRPr lang="en-GB" sz="2000" dirty="0"/>
          </a:p>
          <a:p>
            <a:pPr marL="1314450" lvl="1" indent="-571500" eaLnBrk="1" hangingPunct="1">
              <a:spcBef>
                <a:spcPct val="0"/>
              </a:spcBef>
              <a:spcAft>
                <a:spcPts val="600"/>
              </a:spcAft>
            </a:pPr>
            <a:endParaRPr lang="en-GB" sz="1200" dirty="0" smtClean="0">
              <a:latin typeface="Consolas" panose="020B0609020204030204" pitchFamily="49" charset="0"/>
            </a:endParaRPr>
          </a:p>
          <a:p>
            <a:pPr marL="355600" indent="-355600" eaLnBrk="1" hangingPunct="1">
              <a:spcBef>
                <a:spcPct val="0"/>
              </a:spcBef>
              <a:spcAft>
                <a:spcPts val="600"/>
              </a:spcAft>
            </a:pPr>
            <a:r>
              <a:rPr lang="en-GB" altLang="en-US" sz="2800" dirty="0" smtClean="0"/>
              <a:t>Classifiers, e.g.:</a:t>
            </a:r>
            <a:endParaRPr lang="en-GB" altLang="en-US" sz="2800" dirty="0"/>
          </a:p>
          <a:p>
            <a:pPr marL="720725" lvl="1" indent="-365125" eaLnBrk="1" hangingPunct="1">
              <a:spcBef>
                <a:spcPct val="0"/>
              </a:spcBef>
              <a:spcAft>
                <a:spcPts val="0"/>
              </a:spcAft>
            </a:pPr>
            <a:r>
              <a:rPr lang="en-GB" sz="2000" dirty="0"/>
              <a:t>Logistic regression (LR)</a:t>
            </a:r>
          </a:p>
          <a:p>
            <a:pPr marL="720725" lvl="1" indent="-365125" eaLnBrk="1" hangingPunct="1">
              <a:spcBef>
                <a:spcPct val="0"/>
              </a:spcBef>
              <a:spcAft>
                <a:spcPts val="0"/>
              </a:spcAft>
            </a:pPr>
            <a:r>
              <a:rPr lang="en-GB" sz="2000" dirty="0" smtClean="0"/>
              <a:t>Fisher’s Linear </a:t>
            </a:r>
            <a:r>
              <a:rPr lang="en-GB" sz="2000" dirty="0"/>
              <a:t>discriminant analysis (LDA)</a:t>
            </a:r>
          </a:p>
          <a:p>
            <a:pPr marL="720725" lvl="1" indent="-365125" eaLnBrk="1" hangingPunct="1">
              <a:spcBef>
                <a:spcPct val="0"/>
              </a:spcBef>
              <a:spcAft>
                <a:spcPts val="0"/>
              </a:spcAft>
            </a:pPr>
            <a:r>
              <a:rPr lang="en-GB" sz="2000" dirty="0"/>
              <a:t>Support vector machine (SVM)</a:t>
            </a:r>
          </a:p>
          <a:p>
            <a:pPr marL="720725" lvl="1" indent="-365125" eaLnBrk="1" hangingPunct="1">
              <a:spcBef>
                <a:spcPct val="0"/>
              </a:spcBef>
              <a:spcAft>
                <a:spcPts val="0"/>
              </a:spcAft>
            </a:pPr>
            <a:r>
              <a:rPr lang="en-GB" sz="2000" dirty="0"/>
              <a:t>Gaussian naïve Bayes (GNB)</a:t>
            </a:r>
          </a:p>
          <a:p>
            <a:pPr marL="720725" lvl="1" indent="-365125" eaLnBrk="1" hangingPunct="1">
              <a:spcBef>
                <a:spcPct val="0"/>
              </a:spcBef>
              <a:spcAft>
                <a:spcPts val="0"/>
              </a:spcAft>
            </a:pPr>
            <a:r>
              <a:rPr lang="en-GB" sz="2000" dirty="0"/>
              <a:t>K-nearest neighbour (k-NN)</a:t>
            </a:r>
          </a:p>
          <a:p>
            <a:pPr marL="720725" lvl="1" indent="-365125" eaLnBrk="1" hangingPunct="1">
              <a:spcBef>
                <a:spcPct val="0"/>
              </a:spcBef>
              <a:spcAft>
                <a:spcPts val="0"/>
              </a:spcAft>
            </a:pPr>
            <a:r>
              <a:rPr lang="en-GB" sz="2000" dirty="0"/>
              <a:t>...</a:t>
            </a:r>
          </a:p>
          <a:p>
            <a:pPr marL="1314450" lvl="1" indent="-571500" eaLnBrk="1" hangingPunct="1">
              <a:spcBef>
                <a:spcPct val="0"/>
              </a:spcBef>
              <a:spcAft>
                <a:spcPts val="600"/>
              </a:spcAft>
            </a:pPr>
            <a:endParaRPr lang="en-GB" sz="1100" dirty="0" smtClean="0">
              <a:latin typeface="Consolas" panose="020B0609020204030204" pitchFamily="49" charset="0"/>
            </a:endParaRPr>
          </a:p>
          <a:p>
            <a:pPr marL="355600" indent="-355600" eaLnBrk="1" hangingPunct="1">
              <a:spcBef>
                <a:spcPct val="0"/>
              </a:spcBef>
              <a:spcAft>
                <a:spcPts val="600"/>
              </a:spcAft>
            </a:pPr>
            <a:r>
              <a:rPr lang="en-GB" sz="2800" dirty="0" smtClean="0"/>
              <a:t>Performance metrics, e.g.:</a:t>
            </a:r>
            <a:endParaRPr lang="en-GB" sz="2800" dirty="0"/>
          </a:p>
          <a:p>
            <a:pPr marL="720725" lvl="1" indent="-365125" eaLnBrk="1" hangingPunct="1">
              <a:spcBef>
                <a:spcPct val="0"/>
              </a:spcBef>
              <a:spcAft>
                <a:spcPts val="600"/>
              </a:spcAft>
            </a:pPr>
            <a:r>
              <a:rPr lang="en-GB" sz="2000" dirty="0"/>
              <a:t>‘accuracy’, ‘</a:t>
            </a:r>
            <a:r>
              <a:rPr lang="en-GB" sz="2000" dirty="0" smtClean="0"/>
              <a:t>balanced accuracy</a:t>
            </a:r>
            <a:r>
              <a:rPr lang="en-GB" sz="2000" dirty="0"/>
              <a:t>’, </a:t>
            </a:r>
            <a:r>
              <a:rPr lang="en-GB" sz="2000" dirty="0" smtClean="0"/>
              <a:t>‘</a:t>
            </a:r>
            <a:r>
              <a:rPr lang="en-GB" sz="2000" dirty="0"/>
              <a:t>area under ROC curve</a:t>
            </a:r>
            <a:r>
              <a:rPr lang="en-GB" sz="2000" dirty="0" smtClean="0"/>
              <a:t>’, ‘d prime’,</a:t>
            </a:r>
            <a:br>
              <a:rPr lang="en-GB" sz="2000" dirty="0" smtClean="0"/>
            </a:br>
            <a:r>
              <a:rPr lang="en-GB" sz="2000" dirty="0" smtClean="0"/>
              <a:t>‘</a:t>
            </a:r>
            <a:r>
              <a:rPr lang="en-GB" sz="2000" dirty="0"/>
              <a:t>mean probability of true class’, </a:t>
            </a:r>
            <a:r>
              <a:rPr lang="en-GB" sz="2000" dirty="0" smtClean="0"/>
              <a:t>‘mean signed distance to hyperplane’, ...</a:t>
            </a:r>
            <a:endParaRPr lang="en-GB" sz="2000" dirty="0"/>
          </a:p>
        </p:txBody>
      </p:sp>
    </p:spTree>
    <p:extLst>
      <p:ext uri="{BB962C8B-B14F-4D97-AF65-F5344CB8AC3E}">
        <p14:creationId xmlns:p14="http://schemas.microsoft.com/office/powerpoint/2010/main" val="230074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837493"/>
            <a:ext cx="8229600" cy="436910"/>
          </a:xfrm>
        </p:spPr>
        <p:txBody>
          <a:bodyPr/>
          <a:lstStyle/>
          <a:p>
            <a:pPr eaLnBrk="1" hangingPunct="1"/>
            <a:r>
              <a:rPr lang="en-GB" altLang="en-US" sz="3200" dirty="0"/>
              <a:t>B</a:t>
            </a:r>
            <a:r>
              <a:rPr lang="en-GB" altLang="en-US" sz="3200" dirty="0" smtClean="0"/>
              <a:t>asic </a:t>
            </a:r>
            <a:r>
              <a:rPr lang="en-GB" altLang="en-US" sz="3200" dirty="0" smtClean="0">
                <a:solidFill>
                  <a:srgbClr val="0070C0"/>
                </a:solidFill>
              </a:rPr>
              <a:t>“data set” </a:t>
            </a:r>
            <a:r>
              <a:rPr lang="en-GB" altLang="en-US" sz="3200" dirty="0" smtClean="0"/>
              <a:t>structure:</a:t>
            </a:r>
          </a:p>
        </p:txBody>
      </p:sp>
      <p:sp>
        <p:nvSpPr>
          <p:cNvPr id="4" name="Title 1"/>
          <p:cNvSpPr txBox="1">
            <a:spLocks/>
          </p:cNvSpPr>
          <p:nvPr/>
        </p:nvSpPr>
        <p:spPr bwMode="auto">
          <a:xfrm>
            <a:off x="457200" y="188640"/>
            <a:ext cx="8229600"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b="1" dirty="0" smtClean="0"/>
              <a:t>How does MVPA work?</a:t>
            </a:r>
            <a:endParaRPr lang="en-GB" altLang="en-US" b="1" dirty="0"/>
          </a:p>
        </p:txBody>
      </p:sp>
      <p:pic>
        <p:nvPicPr>
          <p:cNvPr id="8" name="Picture 7"/>
          <p:cNvPicPr>
            <a:picLocks noChangeAspect="1"/>
          </p:cNvPicPr>
          <p:nvPr/>
        </p:nvPicPr>
        <p:blipFill rotWithShape="1">
          <a:blip r:embed="rId3"/>
          <a:srcRect t="4932"/>
          <a:stretch/>
        </p:blipFill>
        <p:spPr>
          <a:xfrm>
            <a:off x="1123900" y="2377102"/>
            <a:ext cx="5493039" cy="3697255"/>
          </a:xfrm>
          <a:prstGeom prst="rect">
            <a:avLst/>
          </a:prstGeom>
        </p:spPr>
      </p:pic>
      <p:grpSp>
        <p:nvGrpSpPr>
          <p:cNvPr id="2" name="Group 1"/>
          <p:cNvGrpSpPr/>
          <p:nvPr/>
        </p:nvGrpSpPr>
        <p:grpSpPr>
          <a:xfrm>
            <a:off x="1123901" y="1562434"/>
            <a:ext cx="3520107" cy="532929"/>
            <a:chOff x="2057722" y="1777677"/>
            <a:chExt cx="3130043" cy="532929"/>
          </a:xfrm>
        </p:grpSpPr>
        <p:cxnSp>
          <p:nvCxnSpPr>
            <p:cNvPr id="12" name="Straight Arrow Connector 11"/>
            <p:cNvCxnSpPr/>
            <p:nvPr/>
          </p:nvCxnSpPr>
          <p:spPr>
            <a:xfrm>
              <a:off x="2057723" y="2310606"/>
              <a:ext cx="2834292"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sp>
          <p:nvSpPr>
            <p:cNvPr id="18" name="Title 1"/>
            <p:cNvSpPr txBox="1">
              <a:spLocks/>
            </p:cNvSpPr>
            <p:nvPr/>
          </p:nvSpPr>
          <p:spPr bwMode="auto">
            <a:xfrm>
              <a:off x="2057722" y="1777677"/>
              <a:ext cx="3130043" cy="43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GB" altLang="en-US" sz="2800" dirty="0" smtClean="0">
                  <a:solidFill>
                    <a:srgbClr val="0070C0"/>
                  </a:solidFill>
                </a:rPr>
                <a:t>“features” (e.g. voxels)</a:t>
              </a:r>
            </a:p>
          </p:txBody>
        </p:sp>
      </p:grpSp>
      <p:grpSp>
        <p:nvGrpSpPr>
          <p:cNvPr id="3" name="Group 2"/>
          <p:cNvGrpSpPr/>
          <p:nvPr/>
        </p:nvGrpSpPr>
        <p:grpSpPr>
          <a:xfrm>
            <a:off x="251520" y="2241667"/>
            <a:ext cx="582066" cy="2520282"/>
            <a:chOff x="683569" y="2564903"/>
            <a:chExt cx="582066" cy="2520282"/>
          </a:xfrm>
        </p:grpSpPr>
        <p:cxnSp>
          <p:nvCxnSpPr>
            <p:cNvPr id="17" name="Straight Arrow Connector 16"/>
            <p:cNvCxnSpPr/>
            <p:nvPr/>
          </p:nvCxnSpPr>
          <p:spPr>
            <a:xfrm>
              <a:off x="1265635" y="2924943"/>
              <a:ext cx="0" cy="1800203"/>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sp>
          <p:nvSpPr>
            <p:cNvPr id="22" name="Title 1"/>
            <p:cNvSpPr txBox="1">
              <a:spLocks/>
            </p:cNvSpPr>
            <p:nvPr/>
          </p:nvSpPr>
          <p:spPr bwMode="auto">
            <a:xfrm rot="16200000">
              <a:off x="-358117" y="3606589"/>
              <a:ext cx="2520282" cy="43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GB" altLang="en-US" sz="2800" dirty="0" smtClean="0">
                  <a:solidFill>
                    <a:srgbClr val="0070C0"/>
                  </a:solidFill>
                </a:rPr>
                <a:t>“samples”</a:t>
              </a:r>
            </a:p>
          </p:txBody>
        </p:sp>
      </p:grpSp>
      <p:sp>
        <p:nvSpPr>
          <p:cNvPr id="23" name="Right Brace 22"/>
          <p:cNvSpPr/>
          <p:nvPr/>
        </p:nvSpPr>
        <p:spPr>
          <a:xfrm>
            <a:off x="6660232" y="2313677"/>
            <a:ext cx="248162" cy="2304256"/>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5" name="Title 1"/>
          <p:cNvSpPr txBox="1">
            <a:spLocks/>
          </p:cNvSpPr>
          <p:nvPr/>
        </p:nvSpPr>
        <p:spPr bwMode="auto">
          <a:xfrm>
            <a:off x="6908394" y="2241667"/>
            <a:ext cx="1912080" cy="237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GB" altLang="en-US" sz="2000" dirty="0" smtClean="0">
                <a:solidFill>
                  <a:srgbClr val="0070C0"/>
                </a:solidFill>
              </a:rPr>
              <a:t>sample</a:t>
            </a:r>
            <a:br>
              <a:rPr lang="en-GB" altLang="en-US" sz="2000" dirty="0" smtClean="0">
                <a:solidFill>
                  <a:srgbClr val="0070C0"/>
                </a:solidFill>
              </a:rPr>
            </a:br>
            <a:r>
              <a:rPr lang="en-GB" altLang="en-US" sz="2000" dirty="0" smtClean="0">
                <a:solidFill>
                  <a:srgbClr val="0070C0"/>
                </a:solidFill>
              </a:rPr>
              <a:t>“attributes”</a:t>
            </a:r>
          </a:p>
          <a:p>
            <a:pPr eaLnBrk="1" hangingPunct="1"/>
            <a:r>
              <a:rPr lang="en-GB" altLang="en-US" sz="2000" dirty="0">
                <a:solidFill>
                  <a:srgbClr val="0070C0"/>
                </a:solidFill>
              </a:rPr>
              <a:t>E</a:t>
            </a:r>
            <a:r>
              <a:rPr lang="en-GB" altLang="en-US" sz="2000" dirty="0" smtClean="0">
                <a:solidFill>
                  <a:srgbClr val="0070C0"/>
                </a:solidFill>
              </a:rPr>
              <a:t>.g.:</a:t>
            </a:r>
          </a:p>
          <a:p>
            <a:pPr eaLnBrk="1" hangingPunct="1"/>
            <a:r>
              <a:rPr lang="en-GB" altLang="en-US" sz="2000" dirty="0" smtClean="0">
                <a:solidFill>
                  <a:srgbClr val="0070C0"/>
                </a:solidFill>
              </a:rPr>
              <a:t>condition label;</a:t>
            </a:r>
          </a:p>
          <a:p>
            <a:pPr eaLnBrk="1" hangingPunct="1"/>
            <a:r>
              <a:rPr lang="en-GB" altLang="en-US" sz="2000" dirty="0" smtClean="0">
                <a:solidFill>
                  <a:srgbClr val="0070C0"/>
                </a:solidFill>
              </a:rPr>
              <a:t>run number</a:t>
            </a:r>
          </a:p>
        </p:txBody>
      </p:sp>
      <p:sp>
        <p:nvSpPr>
          <p:cNvPr id="24" name="Rectangle 23"/>
          <p:cNvSpPr/>
          <p:nvPr/>
        </p:nvSpPr>
        <p:spPr>
          <a:xfrm>
            <a:off x="1123900" y="2377102"/>
            <a:ext cx="3187501" cy="2240830"/>
          </a:xfrm>
          <a:prstGeom prst="rect">
            <a:avLst/>
          </a:prstGeom>
          <a:ln w="38100">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9" name="Right Brace 18"/>
          <p:cNvSpPr/>
          <p:nvPr/>
        </p:nvSpPr>
        <p:spPr>
          <a:xfrm rot="5400000">
            <a:off x="2602499" y="4370404"/>
            <a:ext cx="248162" cy="316964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0" name="Title 1"/>
          <p:cNvSpPr txBox="1">
            <a:spLocks/>
          </p:cNvSpPr>
          <p:nvPr/>
        </p:nvSpPr>
        <p:spPr bwMode="auto">
          <a:xfrm>
            <a:off x="1141758" y="6128751"/>
            <a:ext cx="3169643" cy="59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GB" altLang="en-US" sz="2000" dirty="0" smtClean="0">
                <a:solidFill>
                  <a:srgbClr val="0070C0"/>
                </a:solidFill>
              </a:rPr>
              <a:t>feature attributes</a:t>
            </a:r>
          </a:p>
          <a:p>
            <a:pPr eaLnBrk="1" hangingPunct="1"/>
            <a:r>
              <a:rPr lang="en-GB" altLang="en-US" sz="2000" dirty="0" smtClean="0">
                <a:solidFill>
                  <a:srgbClr val="0070C0"/>
                </a:solidFill>
              </a:rPr>
              <a:t>E.g.: voxel coordinates</a:t>
            </a:r>
          </a:p>
        </p:txBody>
      </p:sp>
      <p:sp>
        <p:nvSpPr>
          <p:cNvPr id="21" name="Right Brace 20"/>
          <p:cNvSpPr/>
          <p:nvPr/>
        </p:nvSpPr>
        <p:spPr>
          <a:xfrm>
            <a:off x="6660232" y="4870156"/>
            <a:ext cx="248162" cy="108506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Title 1"/>
          <p:cNvSpPr txBox="1">
            <a:spLocks/>
          </p:cNvSpPr>
          <p:nvPr/>
        </p:nvSpPr>
        <p:spPr bwMode="auto">
          <a:xfrm>
            <a:off x="6908393" y="4870156"/>
            <a:ext cx="2235607" cy="120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GB" altLang="en-US" sz="2000" dirty="0" smtClean="0">
                <a:solidFill>
                  <a:srgbClr val="0070C0"/>
                </a:solidFill>
              </a:rPr>
              <a:t>data set attributes</a:t>
            </a:r>
          </a:p>
          <a:p>
            <a:pPr eaLnBrk="1" hangingPunct="1"/>
            <a:r>
              <a:rPr lang="en-GB" altLang="en-US" sz="1800" dirty="0">
                <a:solidFill>
                  <a:srgbClr val="0070C0"/>
                </a:solidFill>
              </a:rPr>
              <a:t>E</a:t>
            </a:r>
            <a:r>
              <a:rPr lang="en-GB" altLang="en-US" sz="1800" dirty="0" smtClean="0">
                <a:solidFill>
                  <a:srgbClr val="0070C0"/>
                </a:solidFill>
              </a:rPr>
              <a:t>.g.:</a:t>
            </a:r>
          </a:p>
          <a:p>
            <a:pPr eaLnBrk="1" hangingPunct="1"/>
            <a:r>
              <a:rPr lang="en-GB" altLang="en-US" sz="1800" dirty="0" smtClean="0">
                <a:solidFill>
                  <a:srgbClr val="0070C0"/>
                </a:solidFill>
              </a:rPr>
              <a:t> volume dimensions;</a:t>
            </a:r>
          </a:p>
          <a:p>
            <a:pPr eaLnBrk="1" hangingPunct="1"/>
            <a:r>
              <a:rPr lang="en-GB" altLang="en-US" sz="1800" dirty="0" smtClean="0">
                <a:solidFill>
                  <a:srgbClr val="0070C0"/>
                </a:solidFill>
              </a:rPr>
              <a:t>subject number</a:t>
            </a:r>
          </a:p>
        </p:txBody>
      </p:sp>
      <p:sp>
        <p:nvSpPr>
          <p:cNvPr id="7" name="Rectangle 6"/>
          <p:cNvSpPr/>
          <p:nvPr/>
        </p:nvSpPr>
        <p:spPr>
          <a:xfrm>
            <a:off x="4355976" y="2281083"/>
            <a:ext cx="4536504" cy="23720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1080607" y="4661414"/>
            <a:ext cx="3275369" cy="20659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p:cNvSpPr/>
          <p:nvPr/>
        </p:nvSpPr>
        <p:spPr>
          <a:xfrm>
            <a:off x="4366396" y="4706998"/>
            <a:ext cx="4670100" cy="1367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itle 1"/>
          <p:cNvSpPr txBox="1">
            <a:spLocks/>
          </p:cNvSpPr>
          <p:nvPr/>
        </p:nvSpPr>
        <p:spPr bwMode="auto">
          <a:xfrm>
            <a:off x="6616939" y="6406051"/>
            <a:ext cx="2419557"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t>Back to demo!</a:t>
            </a:r>
            <a:endParaRPr lang="en-GB" altLang="en-US" sz="2800" b="1" dirty="0"/>
          </a:p>
        </p:txBody>
      </p:sp>
    </p:spTree>
    <p:extLst>
      <p:ext uri="{BB962C8B-B14F-4D97-AF65-F5344CB8AC3E}">
        <p14:creationId xmlns:p14="http://schemas.microsoft.com/office/powerpoint/2010/main" val="219143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2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6">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uiExpand="1" build="p"/>
      <p:bldP spid="20" grpId="0" uiExpand="1" build="p"/>
      <p:bldP spid="26" grpId="0" uiExpand="1" build="p"/>
      <p:bldP spid="7" grpId="0" animBg="1"/>
      <p:bldP spid="27" grpId="0" animBg="1"/>
      <p:bldP spid="28" grpId="0" animBg="1"/>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95288" y="409575"/>
            <a:ext cx="4105275"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3"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8313" y="2997200"/>
            <a:ext cx="4600575"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4" name="Picture 4"/>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448300" y="115888"/>
            <a:ext cx="2940050" cy="6538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14660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9552" y="1196752"/>
            <a:ext cx="8208912" cy="5497371"/>
          </a:xfrm>
          <a:prstGeom prst="rect">
            <a:avLst/>
          </a:prstGeom>
        </p:spPr>
      </p:pic>
      <p:sp>
        <p:nvSpPr>
          <p:cNvPr id="9" name="Title 1"/>
          <p:cNvSpPr txBox="1">
            <a:spLocks/>
          </p:cNvSpPr>
          <p:nvPr/>
        </p:nvSpPr>
        <p:spPr bwMode="auto">
          <a:xfrm>
            <a:off x="457200" y="188640"/>
            <a:ext cx="8229600" cy="778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t>Schematic  of “</a:t>
            </a:r>
            <a:r>
              <a:rPr lang="en-GB" altLang="en-US" sz="2800" b="1" dirty="0" err="1" smtClean="0"/>
              <a:t>Haxby</a:t>
            </a:r>
            <a:r>
              <a:rPr lang="en-GB" altLang="en-US" sz="2800" b="1" dirty="0" smtClean="0"/>
              <a:t>-style” split-half correlation approach:</a:t>
            </a:r>
            <a:endParaRPr lang="en-GB" altLang="en-US" sz="2800" b="1" dirty="0"/>
          </a:p>
        </p:txBody>
      </p:sp>
    </p:spTree>
    <p:extLst>
      <p:ext uri="{BB962C8B-B14F-4D97-AF65-F5344CB8AC3E}">
        <p14:creationId xmlns:p14="http://schemas.microsoft.com/office/powerpoint/2010/main" val="673200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Content Placeholder 1"/>
          <p:cNvSpPr>
            <a:spLocks noGrp="1"/>
          </p:cNvSpPr>
          <p:nvPr>
            <p:ph idx="1"/>
          </p:nvPr>
        </p:nvSpPr>
        <p:spPr>
          <a:xfrm>
            <a:off x="755575" y="2564904"/>
            <a:ext cx="7632848" cy="3559869"/>
          </a:xfrm>
        </p:spPr>
        <p:txBody>
          <a:bodyPr/>
          <a:lstStyle/>
          <a:p>
            <a:pPr eaLnBrk="1" hangingPunct="1"/>
            <a:r>
              <a:rPr lang="en-GB" altLang="en-US" sz="2800" dirty="0" smtClean="0"/>
              <a:t>Typical classification uses multiple samples per class – by characterising the covariance of responses it is potentially more sensitive than split-half correlation analysis</a:t>
            </a:r>
          </a:p>
          <a:p>
            <a:pPr eaLnBrk="1" hangingPunct="1"/>
            <a:r>
              <a:rPr lang="en-GB" altLang="en-US" sz="2800" dirty="0" smtClean="0"/>
              <a:t>Typical classifiers use Euclidean rather than correlation distance, which is invariant to shifts and rotations, and has a well-defined noise distribution.</a:t>
            </a:r>
            <a:endParaRPr lang="en-GB" altLang="en-US" sz="2400" dirty="0" smtClean="0"/>
          </a:p>
        </p:txBody>
      </p:sp>
      <p:pic>
        <p:nvPicPr>
          <p:cNvPr id="2" name="Picture 1"/>
          <p:cNvPicPr>
            <a:picLocks noChangeAspect="1"/>
          </p:cNvPicPr>
          <p:nvPr/>
        </p:nvPicPr>
        <p:blipFill>
          <a:blip r:embed="rId3"/>
          <a:stretch>
            <a:fillRect/>
          </a:stretch>
        </p:blipFill>
        <p:spPr>
          <a:xfrm>
            <a:off x="506402" y="260648"/>
            <a:ext cx="8131195" cy="2044482"/>
          </a:xfrm>
          <a:prstGeom prst="rect">
            <a:avLst/>
          </a:prstGeom>
        </p:spPr>
      </p:pic>
    </p:spTree>
    <p:extLst>
      <p:ext uri="{BB962C8B-B14F-4D97-AF65-F5344CB8AC3E}">
        <p14:creationId xmlns:p14="http://schemas.microsoft.com/office/powerpoint/2010/main" val="146149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GB" altLang="en-US" sz="3600" b="1" dirty="0" smtClean="0"/>
              <a:t>Boundary placement:</a:t>
            </a:r>
            <a:br>
              <a:rPr lang="en-GB" altLang="en-US" sz="3600" b="1" dirty="0" smtClean="0"/>
            </a:br>
            <a:r>
              <a:rPr lang="en-GB" altLang="en-US" sz="3600" b="1" dirty="0" smtClean="0"/>
              <a:t>some linear classifiers</a:t>
            </a:r>
            <a:endParaRPr lang="en-GB" altLang="en-US" sz="3600" dirty="0" smtClean="0"/>
          </a:p>
        </p:txBody>
      </p:sp>
      <p:pic>
        <p:nvPicPr>
          <p:cNvPr id="53251" name="Content Placeholder 4" descr="fig2-differentLinearClassifiers5_ema_7.gif"/>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a:xfrm>
            <a:off x="47625" y="2060029"/>
            <a:ext cx="9061450" cy="2952750"/>
          </a:xfrm>
        </p:spPr>
      </p:pic>
      <p:sp>
        <p:nvSpPr>
          <p:cNvPr id="6" name="Rectangle 5"/>
          <p:cNvSpPr/>
          <p:nvPr/>
        </p:nvSpPr>
        <p:spPr>
          <a:xfrm>
            <a:off x="34925" y="1556792"/>
            <a:ext cx="2987675" cy="3600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 name="Rectangle 6"/>
          <p:cNvSpPr/>
          <p:nvPr/>
        </p:nvSpPr>
        <p:spPr>
          <a:xfrm>
            <a:off x="6121400" y="1736179"/>
            <a:ext cx="2987675" cy="3600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8" name="TextBox 7"/>
          <p:cNvSpPr txBox="1">
            <a:spLocks noChangeArrowheads="1"/>
          </p:cNvSpPr>
          <p:nvPr/>
        </p:nvSpPr>
        <p:spPr bwMode="auto">
          <a:xfrm>
            <a:off x="211138" y="4962529"/>
            <a:ext cx="2811462"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400" dirty="0" smtClean="0"/>
              <a:t>(AKA centroid-nearest neighbor)</a:t>
            </a:r>
          </a:p>
          <a:p>
            <a:pPr eaLnBrk="1" hangingPunct="1">
              <a:spcBef>
                <a:spcPct val="0"/>
              </a:spcBef>
              <a:buFontTx/>
              <a:buNone/>
            </a:pPr>
            <a:endParaRPr lang="en-US" altLang="en-US" sz="900" dirty="0"/>
          </a:p>
          <a:p>
            <a:pPr eaLnBrk="1" hangingPunct="1">
              <a:spcBef>
                <a:spcPct val="0"/>
              </a:spcBef>
              <a:buFontTx/>
              <a:buNone/>
            </a:pPr>
            <a:r>
              <a:rPr lang="en-US" altLang="en-US" sz="1800" dirty="0" smtClean="0"/>
              <a:t>assumes  </a:t>
            </a:r>
            <a:r>
              <a:rPr lang="en-US" altLang="en-US" sz="1800" dirty="0"/>
              <a:t>identical and isotropic distributions </a:t>
            </a:r>
            <a:endParaRPr lang="en-GB" altLang="en-US" sz="1800" dirty="0"/>
          </a:p>
        </p:txBody>
      </p:sp>
      <p:sp>
        <p:nvSpPr>
          <p:cNvPr id="9" name="TextBox 8"/>
          <p:cNvSpPr txBox="1">
            <a:spLocks noChangeArrowheads="1"/>
          </p:cNvSpPr>
          <p:nvPr/>
        </p:nvSpPr>
        <p:spPr bwMode="auto">
          <a:xfrm>
            <a:off x="3317902" y="4797152"/>
            <a:ext cx="2376487"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smtClean="0"/>
              <a:t>(AKA LDA)</a:t>
            </a:r>
            <a:br>
              <a:rPr lang="en-US" altLang="en-US" sz="1800" dirty="0" smtClean="0"/>
            </a:br>
            <a:r>
              <a:rPr lang="en-US" altLang="en-US" sz="600" dirty="0" smtClean="0"/>
              <a:t/>
            </a:r>
            <a:br>
              <a:rPr lang="en-US" altLang="en-US" sz="600" dirty="0" smtClean="0"/>
            </a:br>
            <a:r>
              <a:rPr lang="en-US" altLang="en-US" sz="1800" dirty="0" smtClean="0"/>
              <a:t>assumes  </a:t>
            </a:r>
            <a:r>
              <a:rPr lang="en-US" altLang="en-US" sz="1800" dirty="0"/>
              <a:t>identical and multivariate normal distributions (need to estimate </a:t>
            </a:r>
            <a:r>
              <a:rPr lang="en-US" altLang="en-US" sz="1800" dirty="0" smtClean="0"/>
              <a:t>covariance)</a:t>
            </a:r>
            <a:endParaRPr lang="en-GB" altLang="en-US" sz="1800" dirty="0"/>
          </a:p>
        </p:txBody>
      </p:sp>
      <p:sp>
        <p:nvSpPr>
          <p:cNvPr id="10" name="TextBox 9"/>
          <p:cNvSpPr txBox="1">
            <a:spLocks noChangeArrowheads="1"/>
          </p:cNvSpPr>
          <p:nvPr/>
        </p:nvSpPr>
        <p:spPr bwMode="auto">
          <a:xfrm>
            <a:off x="6483350" y="5157242"/>
            <a:ext cx="21209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no assumptions about distributions</a:t>
            </a:r>
          </a:p>
          <a:p>
            <a:pPr eaLnBrk="1" hangingPunct="1">
              <a:spcBef>
                <a:spcPct val="0"/>
              </a:spcBef>
              <a:buFontTx/>
              <a:buNone/>
            </a:pPr>
            <a:r>
              <a:rPr lang="en-US" altLang="en-US" sz="1800"/>
              <a:t>(need to choose C, or nu)</a:t>
            </a:r>
            <a:endParaRPr lang="en-GB" altLang="en-US" sz="1800"/>
          </a:p>
        </p:txBody>
      </p:sp>
      <p:sp>
        <p:nvSpPr>
          <p:cNvPr id="11" name="Text Box 4"/>
          <p:cNvSpPr txBox="1">
            <a:spLocks noChangeArrowheads="1"/>
          </p:cNvSpPr>
          <p:nvPr/>
        </p:nvSpPr>
        <p:spPr bwMode="auto">
          <a:xfrm>
            <a:off x="6588224" y="6433393"/>
            <a:ext cx="2403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smtClean="0">
                <a:latin typeface="Times New Roman" panose="02020603050405020304" pitchFamily="18" charset="0"/>
              </a:rPr>
              <a:t>Mur </a:t>
            </a:r>
            <a:r>
              <a:rPr lang="en-GB" altLang="en-US" sz="1400" i="1" dirty="0">
                <a:latin typeface="Times New Roman" panose="02020603050405020304" pitchFamily="18" charset="0"/>
              </a:rPr>
              <a:t>et al. (2009)</a:t>
            </a:r>
            <a:endParaRPr lang="en-US" altLang="en-US" sz="1400" i="1" dirty="0">
              <a:latin typeface="Times New Roman" panose="02020603050405020304" pitchFamily="18" charset="0"/>
            </a:endParaRPr>
          </a:p>
        </p:txBody>
      </p:sp>
    </p:spTree>
    <p:extLst>
      <p:ext uri="{BB962C8B-B14F-4D97-AF65-F5344CB8AC3E}">
        <p14:creationId xmlns:p14="http://schemas.microsoft.com/office/powerpoint/2010/main" val="16586323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sz="3600" b="1" smtClean="0"/>
              <a:t>Which classifier is best?</a:t>
            </a:r>
            <a:endParaRPr lang="en-GB" altLang="en-US" sz="3600" b="1" smtClean="0"/>
          </a:p>
        </p:txBody>
      </p:sp>
      <p:sp>
        <p:nvSpPr>
          <p:cNvPr id="3" name="Content Placeholder 2"/>
          <p:cNvSpPr>
            <a:spLocks noGrp="1"/>
          </p:cNvSpPr>
          <p:nvPr>
            <p:ph idx="1"/>
          </p:nvPr>
        </p:nvSpPr>
        <p:spPr/>
        <p:txBody>
          <a:bodyPr/>
          <a:lstStyle/>
          <a:p>
            <a:pPr>
              <a:buFont typeface="Arial" panose="020B0604020202020204" pitchFamily="34" charset="0"/>
              <a:buNone/>
            </a:pPr>
            <a:r>
              <a:rPr lang="en-US" altLang="en-US" sz="2800" dirty="0" smtClean="0"/>
              <a:t>Will depend on: </a:t>
            </a:r>
          </a:p>
          <a:p>
            <a:r>
              <a:rPr lang="en-US" altLang="en-US" sz="2800" dirty="0" smtClean="0"/>
              <a:t>how well each classifier’s assumptions are met</a:t>
            </a:r>
          </a:p>
          <a:p>
            <a:r>
              <a:rPr lang="en-US" altLang="en-US" sz="2800" dirty="0" smtClean="0"/>
              <a:t>how much data are available</a:t>
            </a:r>
          </a:p>
          <a:p>
            <a:r>
              <a:rPr lang="en-US" altLang="en-US" sz="2800" dirty="0"/>
              <a:t>d</a:t>
            </a:r>
            <a:r>
              <a:rPr lang="en-US" altLang="en-US" sz="2800" dirty="0" smtClean="0"/>
              <a:t>esired inference/interpretation</a:t>
            </a:r>
          </a:p>
          <a:p>
            <a:endParaRPr lang="en-US" altLang="en-US" sz="2800" dirty="0" smtClean="0"/>
          </a:p>
          <a:p>
            <a:pPr>
              <a:buFont typeface="Arial" panose="020B0604020202020204" pitchFamily="34" charset="0"/>
              <a:buNone/>
            </a:pPr>
            <a:r>
              <a:rPr lang="en-US" altLang="en-US" sz="2800" u="sng" dirty="0" smtClean="0"/>
              <a:t>Linear</a:t>
            </a:r>
            <a:r>
              <a:rPr lang="en-US" altLang="en-US" sz="2800" dirty="0" smtClean="0"/>
              <a:t> SVM and Fisher </a:t>
            </a:r>
            <a:r>
              <a:rPr lang="en-US" altLang="en-US" sz="2800" u="sng" dirty="0" smtClean="0"/>
              <a:t>linear</a:t>
            </a:r>
            <a:r>
              <a:rPr lang="en-US" altLang="en-US" sz="2800" dirty="0" smtClean="0"/>
              <a:t> discriminant (with shrinkage covariance estimator) often perform well for fMRI data.</a:t>
            </a:r>
            <a:endParaRPr lang="en-GB" altLang="en-US" sz="2800" dirty="0" smtClean="0"/>
          </a:p>
        </p:txBody>
      </p:sp>
      <p:sp>
        <p:nvSpPr>
          <p:cNvPr id="4" name="TextBox 3"/>
          <p:cNvSpPr txBox="1">
            <a:spLocks noChangeArrowheads="1"/>
          </p:cNvSpPr>
          <p:nvPr/>
        </p:nvSpPr>
        <p:spPr bwMode="auto">
          <a:xfrm>
            <a:off x="5796136" y="6237288"/>
            <a:ext cx="3347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err="1"/>
              <a:t>Misaki</a:t>
            </a:r>
            <a:r>
              <a:rPr lang="en-US" altLang="en-US" sz="1800" dirty="0"/>
              <a:t> et al. </a:t>
            </a:r>
            <a:r>
              <a:rPr lang="en-US" altLang="en-US" sz="1800" dirty="0" smtClean="0"/>
              <a:t>2010; Pereira 2011</a:t>
            </a:r>
            <a:endParaRPr lang="en-GB" altLang="en-US" sz="1800" dirty="0"/>
          </a:p>
        </p:txBody>
      </p:sp>
    </p:spTree>
    <p:extLst>
      <p:ext uri="{BB962C8B-B14F-4D97-AF65-F5344CB8AC3E}">
        <p14:creationId xmlns:p14="http://schemas.microsoft.com/office/powerpoint/2010/main" val="38957949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38138"/>
          </a:xfrm>
        </p:spPr>
        <p:txBody>
          <a:bodyPr/>
          <a:lstStyle/>
          <a:p>
            <a:r>
              <a:rPr lang="en-GB" sz="2400" dirty="0"/>
              <a:t>Here is the SVM classifier from before, fit to the training </a:t>
            </a:r>
            <a:r>
              <a:rPr lang="en-GB" sz="2400" dirty="0" smtClean="0"/>
              <a:t>data</a:t>
            </a:r>
            <a:br>
              <a:rPr lang="en-GB" sz="2400" dirty="0" smtClean="0"/>
            </a:br>
            <a:r>
              <a:rPr lang="en-GB" sz="2400" dirty="0" smtClean="0"/>
              <a:t>It </a:t>
            </a:r>
            <a:r>
              <a:rPr lang="en-GB" sz="2400" dirty="0"/>
              <a:t>has made two </a:t>
            </a:r>
            <a:r>
              <a:rPr lang="en-GB" sz="2400" dirty="0" smtClean="0"/>
              <a:t>mistakes</a:t>
            </a:r>
            <a:r>
              <a:rPr lang="en-GB" sz="2400" dirty="0"/>
              <a:t/>
            </a:r>
            <a:br>
              <a:rPr lang="en-GB" sz="2400" dirty="0"/>
            </a:br>
            <a:r>
              <a:rPr lang="en-US" altLang="en-US" sz="2800" b="1" dirty="0" smtClean="0"/>
              <a:t>Can we do better?</a:t>
            </a:r>
            <a:endParaRPr lang="en-GB" altLang="en-US" sz="2800" b="1" dirty="0" smtClean="0"/>
          </a:p>
        </p:txBody>
      </p:sp>
      <p:pic>
        <p:nvPicPr>
          <p:cNvPr id="16" name="Picture 15"/>
          <p:cNvPicPr>
            <a:picLocks noChangeAspect="1"/>
          </p:cNvPicPr>
          <p:nvPr/>
        </p:nvPicPr>
        <p:blipFill>
          <a:blip r:embed="rId3"/>
          <a:stretch>
            <a:fillRect/>
          </a:stretch>
        </p:blipFill>
        <p:spPr>
          <a:xfrm>
            <a:off x="2123728" y="1916832"/>
            <a:ext cx="4387096" cy="4303315"/>
          </a:xfrm>
          <a:prstGeom prst="rect">
            <a:avLst/>
          </a:prstGeom>
        </p:spPr>
      </p:pic>
    </p:spTree>
    <p:extLst>
      <p:ext uri="{BB962C8B-B14F-4D97-AF65-F5344CB8AC3E}">
        <p14:creationId xmlns:p14="http://schemas.microsoft.com/office/powerpoint/2010/main" val="9364004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endParaRPr lang="en-GB" altLang="en-US" smtClean="0"/>
          </a:p>
        </p:txBody>
      </p:sp>
      <p:pic>
        <p:nvPicPr>
          <p:cNvPr id="57347" name="Content Placeholder 3" descr="granada_nonlinear_decisionBoundary_3.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71775" y="1943100"/>
            <a:ext cx="3690938" cy="3717925"/>
          </a:xfrm>
        </p:spPr>
      </p:pic>
      <p:sp>
        <p:nvSpPr>
          <p:cNvPr id="14" name="TextBox 13"/>
          <p:cNvSpPr txBox="1">
            <a:spLocks noChangeArrowheads="1"/>
          </p:cNvSpPr>
          <p:nvPr/>
        </p:nvSpPr>
        <p:spPr bwMode="auto">
          <a:xfrm>
            <a:off x="6875463" y="3933825"/>
            <a:ext cx="16938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t>nonlinear </a:t>
            </a:r>
          </a:p>
          <a:p>
            <a:pPr eaLnBrk="1" hangingPunct="1">
              <a:spcBef>
                <a:spcPct val="0"/>
              </a:spcBef>
              <a:buFontTx/>
              <a:buNone/>
            </a:pPr>
            <a:r>
              <a:rPr lang="en-US" altLang="en-US" sz="2400" dirty="0"/>
              <a:t>classifier</a:t>
            </a:r>
            <a:endParaRPr lang="en-GB" altLang="en-US" sz="2400" dirty="0"/>
          </a:p>
        </p:txBody>
      </p:sp>
    </p:spTree>
    <p:extLst>
      <p:ext uri="{BB962C8B-B14F-4D97-AF65-F5344CB8AC3E}">
        <p14:creationId xmlns:p14="http://schemas.microsoft.com/office/powerpoint/2010/main" val="33580372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457200" y="274638"/>
            <a:ext cx="8229600" cy="850900"/>
          </a:xfrm>
        </p:spPr>
        <p:txBody>
          <a:bodyPr/>
          <a:lstStyle/>
          <a:p>
            <a:r>
              <a:rPr lang="en-GB" altLang="en-US" smtClean="0"/>
              <a:t>Some non-linear classifiers</a:t>
            </a:r>
          </a:p>
        </p:txBody>
      </p:sp>
      <p:sp>
        <p:nvSpPr>
          <p:cNvPr id="5" name="TextBox 4"/>
          <p:cNvSpPr txBox="1">
            <a:spLocks noChangeArrowheads="1"/>
          </p:cNvSpPr>
          <p:nvPr/>
        </p:nvSpPr>
        <p:spPr bwMode="auto">
          <a:xfrm>
            <a:off x="539750" y="4868863"/>
            <a:ext cx="25209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Nonparametric </a:t>
            </a:r>
            <a:br>
              <a:rPr lang="en-US" altLang="en-US" sz="1800" dirty="0"/>
            </a:br>
            <a:r>
              <a:rPr lang="en-US" altLang="en-US" sz="1800" dirty="0"/>
              <a:t>(need to select </a:t>
            </a:r>
            <a:r>
              <a:rPr lang="en-US" altLang="en-US" sz="1800" dirty="0" smtClean="0"/>
              <a:t>k,</a:t>
            </a:r>
            <a:br>
              <a:rPr lang="en-US" altLang="en-US" sz="1800" dirty="0" smtClean="0"/>
            </a:br>
            <a:r>
              <a:rPr lang="en-US" altLang="en-US" sz="1800" dirty="0" smtClean="0"/>
              <a:t>and distance metric)</a:t>
            </a:r>
            <a:endParaRPr lang="en-GB" altLang="en-US" sz="1800" dirty="0"/>
          </a:p>
        </p:txBody>
      </p:sp>
      <p:sp>
        <p:nvSpPr>
          <p:cNvPr id="6" name="TextBox 5"/>
          <p:cNvSpPr txBox="1">
            <a:spLocks noChangeArrowheads="1"/>
          </p:cNvSpPr>
          <p:nvPr/>
        </p:nvSpPr>
        <p:spPr bwMode="auto">
          <a:xfrm>
            <a:off x="3131839" y="4881563"/>
            <a:ext cx="288002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A</a:t>
            </a:r>
            <a:r>
              <a:rPr lang="en-US" altLang="en-US" sz="1800" dirty="0" smtClean="0"/>
              <a:t>ssumes  </a:t>
            </a:r>
            <a:r>
              <a:rPr lang="en-US" altLang="en-US" sz="1800" dirty="0"/>
              <a:t>multivariate, but non-identical, normal distributions </a:t>
            </a:r>
          </a:p>
          <a:p>
            <a:pPr algn="ctr" eaLnBrk="1" hangingPunct="1">
              <a:spcBef>
                <a:spcPct val="0"/>
              </a:spcBef>
              <a:buFontTx/>
              <a:buNone/>
            </a:pPr>
            <a:r>
              <a:rPr lang="en-US" altLang="en-US" sz="1800" dirty="0" smtClean="0"/>
              <a:t>(“Naïve”  because ignores </a:t>
            </a:r>
            <a:r>
              <a:rPr lang="en-US" altLang="en-US" sz="1800" dirty="0"/>
              <a:t>voxel </a:t>
            </a:r>
            <a:r>
              <a:rPr lang="en-US" altLang="en-US" sz="1800" dirty="0" smtClean="0"/>
              <a:t>correlation; </a:t>
            </a:r>
            <a:br>
              <a:rPr lang="en-US" altLang="en-US" sz="1800" dirty="0" smtClean="0"/>
            </a:br>
            <a:r>
              <a:rPr lang="en-US" altLang="en-US" sz="1800" dirty="0" smtClean="0"/>
              <a:t>otherwise QDA)</a:t>
            </a:r>
            <a:endParaRPr lang="en-GB" altLang="en-US" sz="1800" dirty="0"/>
          </a:p>
        </p:txBody>
      </p:sp>
      <p:sp>
        <p:nvSpPr>
          <p:cNvPr id="7" name="TextBox 6"/>
          <p:cNvSpPr txBox="1">
            <a:spLocks noChangeArrowheads="1"/>
          </p:cNvSpPr>
          <p:nvPr/>
        </p:nvSpPr>
        <p:spPr bwMode="auto">
          <a:xfrm>
            <a:off x="6156325" y="4870450"/>
            <a:ext cx="23764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N</a:t>
            </a:r>
            <a:r>
              <a:rPr lang="en-US" altLang="en-US" sz="1800" dirty="0" smtClean="0"/>
              <a:t>o </a:t>
            </a:r>
            <a:r>
              <a:rPr lang="en-US" altLang="en-US" sz="1800" dirty="0"/>
              <a:t>assumptions about distributions</a:t>
            </a:r>
          </a:p>
          <a:p>
            <a:pPr algn="ctr" eaLnBrk="1" hangingPunct="1">
              <a:spcBef>
                <a:spcPct val="0"/>
              </a:spcBef>
              <a:buFontTx/>
              <a:buNone/>
            </a:pPr>
            <a:r>
              <a:rPr lang="en-US" altLang="en-US" sz="1800" dirty="0"/>
              <a:t>(need parameter selection)</a:t>
            </a:r>
            <a:endParaRPr lang="en-GB" altLang="en-US" sz="1800" dirty="0"/>
          </a:p>
        </p:txBody>
      </p:sp>
      <p:pic>
        <p:nvPicPr>
          <p:cNvPr id="58374" name="Picture 3"/>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85763" y="1341438"/>
            <a:ext cx="8275637"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a:spLocks noChangeArrowheads="1"/>
          </p:cNvSpPr>
          <p:nvPr/>
        </p:nvSpPr>
        <p:spPr bwMode="auto">
          <a:xfrm>
            <a:off x="7092950" y="6357938"/>
            <a:ext cx="1871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Misaki et al. 2010</a:t>
            </a:r>
            <a:endParaRPr lang="en-GB" altLang="en-US" sz="1800"/>
          </a:p>
        </p:txBody>
      </p:sp>
      <p:sp>
        <p:nvSpPr>
          <p:cNvPr id="58376" name="TextBox 9"/>
          <p:cNvSpPr txBox="1">
            <a:spLocks noChangeArrowheads="1"/>
          </p:cNvSpPr>
          <p:nvPr/>
        </p:nvSpPr>
        <p:spPr bwMode="auto">
          <a:xfrm>
            <a:off x="539750" y="3789363"/>
            <a:ext cx="2520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K-nearest neighbour</a:t>
            </a:r>
            <a:endParaRPr lang="en-GB" altLang="en-US" sz="1800"/>
          </a:p>
        </p:txBody>
      </p:sp>
      <p:sp>
        <p:nvSpPr>
          <p:cNvPr id="58377" name="TextBox 10"/>
          <p:cNvSpPr txBox="1">
            <a:spLocks noChangeArrowheads="1"/>
          </p:cNvSpPr>
          <p:nvPr/>
        </p:nvSpPr>
        <p:spPr bwMode="auto">
          <a:xfrm>
            <a:off x="3338513" y="3789363"/>
            <a:ext cx="25209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(Quadratic)</a:t>
            </a:r>
          </a:p>
          <a:p>
            <a:pPr algn="ctr" eaLnBrk="1" hangingPunct="1">
              <a:spcBef>
                <a:spcPct val="0"/>
              </a:spcBef>
              <a:buFontTx/>
              <a:buNone/>
            </a:pPr>
            <a:r>
              <a:rPr lang="en-US" altLang="en-US" sz="1800" dirty="0"/>
              <a:t>Gaussian Naïve Bayes</a:t>
            </a:r>
            <a:endParaRPr lang="en-GB" altLang="en-US" sz="1800" dirty="0"/>
          </a:p>
        </p:txBody>
      </p:sp>
      <p:sp>
        <p:nvSpPr>
          <p:cNvPr id="58378" name="TextBox 11"/>
          <p:cNvSpPr txBox="1">
            <a:spLocks noChangeArrowheads="1"/>
          </p:cNvSpPr>
          <p:nvPr/>
        </p:nvSpPr>
        <p:spPr bwMode="auto">
          <a:xfrm>
            <a:off x="6011863" y="3789363"/>
            <a:ext cx="288131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SVM with r</a:t>
            </a:r>
            <a:r>
              <a:rPr lang="en-US" altLang="en-US" sz="1800" dirty="0" smtClean="0"/>
              <a:t>adial/polynomial/sigmoid </a:t>
            </a:r>
            <a:r>
              <a:rPr lang="en-US" altLang="en-US" sz="1800" dirty="0"/>
              <a:t>b</a:t>
            </a:r>
            <a:r>
              <a:rPr lang="en-US" altLang="en-US" sz="1800" dirty="0" smtClean="0"/>
              <a:t>asis function</a:t>
            </a:r>
            <a:endParaRPr lang="en-GB" altLang="en-US" sz="1800" dirty="0"/>
          </a:p>
        </p:txBody>
      </p:sp>
    </p:spTree>
    <p:extLst>
      <p:ext uri="{BB962C8B-B14F-4D97-AF65-F5344CB8AC3E}">
        <p14:creationId xmlns:p14="http://schemas.microsoft.com/office/powerpoint/2010/main" val="3621320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GB" altLang="en-US" sz="3200" dirty="0" smtClean="0"/>
              <a:t>In a sense we can do better...</a:t>
            </a:r>
            <a:br>
              <a:rPr lang="en-GB" altLang="en-US" sz="3200" dirty="0" smtClean="0"/>
            </a:br>
            <a:r>
              <a:rPr lang="en-GB" altLang="en-US" sz="3200" dirty="0" smtClean="0"/>
              <a:t>...but can you see a problem?</a:t>
            </a:r>
          </a:p>
        </p:txBody>
      </p:sp>
      <p:pic>
        <p:nvPicPr>
          <p:cNvPr id="57347" name="Content Placeholder 3" descr="granada_nonlinear_decisionBoundary_3.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71775" y="1943100"/>
            <a:ext cx="3690938" cy="3717925"/>
          </a:xfrm>
        </p:spPr>
      </p:pic>
      <p:sp>
        <p:nvSpPr>
          <p:cNvPr id="14" name="TextBox 13"/>
          <p:cNvSpPr txBox="1">
            <a:spLocks noChangeArrowheads="1"/>
          </p:cNvSpPr>
          <p:nvPr/>
        </p:nvSpPr>
        <p:spPr bwMode="auto">
          <a:xfrm>
            <a:off x="6875463" y="3933825"/>
            <a:ext cx="16938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t>nonlinear </a:t>
            </a:r>
          </a:p>
          <a:p>
            <a:pPr eaLnBrk="1" hangingPunct="1">
              <a:spcBef>
                <a:spcPct val="0"/>
              </a:spcBef>
              <a:buFontTx/>
              <a:buNone/>
            </a:pPr>
            <a:r>
              <a:rPr lang="en-US" altLang="en-US" sz="2400" dirty="0"/>
              <a:t>classifier</a:t>
            </a:r>
            <a:endParaRPr lang="en-GB" altLang="en-US" sz="2400" dirty="0"/>
          </a:p>
        </p:txBody>
      </p:sp>
    </p:spTree>
    <p:extLst>
      <p:ext uri="{BB962C8B-B14F-4D97-AF65-F5344CB8AC3E}">
        <p14:creationId xmlns:p14="http://schemas.microsoft.com/office/powerpoint/2010/main" val="10734065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GB" altLang="en-US" sz="3600" b="1" dirty="0" smtClean="0"/>
              <a:t>Each pattern = signal + noise</a:t>
            </a:r>
            <a:endParaRPr lang="en-GB" altLang="en-US" sz="3600" dirty="0" smtClean="0"/>
          </a:p>
        </p:txBody>
      </p:sp>
      <p:pic>
        <p:nvPicPr>
          <p:cNvPr id="59395" name="Content Placeholder 5" descr="granada_pattern_is_signal_plus_noise_1.tif"/>
          <p:cNvPicPr>
            <a:picLocks noGrp="1" noChangeAspect="1"/>
          </p:cNvPicPr>
          <p:nvPr>
            <p:ph idx="1"/>
          </p:nvPr>
        </p:nvPicPr>
        <p:blipFill>
          <a:blip r:embed="rId2">
            <a:extLst>
              <a:ext uri="{28A0092B-C50C-407E-A947-70E740481C1C}">
                <a14:useLocalDpi xmlns:a14="http://schemas.microsoft.com/office/drawing/2010/main"/>
              </a:ext>
            </a:extLst>
          </a:blip>
          <a:srcRect/>
          <a:stretch>
            <a:fillRect/>
          </a:stretch>
        </p:blipFill>
        <p:spPr>
          <a:xfrm>
            <a:off x="2771775" y="1931988"/>
            <a:ext cx="3689350" cy="3729037"/>
          </a:xfrm>
        </p:spPr>
      </p:pic>
    </p:spTree>
    <p:extLst>
      <p:ext uri="{BB962C8B-B14F-4D97-AF65-F5344CB8AC3E}">
        <p14:creationId xmlns:p14="http://schemas.microsoft.com/office/powerpoint/2010/main" val="35446193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GB" altLang="en-US" sz="3600" b="1" dirty="0" smtClean="0"/>
              <a:t>Each pattern = signal + noise</a:t>
            </a:r>
            <a:endParaRPr lang="en-GB" altLang="en-US" sz="3600" dirty="0" smtClean="0"/>
          </a:p>
        </p:txBody>
      </p:sp>
      <p:pic>
        <p:nvPicPr>
          <p:cNvPr id="60419" name="Content Placeholder 7" descr="granada_pattern_is_signal_plus_noise_2.tif"/>
          <p:cNvPicPr>
            <a:picLocks noGrp="1" noChangeAspect="1"/>
          </p:cNvPicPr>
          <p:nvPr>
            <p:ph idx="1"/>
          </p:nvPr>
        </p:nvPicPr>
        <p:blipFill>
          <a:blip r:embed="rId2">
            <a:extLst>
              <a:ext uri="{28A0092B-C50C-407E-A947-70E740481C1C}">
                <a14:useLocalDpi xmlns:a14="http://schemas.microsoft.com/office/drawing/2010/main"/>
              </a:ext>
            </a:extLst>
          </a:blip>
          <a:srcRect/>
          <a:stretch>
            <a:fillRect/>
          </a:stretch>
        </p:blipFill>
        <p:spPr>
          <a:xfrm>
            <a:off x="2771775" y="1974850"/>
            <a:ext cx="3690938" cy="3681413"/>
          </a:xfrm>
        </p:spPr>
      </p:pic>
      <p:sp>
        <p:nvSpPr>
          <p:cNvPr id="13" name="Oval 12"/>
          <p:cNvSpPr/>
          <p:nvPr/>
        </p:nvSpPr>
        <p:spPr>
          <a:xfrm>
            <a:off x="6948488" y="2540000"/>
            <a:ext cx="144462" cy="144463"/>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 name="TextBox 13"/>
          <p:cNvSpPr txBox="1">
            <a:spLocks noChangeArrowheads="1"/>
          </p:cNvSpPr>
          <p:nvPr/>
        </p:nvSpPr>
        <p:spPr bwMode="auto">
          <a:xfrm>
            <a:off x="7235825" y="2401888"/>
            <a:ext cx="17287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measured pattern</a:t>
            </a:r>
          </a:p>
          <a:p>
            <a:pPr eaLnBrk="1" hangingPunct="1">
              <a:spcBef>
                <a:spcPct val="0"/>
              </a:spcBef>
              <a:buFontTx/>
              <a:buNone/>
            </a:pPr>
            <a:r>
              <a:rPr lang="en-US" altLang="en-US" sz="2000"/>
              <a:t>(signal + noise)</a:t>
            </a:r>
            <a:endParaRPr lang="en-GB" altLang="en-US" sz="2000"/>
          </a:p>
        </p:txBody>
      </p:sp>
    </p:spTree>
    <p:extLst>
      <p:ext uri="{BB962C8B-B14F-4D97-AF65-F5344CB8AC3E}">
        <p14:creationId xmlns:p14="http://schemas.microsoft.com/office/powerpoint/2010/main" val="864403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GB" altLang="en-US" sz="3600" b="1" dirty="0" smtClean="0"/>
              <a:t>Each pattern = signal + noise</a:t>
            </a:r>
            <a:endParaRPr lang="en-GB" altLang="en-US" sz="3600" dirty="0" smtClean="0"/>
          </a:p>
        </p:txBody>
      </p:sp>
      <p:pic>
        <p:nvPicPr>
          <p:cNvPr id="61443" name="Content Placeholder 16" descr="granada_pattern_is_signal_plus_noise_3a.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71775" y="1935163"/>
            <a:ext cx="3686175" cy="3717925"/>
          </a:xfrm>
        </p:spPr>
      </p:pic>
      <p:sp>
        <p:nvSpPr>
          <p:cNvPr id="61444" name="TextBox 19"/>
          <p:cNvSpPr txBox="1">
            <a:spLocks noChangeArrowheads="1"/>
          </p:cNvSpPr>
          <p:nvPr/>
        </p:nvSpPr>
        <p:spPr bwMode="auto">
          <a:xfrm>
            <a:off x="7235825" y="3573463"/>
            <a:ext cx="1512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true pattern</a:t>
            </a:r>
          </a:p>
          <a:p>
            <a:pPr eaLnBrk="1" hangingPunct="1">
              <a:spcBef>
                <a:spcPct val="0"/>
              </a:spcBef>
              <a:buFontTx/>
              <a:buNone/>
            </a:pPr>
            <a:r>
              <a:rPr lang="en-US" altLang="en-US" sz="2000"/>
              <a:t>(signal)</a:t>
            </a:r>
            <a:endParaRPr lang="en-GB" altLang="en-US" sz="2000"/>
          </a:p>
        </p:txBody>
      </p:sp>
      <p:sp>
        <p:nvSpPr>
          <p:cNvPr id="21" name="Oval 20"/>
          <p:cNvSpPr/>
          <p:nvPr/>
        </p:nvSpPr>
        <p:spPr>
          <a:xfrm>
            <a:off x="6935788" y="3663950"/>
            <a:ext cx="142875" cy="144463"/>
          </a:xfrm>
          <a:prstGeom prst="ellipse">
            <a:avLst/>
          </a:prstGeom>
          <a:solidFill>
            <a:srgbClr val="6464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 name="Oval 22"/>
          <p:cNvSpPr/>
          <p:nvPr/>
        </p:nvSpPr>
        <p:spPr>
          <a:xfrm>
            <a:off x="6948488" y="2540000"/>
            <a:ext cx="144462" cy="144463"/>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1447" name="TextBox 23"/>
          <p:cNvSpPr txBox="1">
            <a:spLocks noChangeArrowheads="1"/>
          </p:cNvSpPr>
          <p:nvPr/>
        </p:nvSpPr>
        <p:spPr bwMode="auto">
          <a:xfrm>
            <a:off x="7235825" y="2401888"/>
            <a:ext cx="17287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measured pattern</a:t>
            </a:r>
          </a:p>
          <a:p>
            <a:pPr eaLnBrk="1" hangingPunct="1">
              <a:spcBef>
                <a:spcPct val="0"/>
              </a:spcBef>
              <a:buFontTx/>
              <a:buNone/>
            </a:pPr>
            <a:r>
              <a:rPr lang="en-US" altLang="en-US" sz="2000"/>
              <a:t>(signal + noise)</a:t>
            </a:r>
            <a:endParaRPr lang="en-GB" altLang="en-US" sz="2000"/>
          </a:p>
        </p:txBody>
      </p:sp>
    </p:spTree>
    <p:extLst>
      <p:ext uri="{BB962C8B-B14F-4D97-AF65-F5344CB8AC3E}">
        <p14:creationId xmlns:p14="http://schemas.microsoft.com/office/powerpoint/2010/main" val="225010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GB" altLang="en-US" sz="3600" b="1" dirty="0" smtClean="0"/>
              <a:t>Each pattern = signal + noise</a:t>
            </a:r>
            <a:endParaRPr lang="en-GB" altLang="en-US" sz="3600" dirty="0" smtClean="0"/>
          </a:p>
        </p:txBody>
      </p:sp>
      <p:pic>
        <p:nvPicPr>
          <p:cNvPr id="62467" name="Content Placeholder 3" descr="granada_pattern_is_signal_plus_noise_3b.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71775" y="1930400"/>
            <a:ext cx="3698875" cy="3730625"/>
          </a:xfrm>
        </p:spPr>
      </p:pic>
      <p:sp>
        <p:nvSpPr>
          <p:cNvPr id="62468" name="TextBox 5"/>
          <p:cNvSpPr txBox="1">
            <a:spLocks noChangeArrowheads="1"/>
          </p:cNvSpPr>
          <p:nvPr/>
        </p:nvSpPr>
        <p:spPr bwMode="auto">
          <a:xfrm>
            <a:off x="7235825" y="3573463"/>
            <a:ext cx="1512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true pattern</a:t>
            </a:r>
          </a:p>
          <a:p>
            <a:pPr eaLnBrk="1" hangingPunct="1">
              <a:spcBef>
                <a:spcPct val="0"/>
              </a:spcBef>
              <a:buFontTx/>
              <a:buNone/>
            </a:pPr>
            <a:r>
              <a:rPr lang="en-US" altLang="en-US" sz="2000"/>
              <a:t>(signal)</a:t>
            </a:r>
            <a:endParaRPr lang="en-GB" altLang="en-US" sz="2000"/>
          </a:p>
        </p:txBody>
      </p:sp>
      <p:sp>
        <p:nvSpPr>
          <p:cNvPr id="7" name="Oval 6"/>
          <p:cNvSpPr/>
          <p:nvPr/>
        </p:nvSpPr>
        <p:spPr>
          <a:xfrm>
            <a:off x="6935788" y="3663950"/>
            <a:ext cx="142875" cy="144463"/>
          </a:xfrm>
          <a:prstGeom prst="ellipse">
            <a:avLst/>
          </a:prstGeom>
          <a:solidFill>
            <a:srgbClr val="6464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8" name="Oval 7"/>
          <p:cNvSpPr/>
          <p:nvPr/>
        </p:nvSpPr>
        <p:spPr>
          <a:xfrm>
            <a:off x="6948488" y="2540000"/>
            <a:ext cx="144462" cy="144463"/>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2471" name="TextBox 8"/>
          <p:cNvSpPr txBox="1">
            <a:spLocks noChangeArrowheads="1"/>
          </p:cNvSpPr>
          <p:nvPr/>
        </p:nvSpPr>
        <p:spPr bwMode="auto">
          <a:xfrm>
            <a:off x="7235825" y="2401888"/>
            <a:ext cx="17287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measured pattern</a:t>
            </a:r>
          </a:p>
          <a:p>
            <a:pPr eaLnBrk="1" hangingPunct="1">
              <a:spcBef>
                <a:spcPct val="0"/>
              </a:spcBef>
              <a:buFontTx/>
              <a:buNone/>
            </a:pPr>
            <a:r>
              <a:rPr lang="en-US" altLang="en-US" sz="2000"/>
              <a:t>(signal + noise)</a:t>
            </a:r>
            <a:endParaRPr lang="en-GB" altLang="en-US" sz="2000"/>
          </a:p>
        </p:txBody>
      </p:sp>
    </p:spTree>
    <p:extLst>
      <p:ext uri="{BB962C8B-B14F-4D97-AF65-F5344CB8AC3E}">
        <p14:creationId xmlns:p14="http://schemas.microsoft.com/office/powerpoint/2010/main" val="2958572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GB" altLang="en-US" sz="3600" b="1" dirty="0" smtClean="0"/>
              <a:t>Each pattern = signal + noise</a:t>
            </a:r>
            <a:endParaRPr lang="en-GB" altLang="en-US" sz="3600" dirty="0" smtClean="0"/>
          </a:p>
        </p:txBody>
      </p:sp>
      <p:pic>
        <p:nvPicPr>
          <p:cNvPr id="63491" name="Content Placeholder 3" descr="granada_pattern_is_signal_plus_noise_3c.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71775" y="1930400"/>
            <a:ext cx="3698875" cy="3730625"/>
          </a:xfrm>
        </p:spPr>
      </p:pic>
      <p:sp>
        <p:nvSpPr>
          <p:cNvPr id="63492" name="TextBox 5"/>
          <p:cNvSpPr txBox="1">
            <a:spLocks noChangeArrowheads="1"/>
          </p:cNvSpPr>
          <p:nvPr/>
        </p:nvSpPr>
        <p:spPr bwMode="auto">
          <a:xfrm>
            <a:off x="7235825" y="3573463"/>
            <a:ext cx="1512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true pattern</a:t>
            </a:r>
          </a:p>
          <a:p>
            <a:pPr eaLnBrk="1" hangingPunct="1">
              <a:spcBef>
                <a:spcPct val="0"/>
              </a:spcBef>
              <a:buFontTx/>
              <a:buNone/>
            </a:pPr>
            <a:r>
              <a:rPr lang="en-US" altLang="en-US" sz="2000"/>
              <a:t>(signal)</a:t>
            </a:r>
            <a:endParaRPr lang="en-GB" altLang="en-US" sz="2000"/>
          </a:p>
        </p:txBody>
      </p:sp>
      <p:sp>
        <p:nvSpPr>
          <p:cNvPr id="7" name="Oval 6"/>
          <p:cNvSpPr/>
          <p:nvPr/>
        </p:nvSpPr>
        <p:spPr>
          <a:xfrm>
            <a:off x="6935788" y="3663950"/>
            <a:ext cx="142875" cy="144463"/>
          </a:xfrm>
          <a:prstGeom prst="ellipse">
            <a:avLst/>
          </a:prstGeom>
          <a:solidFill>
            <a:srgbClr val="6464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8" name="Oval 7"/>
          <p:cNvSpPr/>
          <p:nvPr/>
        </p:nvSpPr>
        <p:spPr>
          <a:xfrm>
            <a:off x="6948488" y="2540000"/>
            <a:ext cx="144462" cy="144463"/>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3495" name="TextBox 8"/>
          <p:cNvSpPr txBox="1">
            <a:spLocks noChangeArrowheads="1"/>
          </p:cNvSpPr>
          <p:nvPr/>
        </p:nvSpPr>
        <p:spPr bwMode="auto">
          <a:xfrm>
            <a:off x="7235825" y="2401888"/>
            <a:ext cx="17287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measured pattern</a:t>
            </a:r>
          </a:p>
          <a:p>
            <a:pPr eaLnBrk="1" hangingPunct="1">
              <a:spcBef>
                <a:spcPct val="0"/>
              </a:spcBef>
              <a:buFontTx/>
              <a:buNone/>
            </a:pPr>
            <a:r>
              <a:rPr lang="en-US" altLang="en-US" sz="2000"/>
              <a:t>(signal + noise)</a:t>
            </a:r>
            <a:endParaRPr lang="en-GB" altLang="en-US" sz="2000"/>
          </a:p>
        </p:txBody>
      </p:sp>
      <p:cxnSp>
        <p:nvCxnSpPr>
          <p:cNvPr id="11" name="Straight Arrow Connector 10"/>
          <p:cNvCxnSpPr/>
          <p:nvPr/>
        </p:nvCxnSpPr>
        <p:spPr>
          <a:xfrm flipV="1">
            <a:off x="6875463" y="4652963"/>
            <a:ext cx="288925" cy="2889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497" name="TextBox 11"/>
          <p:cNvSpPr txBox="1">
            <a:spLocks noChangeArrowheads="1"/>
          </p:cNvSpPr>
          <p:nvPr/>
        </p:nvSpPr>
        <p:spPr bwMode="auto">
          <a:xfrm>
            <a:off x="7235825" y="4416425"/>
            <a:ext cx="16573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noise displacement</a:t>
            </a:r>
            <a:endParaRPr lang="en-GB" altLang="en-US" sz="2000"/>
          </a:p>
        </p:txBody>
      </p:sp>
    </p:spTree>
    <p:extLst>
      <p:ext uri="{BB962C8B-B14F-4D97-AF65-F5344CB8AC3E}">
        <p14:creationId xmlns:p14="http://schemas.microsoft.com/office/powerpoint/2010/main" val="1382318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b="1" smtClean="0"/>
              <a:t>Overfitting</a:t>
            </a:r>
            <a:endParaRPr lang="en-GB" altLang="en-US" sz="3600" b="1" smtClean="0"/>
          </a:p>
        </p:txBody>
      </p:sp>
      <p:pic>
        <p:nvPicPr>
          <p:cNvPr id="64515" name="Content Placeholder 3" descr="granada_pattern_is_signal_plus_noise_4.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71775" y="1916113"/>
            <a:ext cx="3703638" cy="3744912"/>
          </a:xfrm>
        </p:spPr>
      </p:pic>
    </p:spTree>
    <p:extLst>
      <p:ext uri="{BB962C8B-B14F-4D97-AF65-F5344CB8AC3E}">
        <p14:creationId xmlns:p14="http://schemas.microsoft.com/office/powerpoint/2010/main" val="2646965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80980" y="2345933"/>
            <a:ext cx="4216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996880" y="3416697"/>
            <a:ext cx="360363" cy="7191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 name="Rectangle 6"/>
          <p:cNvSpPr/>
          <p:nvPr/>
        </p:nvSpPr>
        <p:spPr>
          <a:xfrm>
            <a:off x="7733730" y="4959584"/>
            <a:ext cx="1150938" cy="430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 name="Rectangle 9"/>
          <p:cNvSpPr/>
          <p:nvPr/>
        </p:nvSpPr>
        <p:spPr>
          <a:xfrm>
            <a:off x="4780980" y="5382672"/>
            <a:ext cx="4103688" cy="86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 name="Rectangle 10"/>
          <p:cNvSpPr/>
          <p:nvPr/>
        </p:nvSpPr>
        <p:spPr>
          <a:xfrm>
            <a:off x="5587430" y="4959585"/>
            <a:ext cx="647700" cy="573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2" name="TextBox 11"/>
          <p:cNvSpPr txBox="1"/>
          <p:nvPr/>
        </p:nvSpPr>
        <p:spPr>
          <a:xfrm rot="16200000">
            <a:off x="4164832" y="3116089"/>
            <a:ext cx="2160587" cy="338138"/>
          </a:xfrm>
          <a:prstGeom prst="rect">
            <a:avLst/>
          </a:prstGeom>
          <a:noFill/>
        </p:spPr>
        <p:txBody>
          <a:bodyPr>
            <a:spAutoFit/>
          </a:bodyPr>
          <a:lstStyle/>
          <a:p>
            <a:pPr eaLnBrk="1" hangingPunct="1">
              <a:defRPr/>
            </a:pPr>
            <a:r>
              <a:rPr lang="en-US" sz="1600" dirty="0">
                <a:latin typeface="+mj-lt"/>
              </a:rPr>
              <a:t>performance</a:t>
            </a:r>
            <a:endParaRPr lang="en-GB" sz="1600" dirty="0">
              <a:latin typeface="+mj-lt"/>
            </a:endParaRPr>
          </a:p>
        </p:txBody>
      </p:sp>
      <p:sp>
        <p:nvSpPr>
          <p:cNvPr id="14" name="Rectangle 13"/>
          <p:cNvSpPr/>
          <p:nvPr/>
        </p:nvSpPr>
        <p:spPr>
          <a:xfrm>
            <a:off x="6581205" y="4959584"/>
            <a:ext cx="503238" cy="616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pic>
        <p:nvPicPr>
          <p:cNvPr id="8" name="Content Placeholder 3" descr="granada_nonlinear_decisionBoundary_1.tif"/>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076380" y="5581922"/>
            <a:ext cx="1081088"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p:nvPr/>
        </p:nvSpPr>
        <p:spPr>
          <a:xfrm>
            <a:off x="7228905" y="5001022"/>
            <a:ext cx="504825" cy="574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pic>
        <p:nvPicPr>
          <p:cNvPr id="9" name="Content Placeholder 3" descr="granada_pattern_is_signal_plus_noise_4.tif"/>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300343" y="5577160"/>
            <a:ext cx="1081087"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p:cNvSpPr txBox="1"/>
          <p:nvPr/>
        </p:nvSpPr>
        <p:spPr>
          <a:xfrm>
            <a:off x="7416231" y="2420888"/>
            <a:ext cx="1692273" cy="338554"/>
          </a:xfrm>
          <a:prstGeom prst="rect">
            <a:avLst/>
          </a:prstGeom>
          <a:noFill/>
        </p:spPr>
        <p:txBody>
          <a:bodyPr wrap="square">
            <a:spAutoFit/>
          </a:bodyPr>
          <a:lstStyle/>
          <a:p>
            <a:pPr eaLnBrk="1" hangingPunct="1">
              <a:defRPr/>
            </a:pPr>
            <a:r>
              <a:rPr lang="en-US" sz="1600" dirty="0" smtClean="0">
                <a:solidFill>
                  <a:schemeClr val="accent1"/>
                </a:solidFill>
                <a:latin typeface="+mj-lt"/>
              </a:rPr>
              <a:t>(training data)</a:t>
            </a:r>
            <a:endParaRPr lang="en-GB" sz="1600" dirty="0">
              <a:solidFill>
                <a:schemeClr val="accent1"/>
              </a:solidFill>
              <a:latin typeface="+mj-lt"/>
            </a:endParaRPr>
          </a:p>
        </p:txBody>
      </p:sp>
      <p:sp>
        <p:nvSpPr>
          <p:cNvPr id="17" name="TextBox 16"/>
          <p:cNvSpPr txBox="1"/>
          <p:nvPr/>
        </p:nvSpPr>
        <p:spPr>
          <a:xfrm>
            <a:off x="7373020" y="4554518"/>
            <a:ext cx="1788729" cy="338554"/>
          </a:xfrm>
          <a:prstGeom prst="rect">
            <a:avLst/>
          </a:prstGeom>
          <a:noFill/>
        </p:spPr>
        <p:txBody>
          <a:bodyPr wrap="square">
            <a:spAutoFit/>
          </a:bodyPr>
          <a:lstStyle/>
          <a:p>
            <a:pPr eaLnBrk="1" hangingPunct="1">
              <a:defRPr/>
            </a:pPr>
            <a:r>
              <a:rPr lang="en-US" sz="1600" dirty="0" smtClean="0">
                <a:solidFill>
                  <a:schemeClr val="accent1"/>
                </a:solidFill>
                <a:latin typeface="+mj-lt"/>
              </a:rPr>
              <a:t>(held-out test data)</a:t>
            </a:r>
            <a:endParaRPr lang="en-GB" sz="1600" dirty="0">
              <a:solidFill>
                <a:schemeClr val="accent1"/>
              </a:solidFill>
              <a:latin typeface="+mj-lt"/>
            </a:endParaRPr>
          </a:p>
        </p:txBody>
      </p:sp>
      <p:sp>
        <p:nvSpPr>
          <p:cNvPr id="13" name="TextBox 12"/>
          <p:cNvSpPr txBox="1"/>
          <p:nvPr/>
        </p:nvSpPr>
        <p:spPr>
          <a:xfrm>
            <a:off x="7805167" y="4861684"/>
            <a:ext cx="1150938" cy="584775"/>
          </a:xfrm>
          <a:prstGeom prst="rect">
            <a:avLst/>
          </a:prstGeom>
          <a:noFill/>
        </p:spPr>
        <p:txBody>
          <a:bodyPr wrap="square">
            <a:spAutoFit/>
          </a:bodyPr>
          <a:lstStyle/>
          <a:p>
            <a:pPr algn="r" eaLnBrk="1" hangingPunct="1">
              <a:defRPr/>
            </a:pPr>
            <a:r>
              <a:rPr lang="en-US" sz="1600" dirty="0">
                <a:latin typeface="+mj-lt"/>
              </a:rPr>
              <a:t>boundary complexity</a:t>
            </a:r>
            <a:endParaRPr lang="en-GB" sz="1600" dirty="0">
              <a:latin typeface="+mj-lt"/>
            </a:endParaRPr>
          </a:p>
        </p:txBody>
      </p:sp>
      <p:sp>
        <p:nvSpPr>
          <p:cNvPr id="20" name="Title 1"/>
          <p:cNvSpPr>
            <a:spLocks noGrp="1"/>
          </p:cNvSpPr>
          <p:nvPr>
            <p:ph type="title"/>
          </p:nvPr>
        </p:nvSpPr>
        <p:spPr>
          <a:xfrm>
            <a:off x="457200" y="274638"/>
            <a:ext cx="8229600" cy="490066"/>
          </a:xfrm>
        </p:spPr>
        <p:txBody>
          <a:bodyPr/>
          <a:lstStyle/>
          <a:p>
            <a:r>
              <a:rPr lang="en-US" altLang="en-US" sz="3600" b="1" dirty="0" smtClean="0"/>
              <a:t>Overfitting &amp; cross-validation</a:t>
            </a:r>
            <a:endParaRPr lang="en-GB" altLang="en-US" sz="3600" b="1" dirty="0" smtClean="0"/>
          </a:p>
        </p:txBody>
      </p:sp>
      <p:sp>
        <p:nvSpPr>
          <p:cNvPr id="18" name="Content Placeholder 4"/>
          <p:cNvSpPr>
            <a:spLocks noGrp="1"/>
          </p:cNvSpPr>
          <p:nvPr>
            <p:ph idx="1"/>
          </p:nvPr>
        </p:nvSpPr>
        <p:spPr>
          <a:xfrm>
            <a:off x="251520" y="929637"/>
            <a:ext cx="8229600" cy="5739723"/>
          </a:xfrm>
        </p:spPr>
        <p:txBody>
          <a:bodyPr/>
          <a:lstStyle/>
          <a:p>
            <a:pPr marL="0" indent="0">
              <a:buFont typeface="Arial" panose="020B0604020202020204" pitchFamily="34" charset="0"/>
              <a:buNone/>
            </a:pPr>
            <a:r>
              <a:rPr lang="en-US" altLang="en-US" sz="2400" dirty="0" smtClean="0"/>
              <a:t>After determining the decision boundary, we need to test how well the boundary </a:t>
            </a:r>
            <a:r>
              <a:rPr lang="en-US" altLang="en-US" sz="2400" dirty="0" err="1" smtClean="0"/>
              <a:t>generalises</a:t>
            </a:r>
            <a:r>
              <a:rPr lang="en-US" altLang="en-US" sz="2400" dirty="0" smtClean="0"/>
              <a:t> to new data (cross validation), expected to have the same signal, but different noise. </a:t>
            </a:r>
          </a:p>
          <a:p>
            <a:pPr marL="0" indent="0">
              <a:buFont typeface="Arial" panose="020B0604020202020204" pitchFamily="34" charset="0"/>
              <a:buNone/>
            </a:pPr>
            <a:r>
              <a:rPr lang="en-US" altLang="en-US" sz="2400" b="1" dirty="0" smtClean="0"/>
              <a:t/>
            </a:r>
            <a:br>
              <a:rPr lang="en-US" altLang="en-US" sz="2400" b="1" dirty="0" smtClean="0"/>
            </a:br>
            <a:r>
              <a:rPr lang="en-US" altLang="en-US" sz="2400" b="1" dirty="0" smtClean="0"/>
              <a:t>Classifier accuracy will be inflated,</a:t>
            </a:r>
            <a:r>
              <a:rPr lang="en-US" altLang="en-US" sz="2400" b="1" dirty="0"/>
              <a:t/>
            </a:r>
            <a:br>
              <a:rPr lang="en-US" altLang="en-US" sz="2400" b="1" dirty="0"/>
            </a:br>
            <a:r>
              <a:rPr lang="en-US" altLang="en-US" sz="2400" b="1" dirty="0" smtClean="0"/>
              <a:t>if it’s not cross-validated</a:t>
            </a:r>
            <a:r>
              <a:rPr lang="en-US" altLang="en-US" sz="2400" dirty="0" smtClean="0"/>
              <a:t/>
            </a:r>
            <a:br>
              <a:rPr lang="en-US" altLang="en-US" sz="2400" dirty="0" smtClean="0"/>
            </a:br>
            <a:endParaRPr lang="en-US" altLang="en-US" sz="2400" dirty="0" smtClean="0"/>
          </a:p>
          <a:p>
            <a:pPr marL="0" indent="0">
              <a:buNone/>
            </a:pPr>
            <a:r>
              <a:rPr lang="en-US" altLang="en-US" sz="2400" dirty="0" smtClean="0"/>
              <a:t>Linear classifiers usually outperform </a:t>
            </a:r>
            <a:r>
              <a:rPr lang="en-US" altLang="en-US" sz="2400" dirty="0"/>
              <a:t/>
            </a:r>
            <a:br>
              <a:rPr lang="en-US" altLang="en-US" sz="2400" dirty="0"/>
            </a:br>
            <a:r>
              <a:rPr lang="en-US" altLang="en-US" sz="2400" dirty="0"/>
              <a:t>nonlinear classifiers </a:t>
            </a:r>
            <a:r>
              <a:rPr lang="en-US" altLang="en-US" sz="2400" dirty="0" smtClean="0"/>
              <a:t>on fMRI data.</a:t>
            </a:r>
          </a:p>
          <a:p>
            <a:pPr marL="0" indent="0">
              <a:buNone/>
            </a:pPr>
            <a:r>
              <a:rPr lang="en-US" altLang="en-US" sz="2400" dirty="0"/>
              <a:t/>
            </a:r>
            <a:br>
              <a:rPr lang="en-US" altLang="en-US" sz="2400" dirty="0"/>
            </a:br>
            <a:r>
              <a:rPr lang="en-US" altLang="en-US" sz="2000" dirty="0" smtClean="0"/>
              <a:t>Overfitting can be further reduced by:</a:t>
            </a:r>
          </a:p>
          <a:p>
            <a:r>
              <a:rPr lang="en-US" altLang="en-US" sz="2000" dirty="0" err="1" smtClean="0"/>
              <a:t>regularisation</a:t>
            </a:r>
            <a:r>
              <a:rPr lang="en-US" altLang="en-US" sz="2000" dirty="0" smtClean="0"/>
              <a:t> </a:t>
            </a:r>
          </a:p>
          <a:p>
            <a:r>
              <a:rPr lang="en-US" altLang="en-US" sz="2000" dirty="0" smtClean="0"/>
              <a:t>reduce dimensionality of activity patterns </a:t>
            </a:r>
            <a:br>
              <a:rPr lang="en-US" altLang="en-US" sz="2000" dirty="0" smtClean="0"/>
            </a:br>
            <a:r>
              <a:rPr lang="en-US" altLang="en-US" sz="2000" dirty="0" smtClean="0"/>
              <a:t>(e.g. voxel selection or PCA)</a:t>
            </a:r>
          </a:p>
          <a:p>
            <a:r>
              <a:rPr lang="en-US" altLang="en-US" sz="2000" dirty="0" smtClean="0"/>
              <a:t>increase sample size</a:t>
            </a:r>
            <a:r>
              <a:rPr lang="en-US" altLang="en-US" sz="2400" dirty="0" smtClean="0"/>
              <a:t>  </a:t>
            </a:r>
          </a:p>
          <a:p>
            <a:pPr>
              <a:buFont typeface="Arial" panose="020B0604020202020204" pitchFamily="34" charset="0"/>
              <a:buNone/>
            </a:pPr>
            <a:endParaRPr lang="en-US" altLang="en-US" sz="2400" dirty="0" smtClean="0"/>
          </a:p>
          <a:p>
            <a:pPr>
              <a:buFont typeface="Arial" panose="020B0604020202020204" pitchFamily="34" charset="0"/>
              <a:buNone/>
            </a:pPr>
            <a:endParaRPr lang="en-US" altLang="en-US" sz="2400" dirty="0" smtClean="0"/>
          </a:p>
          <a:p>
            <a:pPr>
              <a:buFont typeface="Arial" panose="020B0604020202020204" pitchFamily="34" charset="0"/>
              <a:buNone/>
            </a:pPr>
            <a:r>
              <a:rPr lang="en-US" altLang="en-US" sz="2400" dirty="0" smtClean="0"/>
              <a:t> </a:t>
            </a:r>
            <a:endParaRPr lang="en-GB" altLang="en-US" sz="2400" dirty="0" smtClean="0"/>
          </a:p>
        </p:txBody>
      </p:sp>
    </p:spTree>
    <p:extLst>
      <p:ext uri="{BB962C8B-B14F-4D97-AF65-F5344CB8AC3E}">
        <p14:creationId xmlns:p14="http://schemas.microsoft.com/office/powerpoint/2010/main" val="876529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2" grpId="0"/>
      <p:bldP spid="14" grpId="0" animBg="1"/>
      <p:bldP spid="15" grpId="0" animBg="1"/>
      <p:bldP spid="16" grpId="0"/>
      <p:bldP spid="17" grpId="0"/>
      <p:bldP spid="13" grpId="0"/>
      <p:bldP spid="18"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a:xfrm>
            <a:off x="457200" y="274638"/>
            <a:ext cx="8229600" cy="634082"/>
          </a:xfrm>
        </p:spPr>
        <p:txBody>
          <a:bodyPr/>
          <a:lstStyle/>
          <a:p>
            <a:r>
              <a:rPr lang="en-US" altLang="en-US" sz="3600" b="1" dirty="0" smtClean="0"/>
              <a:t>Performance measures</a:t>
            </a:r>
            <a:endParaRPr lang="en-GB" altLang="en-US" sz="3600" b="1" dirty="0" smtClean="0"/>
          </a:p>
        </p:txBody>
      </p:sp>
      <p:sp>
        <p:nvSpPr>
          <p:cNvPr id="3" name="Content Placeholder 2"/>
          <p:cNvSpPr>
            <a:spLocks noGrp="1"/>
          </p:cNvSpPr>
          <p:nvPr>
            <p:ph idx="1"/>
          </p:nvPr>
        </p:nvSpPr>
        <p:spPr>
          <a:xfrm>
            <a:off x="480516" y="1847691"/>
            <a:ext cx="5554603" cy="4965685"/>
          </a:xfrm>
        </p:spPr>
        <p:txBody>
          <a:bodyPr/>
          <a:lstStyle/>
          <a:p>
            <a:pPr marL="0" indent="0">
              <a:buFont typeface="Arial" panose="020B0604020202020204" pitchFamily="34" charset="0"/>
              <a:buNone/>
              <a:defRPr/>
            </a:pPr>
            <a:r>
              <a:rPr lang="en-GB" altLang="en-US" sz="2800" dirty="0" smtClean="0"/>
              <a:t>Several options, </a:t>
            </a:r>
            <a:br>
              <a:rPr lang="en-GB" altLang="en-US" sz="2800" dirty="0" smtClean="0"/>
            </a:br>
            <a:r>
              <a:rPr lang="en-GB" altLang="en-US" sz="2800" dirty="0" smtClean="0"/>
              <a:t>e.g.:</a:t>
            </a:r>
          </a:p>
          <a:p>
            <a:pPr>
              <a:defRPr/>
            </a:pPr>
            <a:r>
              <a:rPr lang="en-GB" altLang="en-US" sz="2800" dirty="0" smtClean="0"/>
              <a:t>Accuracy </a:t>
            </a:r>
            <a:r>
              <a:rPr lang="en-GB" altLang="en-US" sz="2000" dirty="0" smtClean="0"/>
              <a:t>(proportion correct classifications)</a:t>
            </a:r>
          </a:p>
          <a:p>
            <a:pPr>
              <a:defRPr/>
            </a:pPr>
            <a:r>
              <a:rPr lang="en-GB" altLang="en-US" sz="2800" dirty="0" smtClean="0"/>
              <a:t>Accuracy per class </a:t>
            </a:r>
            <a:r>
              <a:rPr lang="en-GB" altLang="en-US" sz="2000" dirty="0" smtClean="0"/>
              <a:t>(balanced accuracy)</a:t>
            </a:r>
          </a:p>
          <a:p>
            <a:pPr>
              <a:defRPr/>
            </a:pPr>
            <a:r>
              <a:rPr lang="en-GB" altLang="en-US" sz="2800" dirty="0" smtClean="0"/>
              <a:t>D-prime </a:t>
            </a:r>
            <a:r>
              <a:rPr lang="en-GB" altLang="en-US" sz="2000" dirty="0" smtClean="0"/>
              <a:t>(and other sensitivity measures)</a:t>
            </a:r>
          </a:p>
          <a:p>
            <a:pPr>
              <a:defRPr/>
            </a:pPr>
            <a:r>
              <a:rPr lang="en-GB" altLang="en-US" sz="2800" dirty="0" smtClean="0"/>
              <a:t>Area under ROC curve</a:t>
            </a:r>
          </a:p>
          <a:p>
            <a:pPr>
              <a:defRPr/>
            </a:pPr>
            <a:r>
              <a:rPr lang="en-GB" altLang="en-US" sz="2800" dirty="0" smtClean="0"/>
              <a:t>Decision variable </a:t>
            </a:r>
          </a:p>
          <a:p>
            <a:pPr lvl="1">
              <a:defRPr/>
            </a:pPr>
            <a:r>
              <a:rPr lang="en-GB" altLang="en-US" sz="2400" dirty="0" smtClean="0"/>
              <a:t>e.g. signed distance from margin</a:t>
            </a:r>
            <a:endParaRPr lang="en-GB" altLang="en-US" sz="2400" dirty="0"/>
          </a:p>
          <a:p>
            <a:pPr lvl="1">
              <a:defRPr/>
            </a:pPr>
            <a:r>
              <a:rPr lang="en-GB" altLang="en-US" sz="2400" dirty="0" smtClean="0"/>
              <a:t>Probability of correct classification</a:t>
            </a:r>
          </a:p>
          <a:p>
            <a:pPr>
              <a:defRPr/>
            </a:pPr>
            <a:endParaRPr lang="en-US" altLang="en-US" sz="2800" dirty="0" smtClean="0"/>
          </a:p>
          <a:p>
            <a:pPr>
              <a:buFont typeface="Arial" panose="020B0604020202020204" pitchFamily="34" charset="0"/>
              <a:buNone/>
              <a:defRPr/>
            </a:pPr>
            <a:endParaRPr lang="en-US" altLang="en-US" sz="2800" dirty="0" smtClean="0"/>
          </a:p>
        </p:txBody>
      </p:sp>
      <p:graphicFrame>
        <p:nvGraphicFramePr>
          <p:cNvPr id="2" name="Table 1"/>
          <p:cNvGraphicFramePr>
            <a:graphicFrameLocks noGrp="1"/>
          </p:cNvGraphicFramePr>
          <p:nvPr>
            <p:extLst>
              <p:ext uri="{D42A27DB-BD31-4B8C-83A1-F6EECF244321}">
                <p14:modId xmlns:p14="http://schemas.microsoft.com/office/powerpoint/2010/main" val="751220053"/>
              </p:ext>
            </p:extLst>
          </p:nvPr>
        </p:nvGraphicFramePr>
        <p:xfrm>
          <a:off x="9900592" y="1698654"/>
          <a:ext cx="2808312" cy="4680520"/>
        </p:xfrm>
        <a:graphic>
          <a:graphicData uri="http://schemas.openxmlformats.org/drawingml/2006/table">
            <a:tbl>
              <a:tblPr firstRow="1">
                <a:tableStyleId>{3B4B98B0-60AC-42C2-AFA5-B58CD77FA1E5}</a:tableStyleId>
              </a:tblPr>
              <a:tblGrid>
                <a:gridCol w="468052">
                  <a:extLst>
                    <a:ext uri="{9D8B030D-6E8A-4147-A177-3AD203B41FA5}">
                      <a16:colId xmlns:a16="http://schemas.microsoft.com/office/drawing/2014/main" val="3961033514"/>
                    </a:ext>
                  </a:extLst>
                </a:gridCol>
                <a:gridCol w="468052">
                  <a:extLst>
                    <a:ext uri="{9D8B030D-6E8A-4147-A177-3AD203B41FA5}">
                      <a16:colId xmlns:a16="http://schemas.microsoft.com/office/drawing/2014/main" val="441745409"/>
                    </a:ext>
                  </a:extLst>
                </a:gridCol>
                <a:gridCol w="468052">
                  <a:extLst>
                    <a:ext uri="{9D8B030D-6E8A-4147-A177-3AD203B41FA5}">
                      <a16:colId xmlns:a16="http://schemas.microsoft.com/office/drawing/2014/main" val="2993519430"/>
                    </a:ext>
                  </a:extLst>
                </a:gridCol>
                <a:gridCol w="468052">
                  <a:extLst>
                    <a:ext uri="{9D8B030D-6E8A-4147-A177-3AD203B41FA5}">
                      <a16:colId xmlns:a16="http://schemas.microsoft.com/office/drawing/2014/main" val="2736316627"/>
                    </a:ext>
                  </a:extLst>
                </a:gridCol>
                <a:gridCol w="468052">
                  <a:extLst>
                    <a:ext uri="{9D8B030D-6E8A-4147-A177-3AD203B41FA5}">
                      <a16:colId xmlns:a16="http://schemas.microsoft.com/office/drawing/2014/main" val="176052822"/>
                    </a:ext>
                  </a:extLst>
                </a:gridCol>
                <a:gridCol w="468052">
                  <a:extLst>
                    <a:ext uri="{9D8B030D-6E8A-4147-A177-3AD203B41FA5}">
                      <a16:colId xmlns:a16="http://schemas.microsoft.com/office/drawing/2014/main" val="3316610042"/>
                    </a:ext>
                  </a:extLst>
                </a:gridCol>
              </a:tblGrid>
              <a:tr h="1143700">
                <a:tc>
                  <a:txBody>
                    <a:bodyPr/>
                    <a:lstStyle/>
                    <a:p>
                      <a:pPr>
                        <a:lnSpc>
                          <a:spcPts val="1300"/>
                        </a:lnSpc>
                      </a:pPr>
                      <a:r>
                        <a:rPr lang="en-GB" sz="1600" b="0" dirty="0" smtClean="0"/>
                        <a:t>Simple</a:t>
                      </a:r>
                      <a:endParaRPr lang="en-GB" sz="1600" b="0" dirty="0"/>
                    </a:p>
                  </a:txBody>
                  <a:tcPr vert="vert" anchor="ctr">
                    <a:lnT w="12700" cmpd="sng">
                      <a:noFill/>
                    </a:lnT>
                  </a:tcPr>
                </a:tc>
                <a:tc>
                  <a:txBody>
                    <a:bodyPr/>
                    <a:lstStyle/>
                    <a:p>
                      <a:pPr>
                        <a:lnSpc>
                          <a:spcPts val="1300"/>
                        </a:lnSpc>
                      </a:pPr>
                      <a:r>
                        <a:rPr lang="en-GB" sz="1600" b="0" dirty="0" smtClean="0"/>
                        <a:t>Continuous</a:t>
                      </a:r>
                      <a:endParaRPr lang="en-GB" sz="1600" b="0" dirty="0"/>
                    </a:p>
                  </a:txBody>
                  <a:tcPr vert="vert" anchor="ctr">
                    <a:lnT w="12700" cmpd="sng">
                      <a:noFill/>
                    </a:lnT>
                  </a:tcPr>
                </a:tc>
                <a:tc>
                  <a:txBody>
                    <a:bodyPr/>
                    <a:lstStyle/>
                    <a:p>
                      <a:pPr>
                        <a:lnSpc>
                          <a:spcPts val="1300"/>
                        </a:lnSpc>
                      </a:pPr>
                      <a:r>
                        <a:rPr lang="en-GB" sz="1600" b="0" dirty="0" smtClean="0"/>
                        <a:t>Accounts for</a:t>
                      </a:r>
                      <a:br>
                        <a:rPr lang="en-GB" sz="1600" b="0" dirty="0" smtClean="0"/>
                      </a:br>
                      <a:r>
                        <a:rPr lang="en-GB" sz="1600" b="0" dirty="0" smtClean="0"/>
                        <a:t>imbalance</a:t>
                      </a:r>
                      <a:endParaRPr lang="en-GB" sz="1600" b="0" dirty="0"/>
                    </a:p>
                  </a:txBody>
                  <a:tcPr vert="vert" anchor="ctr">
                    <a:lnT w="12700" cmpd="sng">
                      <a:noFill/>
                    </a:lnT>
                  </a:tcPr>
                </a:tc>
                <a:tc>
                  <a:txBody>
                    <a:bodyPr/>
                    <a:lstStyle/>
                    <a:p>
                      <a:pPr>
                        <a:lnSpc>
                          <a:spcPts val="1300"/>
                        </a:lnSpc>
                      </a:pPr>
                      <a:r>
                        <a:rPr lang="en-GB" sz="1600" b="0" dirty="0" smtClean="0"/>
                        <a:t>Insensitive to variance</a:t>
                      </a:r>
                      <a:endParaRPr lang="en-GB" sz="1600" b="0" dirty="0"/>
                    </a:p>
                  </a:txBody>
                  <a:tcPr vert="vert" anchor="ctr">
                    <a:lnT w="12700" cmpd="sng">
                      <a:noFill/>
                    </a:lnT>
                  </a:tcPr>
                </a:tc>
                <a:tc>
                  <a:txBody>
                    <a:bodyPr/>
                    <a:lstStyle/>
                    <a:p>
                      <a:pPr>
                        <a:lnSpc>
                          <a:spcPts val="1300"/>
                        </a:lnSpc>
                      </a:pPr>
                      <a:r>
                        <a:rPr lang="en-GB" sz="1600" b="0" dirty="0" smtClean="0"/>
                        <a:t>Available per sample</a:t>
                      </a:r>
                      <a:endParaRPr lang="en-GB" sz="1600" b="0" dirty="0"/>
                    </a:p>
                  </a:txBody>
                  <a:tcPr vert="vert" anchor="ctr">
                    <a:lnT w="12700" cmpd="sng">
                      <a:noFill/>
                    </a:lnT>
                  </a:tcPr>
                </a:tc>
                <a:tc>
                  <a:txBody>
                    <a:bodyPr/>
                    <a:lstStyle/>
                    <a:p>
                      <a:pPr>
                        <a:lnSpc>
                          <a:spcPts val="1300"/>
                        </a:lnSpc>
                      </a:pPr>
                      <a:r>
                        <a:rPr lang="en-GB" sz="1600" b="0" dirty="0" smtClean="0"/>
                        <a:t>Available for all classifiers</a:t>
                      </a:r>
                      <a:endParaRPr lang="en-GB" sz="1600" b="0" dirty="0"/>
                    </a:p>
                  </a:txBody>
                  <a:tcPr vert="vert" anchor="ctr">
                    <a:lnT w="12700" cmpd="sng">
                      <a:noFill/>
                    </a:lnT>
                  </a:tcPr>
                </a:tc>
                <a:extLst>
                  <a:ext uri="{0D108BD9-81ED-4DB2-BD59-A6C34878D82A}">
                    <a16:rowId xmlns:a16="http://schemas.microsoft.com/office/drawing/2014/main" val="459014741"/>
                  </a:ext>
                </a:extLst>
              </a:tr>
              <a:tr h="505260">
                <a:tc>
                  <a:txBody>
                    <a:bodyPr/>
                    <a:lstStyle/>
                    <a:p>
                      <a:pPr algn="ctr"/>
                      <a:r>
                        <a:rPr lang="en-GB" dirty="0" smtClean="0">
                          <a:solidFill>
                            <a:srgbClr val="00B050"/>
                          </a:solidFill>
                          <a:sym typeface="Wingdings" panose="05000000000000000000" pitchFamily="2" charset="2"/>
                        </a:rPr>
                        <a:t></a:t>
                      </a:r>
                      <a:endParaRPr lang="en-GB"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extLst>
                  <a:ext uri="{0D108BD9-81ED-4DB2-BD59-A6C34878D82A}">
                    <a16:rowId xmlns:a16="http://schemas.microsoft.com/office/drawing/2014/main" val="1193132591"/>
                  </a:ext>
                </a:extLst>
              </a:tr>
              <a:tr h="505260">
                <a:tc>
                  <a:txBody>
                    <a:bodyPr/>
                    <a:lstStyle/>
                    <a:p>
                      <a:pPr algn="ctr"/>
                      <a:r>
                        <a:rPr lang="en-GB" dirty="0" smtClean="0">
                          <a:solidFill>
                            <a:srgbClr val="00B050"/>
                          </a:solidFill>
                          <a:sym typeface="Wingdings" panose="05000000000000000000" pitchFamily="2" charset="2"/>
                        </a:rPr>
                        <a:t></a:t>
                      </a:r>
                      <a:endParaRPr lang="en-GB"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extLst>
                  <a:ext uri="{0D108BD9-81ED-4DB2-BD59-A6C34878D82A}">
                    <a16:rowId xmlns:a16="http://schemas.microsoft.com/office/drawing/2014/main" val="3832508841"/>
                  </a:ext>
                </a:extLst>
              </a:tr>
              <a:tr h="505260">
                <a:tc>
                  <a:txBody>
                    <a:bodyPr/>
                    <a:lstStyle/>
                    <a:p>
                      <a:pPr algn="ctr"/>
                      <a:r>
                        <a:rPr lang="en-GB" dirty="0" smtClean="0">
                          <a:solidFill>
                            <a:schemeClr val="accent6"/>
                          </a:solidFill>
                          <a:sym typeface="Wingdings" panose="05000000000000000000" pitchFamily="2" charset="2"/>
                        </a:rPr>
                        <a:t></a:t>
                      </a:r>
                      <a:endParaRPr lang="en-GB" dirty="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extLst>
                  <a:ext uri="{0D108BD9-81ED-4DB2-BD59-A6C34878D82A}">
                    <a16:rowId xmlns:a16="http://schemas.microsoft.com/office/drawing/2014/main" val="44762122"/>
                  </a:ext>
                </a:extLst>
              </a:tr>
              <a:tr h="5052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extLst>
                  <a:ext uri="{0D108BD9-81ED-4DB2-BD59-A6C34878D82A}">
                    <a16:rowId xmlns:a16="http://schemas.microsoft.com/office/drawing/2014/main" val="979549578"/>
                  </a:ext>
                </a:extLst>
              </a:tr>
              <a:tr h="505260">
                <a:tc>
                  <a:txBody>
                    <a:bodyPr/>
                    <a:lstStyle/>
                    <a:p>
                      <a:pPr algn="ctr"/>
                      <a:endParaRPr lang="en-GB" dirty="0"/>
                    </a:p>
                  </a:txBody>
                  <a:tcPr anchor="ctr"/>
                </a:tc>
                <a:tc>
                  <a:txBody>
                    <a:bodyPr/>
                    <a:lstStyle/>
                    <a:p>
                      <a:pPr algn="ctr"/>
                      <a:endParaRPr lang="en-GB" dirty="0"/>
                    </a:p>
                  </a:txBody>
                  <a:tcPr anchor="ctr"/>
                </a:tc>
                <a:tc>
                  <a:txBody>
                    <a:bodyPr/>
                    <a:lstStyle/>
                    <a:p>
                      <a:pPr algn="ctr"/>
                      <a:endParaRPr lang="en-GB"/>
                    </a:p>
                  </a:txBody>
                  <a:tcPr anchor="ctr"/>
                </a:tc>
                <a:tc>
                  <a:txBody>
                    <a:bodyPr/>
                    <a:lstStyle/>
                    <a:p>
                      <a:pPr algn="ctr"/>
                      <a:endParaRPr lang="en-GB" dirty="0"/>
                    </a:p>
                  </a:txBody>
                  <a:tcPr anchor="ctr"/>
                </a:tc>
                <a:tc>
                  <a:txBody>
                    <a:bodyPr/>
                    <a:lstStyle/>
                    <a:p>
                      <a:pPr algn="ctr"/>
                      <a:endParaRPr lang="en-GB" dirty="0"/>
                    </a:p>
                  </a:txBody>
                  <a:tcPr anchor="ctr"/>
                </a:tc>
                <a:tc>
                  <a:txBody>
                    <a:bodyPr/>
                    <a:lstStyle/>
                    <a:p>
                      <a:pPr algn="ctr"/>
                      <a:endParaRPr lang="en-GB" dirty="0"/>
                    </a:p>
                  </a:txBody>
                  <a:tcPr anchor="ctr"/>
                </a:tc>
                <a:extLst>
                  <a:ext uri="{0D108BD9-81ED-4DB2-BD59-A6C34878D82A}">
                    <a16:rowId xmlns:a16="http://schemas.microsoft.com/office/drawing/2014/main" val="3084351799"/>
                  </a:ext>
                </a:extLst>
              </a:tr>
              <a:tr h="505260">
                <a:tc>
                  <a:txBody>
                    <a:bodyPr/>
                    <a:lstStyle/>
                    <a:p>
                      <a:pPr algn="ctr"/>
                      <a:r>
                        <a:rPr lang="en-GB" dirty="0" smtClean="0">
                          <a:solidFill>
                            <a:schemeClr val="accent6"/>
                          </a:solidFill>
                          <a:sym typeface="Wingdings" panose="05000000000000000000" pitchFamily="2" charset="2"/>
                        </a:rPr>
                        <a:t></a:t>
                      </a:r>
                      <a:endParaRPr lang="en-GB" dirty="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extLst>
                  <a:ext uri="{0D108BD9-81ED-4DB2-BD59-A6C34878D82A}">
                    <a16:rowId xmlns:a16="http://schemas.microsoft.com/office/drawing/2014/main" val="2775518152"/>
                  </a:ext>
                </a:extLst>
              </a:tr>
              <a:tr h="505260">
                <a:tc>
                  <a:txBody>
                    <a:bodyPr/>
                    <a:lstStyle/>
                    <a:p>
                      <a:pPr algn="ctr"/>
                      <a:r>
                        <a:rPr lang="en-GB" dirty="0" smtClean="0">
                          <a:solidFill>
                            <a:srgbClr val="00B050"/>
                          </a:solidFill>
                          <a:sym typeface="Wingdings" panose="05000000000000000000" pitchFamily="2" charset="2"/>
                        </a:rPr>
                        <a:t></a:t>
                      </a:r>
                      <a:endParaRPr lang="en-GB" dirty="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chemeClr val="accent6"/>
                          </a:solidFill>
                          <a:sym typeface="Wingdings" panose="05000000000000000000" pitchFamily="2" charset="2"/>
                        </a:rPr>
                        <a:t></a:t>
                      </a:r>
                      <a:endParaRPr lang="en-GB" dirty="0" smtClean="0">
                        <a:solidFill>
                          <a:schemeClr val="accent6"/>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00B050"/>
                          </a:solidFill>
                          <a:sym typeface="Wingdings" panose="05000000000000000000" pitchFamily="2" charset="2"/>
                        </a:rPr>
                        <a:t></a:t>
                      </a:r>
                      <a:endParaRPr lang="en-GB" dirty="0" smtClean="0">
                        <a:solidFill>
                          <a:srgbClr val="00B05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smtClean="0">
                          <a:solidFill>
                            <a:srgbClr val="FF0000"/>
                          </a:solidFill>
                          <a:sym typeface="Wingdings" panose="05000000000000000000" pitchFamily="2" charset="2"/>
                        </a:rPr>
                        <a:t></a:t>
                      </a:r>
                      <a:endParaRPr lang="en-GB" dirty="0" smtClean="0">
                        <a:solidFill>
                          <a:srgbClr val="FF0000"/>
                        </a:solidFill>
                      </a:endParaRPr>
                    </a:p>
                  </a:txBody>
                  <a:tcPr anchor="ctr"/>
                </a:tc>
                <a:extLst>
                  <a:ext uri="{0D108BD9-81ED-4DB2-BD59-A6C34878D82A}">
                    <a16:rowId xmlns:a16="http://schemas.microsoft.com/office/drawing/2014/main" val="3674918447"/>
                  </a:ext>
                </a:extLst>
              </a:tr>
            </a:tbl>
          </a:graphicData>
        </a:graphic>
      </p:graphicFrame>
      <p:sp>
        <p:nvSpPr>
          <p:cNvPr id="7" name="Content Placeholder 2"/>
          <p:cNvSpPr txBox="1">
            <a:spLocks/>
          </p:cNvSpPr>
          <p:nvPr/>
        </p:nvSpPr>
        <p:spPr bwMode="auto">
          <a:xfrm>
            <a:off x="6032941" y="1125070"/>
            <a:ext cx="2771787" cy="50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defRPr/>
            </a:pPr>
            <a:r>
              <a:rPr lang="en-GB" altLang="en-US" sz="2400" dirty="0" smtClean="0"/>
              <a:t>Possible pros/cons:</a:t>
            </a:r>
            <a:endParaRPr lang="en-GB" altLang="en-US" sz="2000" dirty="0" smtClean="0"/>
          </a:p>
          <a:p>
            <a:pPr algn="ctr">
              <a:defRPr/>
            </a:pPr>
            <a:endParaRPr lang="en-US" altLang="en-US" sz="2800" dirty="0" smtClean="0"/>
          </a:p>
          <a:p>
            <a:pPr algn="ctr">
              <a:buFont typeface="Arial" panose="020B0604020202020204" pitchFamily="34" charset="0"/>
              <a:buNone/>
              <a:defRPr/>
            </a:pPr>
            <a:endParaRPr lang="en-US" altLang="en-US" sz="2800" dirty="0" smtClean="0"/>
          </a:p>
        </p:txBody>
      </p:sp>
      <p:pic>
        <p:nvPicPr>
          <p:cNvPr id="5" name="Picture 4"/>
          <p:cNvPicPr>
            <a:picLocks noChangeAspect="1"/>
          </p:cNvPicPr>
          <p:nvPr/>
        </p:nvPicPr>
        <p:blipFill>
          <a:blip r:embed="rId3"/>
          <a:stretch>
            <a:fillRect/>
          </a:stretch>
        </p:blipFill>
        <p:spPr>
          <a:xfrm>
            <a:off x="6022550" y="1718796"/>
            <a:ext cx="2869930" cy="4662532"/>
          </a:xfrm>
          <a:prstGeom prst="rect">
            <a:avLst/>
          </a:prstGeom>
        </p:spPr>
      </p:pic>
    </p:spTree>
    <p:extLst>
      <p:ext uri="{BB962C8B-B14F-4D97-AF65-F5344CB8AC3E}">
        <p14:creationId xmlns:p14="http://schemas.microsoft.com/office/powerpoint/2010/main" val="1847539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6802" name="Picture 2" descr="ROC Curve plotted when threshold β is varied. Source: Wikimedia Commons 20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1484784"/>
            <a:ext cx="5275337" cy="4968921"/>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ular Callout 2"/>
          <p:cNvSpPr/>
          <p:nvPr/>
        </p:nvSpPr>
        <p:spPr>
          <a:xfrm>
            <a:off x="6660232" y="5445224"/>
            <a:ext cx="2160240" cy="1152128"/>
          </a:xfrm>
          <a:prstGeom prst="wedgeRoundRectCallout">
            <a:avLst>
              <a:gd name="adj1" fmla="val -129892"/>
              <a:gd name="adj2" fmla="val -733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AUROC </a:t>
            </a:r>
            <a:br>
              <a:rPr lang="en-GB" dirty="0" smtClean="0"/>
            </a:br>
            <a:r>
              <a:rPr lang="en-GB" dirty="0" smtClean="0"/>
              <a:t>(area under ROC)</a:t>
            </a:r>
            <a:br>
              <a:rPr lang="en-GB" dirty="0" smtClean="0"/>
            </a:br>
            <a:r>
              <a:rPr lang="en-GB" dirty="0" smtClean="0"/>
              <a:t>Chance = 0.5</a:t>
            </a:r>
            <a:endParaRPr lang="en-GB" dirty="0"/>
          </a:p>
        </p:txBody>
      </p:sp>
      <p:sp>
        <p:nvSpPr>
          <p:cNvPr id="6" name="Rounded Rectangular Callout 5"/>
          <p:cNvSpPr/>
          <p:nvPr/>
        </p:nvSpPr>
        <p:spPr>
          <a:xfrm>
            <a:off x="6660232" y="4377091"/>
            <a:ext cx="2160240" cy="924486"/>
          </a:xfrm>
          <a:prstGeom prst="wedgeRoundRectCallout">
            <a:avLst>
              <a:gd name="adj1" fmla="val -116812"/>
              <a:gd name="adj2" fmla="val -24277"/>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ln>
                  <a:solidFill>
                    <a:schemeClr val="tx2"/>
                  </a:solidFill>
                </a:ln>
                <a:solidFill>
                  <a:schemeClr val="tx2"/>
                </a:solidFill>
              </a:rPr>
              <a:t>ROC </a:t>
            </a:r>
            <a:br>
              <a:rPr lang="en-GB" dirty="0" smtClean="0">
                <a:ln>
                  <a:solidFill>
                    <a:schemeClr val="tx2"/>
                  </a:solidFill>
                </a:ln>
                <a:solidFill>
                  <a:schemeClr val="tx2"/>
                </a:solidFill>
              </a:rPr>
            </a:br>
            <a:r>
              <a:rPr lang="en-GB" dirty="0" smtClean="0">
                <a:ln>
                  <a:solidFill>
                    <a:schemeClr val="tx2"/>
                  </a:solidFill>
                </a:ln>
                <a:solidFill>
                  <a:schemeClr val="tx2"/>
                </a:solidFill>
              </a:rPr>
              <a:t>(Receiver operating characteristic)</a:t>
            </a:r>
            <a:endParaRPr lang="en-GB" dirty="0">
              <a:ln>
                <a:solidFill>
                  <a:schemeClr val="tx2"/>
                </a:solidFill>
              </a:ln>
              <a:solidFill>
                <a:schemeClr val="tx2"/>
              </a:solidFill>
            </a:endParaRPr>
          </a:p>
        </p:txBody>
      </p:sp>
      <p:sp>
        <p:nvSpPr>
          <p:cNvPr id="5" name="Left Brace 4"/>
          <p:cNvSpPr/>
          <p:nvPr/>
        </p:nvSpPr>
        <p:spPr>
          <a:xfrm rot="5400000">
            <a:off x="3131840" y="1916832"/>
            <a:ext cx="288032" cy="720080"/>
          </a:xfrm>
          <a:prstGeom prst="leftBrace">
            <a:avLst>
              <a:gd name="adj1" fmla="val 45455"/>
              <a:gd name="adj2" fmla="val 50000"/>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pic>
        <p:nvPicPr>
          <p:cNvPr id="4" name="Picture 3"/>
          <p:cNvPicPr>
            <a:picLocks noChangeAspect="1"/>
          </p:cNvPicPr>
          <p:nvPr/>
        </p:nvPicPr>
        <p:blipFill>
          <a:blip r:embed="rId4"/>
          <a:stretch>
            <a:fillRect/>
          </a:stretch>
        </p:blipFill>
        <p:spPr>
          <a:xfrm>
            <a:off x="827308" y="4531518"/>
            <a:ext cx="1800476" cy="1943371"/>
          </a:xfrm>
          <a:prstGeom prst="rect">
            <a:avLst/>
          </a:prstGeom>
        </p:spPr>
      </p:pic>
      <p:cxnSp>
        <p:nvCxnSpPr>
          <p:cNvPr id="10" name="Straight Arrow Connector 9"/>
          <p:cNvCxnSpPr/>
          <p:nvPr/>
        </p:nvCxnSpPr>
        <p:spPr>
          <a:xfrm>
            <a:off x="2176707" y="4377091"/>
            <a:ext cx="648348" cy="526454"/>
          </a:xfrm>
          <a:prstGeom prst="straightConnector1">
            <a:avLst/>
          </a:prstGeom>
          <a:ln w="19050">
            <a:solidFill>
              <a:srgbClr val="008000"/>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title"/>
          </p:nvPr>
        </p:nvSpPr>
        <p:spPr>
          <a:xfrm>
            <a:off x="457200" y="274638"/>
            <a:ext cx="8229600" cy="346050"/>
          </a:xfrm>
        </p:spPr>
        <p:txBody>
          <a:bodyPr/>
          <a:lstStyle/>
          <a:p>
            <a:r>
              <a:rPr lang="en-GB" sz="4000" dirty="0" smtClean="0"/>
              <a:t>Signal detection theory, and ROCs</a:t>
            </a:r>
            <a:endParaRPr lang="en-GB" sz="4000" dirty="0"/>
          </a:p>
        </p:txBody>
      </p:sp>
      <p:sp>
        <p:nvSpPr>
          <p:cNvPr id="13" name="Rounded Rectangular Callout 12"/>
          <p:cNvSpPr/>
          <p:nvPr/>
        </p:nvSpPr>
        <p:spPr>
          <a:xfrm>
            <a:off x="6595879" y="1592600"/>
            <a:ext cx="1968627" cy="486111"/>
          </a:xfrm>
          <a:prstGeom prst="wedgeRoundRectCallout">
            <a:avLst>
              <a:gd name="adj1" fmla="val -67094"/>
              <a:gd name="adj2" fmla="val 90557"/>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ln>
                  <a:solidFill>
                    <a:schemeClr val="tx2"/>
                  </a:solidFill>
                </a:ln>
                <a:solidFill>
                  <a:schemeClr val="tx2"/>
                </a:solidFill>
              </a:rPr>
              <a:t>False alarm rate</a:t>
            </a:r>
            <a:endParaRPr lang="en-GB" dirty="0">
              <a:ln>
                <a:solidFill>
                  <a:schemeClr val="tx2"/>
                </a:solidFill>
              </a:ln>
              <a:solidFill>
                <a:schemeClr val="tx2"/>
              </a:solidFill>
            </a:endParaRPr>
          </a:p>
        </p:txBody>
      </p:sp>
      <p:sp>
        <p:nvSpPr>
          <p:cNvPr id="14" name="Rounded Rectangular Callout 13"/>
          <p:cNvSpPr/>
          <p:nvPr/>
        </p:nvSpPr>
        <p:spPr>
          <a:xfrm>
            <a:off x="5053365" y="3188830"/>
            <a:ext cx="1144254" cy="348827"/>
          </a:xfrm>
          <a:prstGeom prst="wedgeRoundRectCallout">
            <a:avLst>
              <a:gd name="adj1" fmla="val -16440"/>
              <a:gd name="adj2" fmla="val -10180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ln>
                  <a:solidFill>
                    <a:schemeClr val="tx2"/>
                  </a:solidFill>
                </a:ln>
                <a:solidFill>
                  <a:schemeClr val="tx2"/>
                </a:solidFill>
              </a:rPr>
              <a:t>Miss rate</a:t>
            </a:r>
            <a:endParaRPr lang="en-GB" dirty="0">
              <a:ln>
                <a:solidFill>
                  <a:schemeClr val="tx2"/>
                </a:solidFill>
              </a:ln>
              <a:solidFill>
                <a:schemeClr val="tx2"/>
              </a:solidFill>
            </a:endParaRPr>
          </a:p>
        </p:txBody>
      </p:sp>
      <p:sp>
        <p:nvSpPr>
          <p:cNvPr id="15" name="Rounded Rectangular Callout 14"/>
          <p:cNvSpPr/>
          <p:nvPr/>
        </p:nvSpPr>
        <p:spPr>
          <a:xfrm>
            <a:off x="5053365" y="1587512"/>
            <a:ext cx="1008112" cy="360040"/>
          </a:xfrm>
          <a:prstGeom prst="wedgeRoundRectCallout">
            <a:avLst>
              <a:gd name="adj1" fmla="val -11177"/>
              <a:gd name="adj2" fmla="val 138567"/>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ln>
                  <a:solidFill>
                    <a:schemeClr val="tx2"/>
                  </a:solidFill>
                </a:ln>
                <a:solidFill>
                  <a:schemeClr val="tx2"/>
                </a:solidFill>
              </a:rPr>
              <a:t>Hit rate</a:t>
            </a:r>
            <a:endParaRPr lang="en-GB" dirty="0">
              <a:ln>
                <a:solidFill>
                  <a:schemeClr val="tx2"/>
                </a:solidFill>
              </a:ln>
              <a:solidFill>
                <a:schemeClr val="tx2"/>
              </a:solidFill>
            </a:endParaRPr>
          </a:p>
        </p:txBody>
      </p:sp>
      <p:sp>
        <p:nvSpPr>
          <p:cNvPr id="16" name="Rounded Rectangular Callout 15"/>
          <p:cNvSpPr/>
          <p:nvPr/>
        </p:nvSpPr>
        <p:spPr>
          <a:xfrm>
            <a:off x="6620291" y="3051422"/>
            <a:ext cx="1944216" cy="486235"/>
          </a:xfrm>
          <a:prstGeom prst="wedgeRoundRectCallout">
            <a:avLst>
              <a:gd name="adj1" fmla="val -72104"/>
              <a:gd name="adj2" fmla="val -6211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500"/>
              </a:lnSpc>
            </a:pPr>
            <a:r>
              <a:rPr lang="en-GB" dirty="0" smtClean="0">
                <a:ln>
                  <a:solidFill>
                    <a:schemeClr val="tx2"/>
                  </a:solidFill>
                </a:ln>
                <a:solidFill>
                  <a:schemeClr val="tx2"/>
                </a:solidFill>
              </a:rPr>
              <a:t>Correct rejection rate</a:t>
            </a:r>
            <a:endParaRPr lang="en-GB" dirty="0">
              <a:ln>
                <a:solidFill>
                  <a:schemeClr val="tx2"/>
                </a:solidFill>
              </a:ln>
              <a:solidFill>
                <a:schemeClr val="tx2"/>
              </a:solidFill>
            </a:endParaRPr>
          </a:p>
        </p:txBody>
      </p:sp>
      <p:sp>
        <p:nvSpPr>
          <p:cNvPr id="17" name="TextBox 16"/>
          <p:cNvSpPr txBox="1"/>
          <p:nvPr/>
        </p:nvSpPr>
        <p:spPr>
          <a:xfrm>
            <a:off x="4932040" y="1134895"/>
            <a:ext cx="3632466" cy="369332"/>
          </a:xfrm>
          <a:prstGeom prst="rect">
            <a:avLst/>
          </a:prstGeom>
          <a:noFill/>
        </p:spPr>
        <p:txBody>
          <a:bodyPr wrap="square">
            <a:spAutoFit/>
          </a:bodyPr>
          <a:lstStyle/>
          <a:p>
            <a:pPr algn="ctr" eaLnBrk="1" hangingPunct="1">
              <a:defRPr/>
            </a:pPr>
            <a:r>
              <a:rPr lang="en-US" b="1" u="sng" dirty="0" smtClean="0">
                <a:latin typeface="+mj-lt"/>
              </a:rPr>
              <a:t>Measured:</a:t>
            </a:r>
            <a:endParaRPr lang="en-GB" b="1" u="sng" dirty="0">
              <a:latin typeface="+mj-lt"/>
            </a:endParaRPr>
          </a:p>
        </p:txBody>
      </p:sp>
      <p:sp>
        <p:nvSpPr>
          <p:cNvPr id="2" name="Rectangle 1"/>
          <p:cNvSpPr/>
          <p:nvPr/>
        </p:nvSpPr>
        <p:spPr>
          <a:xfrm>
            <a:off x="4626757" y="1013777"/>
            <a:ext cx="4536504" cy="2628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p:cNvGrpSpPr/>
          <p:nvPr/>
        </p:nvGrpSpPr>
        <p:grpSpPr>
          <a:xfrm>
            <a:off x="139570" y="1016732"/>
            <a:ext cx="4413677" cy="576064"/>
            <a:chOff x="139570" y="1016732"/>
            <a:chExt cx="4413677" cy="576064"/>
          </a:xfrm>
        </p:grpSpPr>
        <p:sp>
          <p:nvSpPr>
            <p:cNvPr id="7" name="Rounded Rectangular Callout 6"/>
            <p:cNvSpPr/>
            <p:nvPr/>
          </p:nvSpPr>
          <p:spPr>
            <a:xfrm>
              <a:off x="1603639" y="1030298"/>
              <a:ext cx="1080120" cy="504056"/>
            </a:xfrm>
            <a:prstGeom prst="wedgeRoundRectCallout">
              <a:avLst>
                <a:gd name="adj1" fmla="val 66915"/>
                <a:gd name="adj2" fmla="val 118967"/>
                <a:gd name="adj3" fmla="val 16667"/>
              </a:avLst>
            </a:prstGeom>
            <a:solidFill>
              <a:schemeClr val="bg1"/>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ln>
                    <a:solidFill>
                      <a:srgbClr val="008000"/>
                    </a:solidFill>
                  </a:ln>
                  <a:solidFill>
                    <a:srgbClr val="008000"/>
                  </a:solidFill>
                </a:rPr>
                <a:t>Criterion</a:t>
              </a:r>
              <a:endParaRPr lang="en-GB" dirty="0">
                <a:ln>
                  <a:solidFill>
                    <a:srgbClr val="008000"/>
                  </a:solidFill>
                </a:ln>
                <a:solidFill>
                  <a:srgbClr val="008000"/>
                </a:solidFill>
              </a:endParaRPr>
            </a:p>
          </p:txBody>
        </p:sp>
        <p:sp>
          <p:nvSpPr>
            <p:cNvPr id="8" name="Rounded Rectangular Callout 7"/>
            <p:cNvSpPr/>
            <p:nvPr/>
          </p:nvSpPr>
          <p:spPr>
            <a:xfrm>
              <a:off x="2915816" y="1016732"/>
              <a:ext cx="1637431" cy="576064"/>
            </a:xfrm>
            <a:prstGeom prst="wedgeRoundRectCallout">
              <a:avLst>
                <a:gd name="adj1" fmla="val -26670"/>
                <a:gd name="adj2" fmla="val 1278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d’ (sensitivity)</a:t>
              </a:r>
            </a:p>
            <a:p>
              <a:pPr algn="ctr"/>
              <a:r>
                <a:rPr lang="en-GB" dirty="0" smtClean="0"/>
                <a:t>Chance = 0</a:t>
              </a:r>
              <a:endParaRPr lang="en-GB" dirty="0"/>
            </a:p>
          </p:txBody>
        </p:sp>
        <p:sp>
          <p:nvSpPr>
            <p:cNvPr id="18" name="TextBox 17"/>
            <p:cNvSpPr txBox="1"/>
            <p:nvPr/>
          </p:nvSpPr>
          <p:spPr>
            <a:xfrm>
              <a:off x="139570" y="1134895"/>
              <a:ext cx="1264078" cy="369332"/>
            </a:xfrm>
            <a:prstGeom prst="rect">
              <a:avLst/>
            </a:prstGeom>
            <a:noFill/>
          </p:spPr>
          <p:txBody>
            <a:bodyPr wrap="square">
              <a:spAutoFit/>
            </a:bodyPr>
            <a:lstStyle/>
            <a:p>
              <a:pPr algn="r" eaLnBrk="1" hangingPunct="1">
                <a:defRPr/>
              </a:pPr>
              <a:r>
                <a:rPr lang="en-US" b="1" u="sng" dirty="0" smtClean="0">
                  <a:latin typeface="+mj-lt"/>
                </a:rPr>
                <a:t>Estimated:</a:t>
              </a:r>
              <a:endParaRPr lang="en-GB" b="1" u="sng" dirty="0">
                <a:latin typeface="+mj-lt"/>
              </a:endParaRPr>
            </a:p>
          </p:txBody>
        </p:sp>
      </p:grpSp>
      <p:sp>
        <p:nvSpPr>
          <p:cNvPr id="19" name="TextBox 18"/>
          <p:cNvSpPr txBox="1"/>
          <p:nvPr/>
        </p:nvSpPr>
        <p:spPr>
          <a:xfrm>
            <a:off x="139570" y="2781979"/>
            <a:ext cx="1264078" cy="369332"/>
          </a:xfrm>
          <a:prstGeom prst="rect">
            <a:avLst/>
          </a:prstGeom>
          <a:noFill/>
        </p:spPr>
        <p:txBody>
          <a:bodyPr wrap="square">
            <a:spAutoFit/>
          </a:bodyPr>
          <a:lstStyle/>
          <a:p>
            <a:pPr algn="r" eaLnBrk="1" hangingPunct="1">
              <a:defRPr/>
            </a:pPr>
            <a:r>
              <a:rPr lang="en-US" b="1" u="sng" dirty="0" smtClean="0">
                <a:latin typeface="+mj-lt"/>
              </a:rPr>
              <a:t>Assumed:</a:t>
            </a:r>
            <a:endParaRPr lang="en-GB" b="1" u="sng" dirty="0">
              <a:latin typeface="+mj-lt"/>
            </a:endParaRPr>
          </a:p>
        </p:txBody>
      </p:sp>
      <p:sp>
        <p:nvSpPr>
          <p:cNvPr id="20" name="Rectangle 19"/>
          <p:cNvSpPr/>
          <p:nvPr/>
        </p:nvSpPr>
        <p:spPr>
          <a:xfrm>
            <a:off x="3563889" y="4043434"/>
            <a:ext cx="5472608" cy="2760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683568" y="4097841"/>
            <a:ext cx="2232248" cy="2760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87647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 grpId="0" animBg="1"/>
      <p:bldP spid="19" grpId="0"/>
      <p:bldP spid="20" grpId="0" animBg="1"/>
      <p:bldP spid="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lstStyle/>
          <a:p>
            <a:r>
              <a:rPr lang="en-GB" sz="4000" dirty="0" smtClean="0"/>
              <a:t>Data splitting/partitioning</a:t>
            </a:r>
            <a:endParaRPr lang="en-GB" sz="4000" dirty="0"/>
          </a:p>
        </p:txBody>
      </p:sp>
      <p:sp>
        <p:nvSpPr>
          <p:cNvPr id="5" name="Title 1"/>
          <p:cNvSpPr txBox="1">
            <a:spLocks/>
          </p:cNvSpPr>
          <p:nvPr/>
        </p:nvSpPr>
        <p:spPr bwMode="auto">
          <a:xfrm>
            <a:off x="323528" y="404664"/>
            <a:ext cx="8424936"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571500" indent="-571500" eaLnBrk="1" hangingPunct="1">
              <a:spcBef>
                <a:spcPct val="0"/>
              </a:spcBef>
              <a:spcAft>
                <a:spcPts val="200"/>
              </a:spcAft>
            </a:pPr>
            <a:r>
              <a:rPr lang="en-GB" altLang="en-US" sz="2000" dirty="0" smtClean="0"/>
              <a:t>Holdout/validation set from single context</a:t>
            </a:r>
          </a:p>
          <a:p>
            <a:pPr marL="1314450" lvl="1" indent="-571500" eaLnBrk="1" hangingPunct="1">
              <a:spcBef>
                <a:spcPct val="0"/>
              </a:spcBef>
              <a:spcAft>
                <a:spcPts val="200"/>
              </a:spcAft>
            </a:pPr>
            <a:r>
              <a:rPr lang="en-GB" altLang="en-US" sz="1800" dirty="0" smtClean="0"/>
              <a:t>Safe but often not efficient/stable</a:t>
            </a:r>
          </a:p>
          <a:p>
            <a:pPr marL="571500" indent="-571500" eaLnBrk="1" hangingPunct="1">
              <a:spcBef>
                <a:spcPct val="0"/>
              </a:spcBef>
              <a:spcAft>
                <a:spcPts val="200"/>
              </a:spcAft>
            </a:pPr>
            <a:r>
              <a:rPr lang="en-GB" altLang="en-US" sz="2000" dirty="0" smtClean="0"/>
              <a:t>Separate datasets from different </a:t>
            </a:r>
            <a:r>
              <a:rPr lang="en-GB" altLang="en-US" sz="2000" dirty="0"/>
              <a:t>contexts </a:t>
            </a:r>
            <a:r>
              <a:rPr lang="en-GB" altLang="en-US" sz="1400" dirty="0"/>
              <a:t>(“cross-classification”, “cross-generalization”)</a:t>
            </a:r>
            <a:endParaRPr lang="en-GB" altLang="en-US" sz="1400" dirty="0" smtClean="0"/>
          </a:p>
          <a:p>
            <a:pPr marL="1314450" lvl="1" indent="-571500" eaLnBrk="1" hangingPunct="1">
              <a:spcBef>
                <a:spcPct val="0"/>
              </a:spcBef>
              <a:spcAft>
                <a:spcPts val="200"/>
              </a:spcAft>
            </a:pPr>
            <a:r>
              <a:rPr lang="en-GB" altLang="en-US" sz="1800" dirty="0" smtClean="0"/>
              <a:t>used to test generalization &amp; demonstrate common format </a:t>
            </a:r>
            <a:br>
              <a:rPr lang="en-GB" altLang="en-US" sz="1800" dirty="0" smtClean="0"/>
            </a:br>
            <a:r>
              <a:rPr lang="en-GB" altLang="en-US" sz="1800" dirty="0" smtClean="0"/>
              <a:t>(e.g. train on perception, test on imagery;</a:t>
            </a:r>
            <a:br>
              <a:rPr lang="en-GB" altLang="en-US" sz="1800" dirty="0" smtClean="0"/>
            </a:br>
            <a:r>
              <a:rPr lang="en-GB" altLang="en-US" sz="1800" dirty="0" smtClean="0"/>
              <a:t>train at time-point 1, test at time-point 2)</a:t>
            </a:r>
            <a:endParaRPr lang="en-GB" altLang="en-US" sz="1400" dirty="0" smtClean="0"/>
          </a:p>
          <a:p>
            <a:pPr marL="571500" indent="-571500" eaLnBrk="1" hangingPunct="1">
              <a:spcBef>
                <a:spcPct val="0"/>
              </a:spcBef>
              <a:spcAft>
                <a:spcPts val="200"/>
              </a:spcAft>
            </a:pPr>
            <a:r>
              <a:rPr lang="en-GB" altLang="en-US" sz="2000" dirty="0" smtClean="0"/>
              <a:t>Cross-validation within full single dataset</a:t>
            </a:r>
          </a:p>
          <a:p>
            <a:pPr marL="1314450" lvl="1" indent="-571500" eaLnBrk="1" hangingPunct="1">
              <a:spcBef>
                <a:spcPct val="0"/>
              </a:spcBef>
              <a:spcAft>
                <a:spcPts val="200"/>
              </a:spcAft>
            </a:pPr>
            <a:r>
              <a:rPr lang="en-GB" altLang="en-US" sz="1800" dirty="0" smtClean="0"/>
              <a:t>Reuse data for both training and testing in different splits/folds</a:t>
            </a:r>
          </a:p>
          <a:p>
            <a:pPr marL="1314450" lvl="1" indent="-571500" eaLnBrk="1" hangingPunct="1">
              <a:spcBef>
                <a:spcPct val="0"/>
              </a:spcBef>
              <a:spcAft>
                <a:spcPts val="200"/>
              </a:spcAft>
            </a:pPr>
            <a:r>
              <a:rPr lang="en-GB" altLang="en-US" sz="1800" dirty="0" smtClean="0"/>
              <a:t>Average performance across folds</a:t>
            </a:r>
          </a:p>
          <a:p>
            <a:pPr marL="1314450" lvl="1" indent="-571500" eaLnBrk="1" hangingPunct="1">
              <a:spcBef>
                <a:spcPct val="0"/>
              </a:spcBef>
              <a:spcAft>
                <a:spcPts val="200"/>
              </a:spcAft>
            </a:pPr>
            <a:r>
              <a:rPr lang="en-GB" altLang="en-US" sz="1800" dirty="0" smtClean="0"/>
              <a:t>“split half”…</a:t>
            </a:r>
          </a:p>
          <a:p>
            <a:pPr marL="1314450" lvl="1" indent="-571500" eaLnBrk="1" hangingPunct="1">
              <a:spcBef>
                <a:spcPct val="0"/>
              </a:spcBef>
              <a:spcAft>
                <a:spcPts val="200"/>
              </a:spcAft>
            </a:pPr>
            <a:r>
              <a:rPr lang="en-GB" altLang="en-US" sz="1800" dirty="0" smtClean="0"/>
              <a:t>…“k-fold”…</a:t>
            </a:r>
          </a:p>
          <a:p>
            <a:pPr marL="1314450" lvl="1" indent="-571500" eaLnBrk="1" hangingPunct="1">
              <a:spcBef>
                <a:spcPct val="0"/>
              </a:spcBef>
              <a:spcAft>
                <a:spcPts val="200"/>
              </a:spcAft>
            </a:pPr>
            <a:r>
              <a:rPr lang="en-GB" altLang="en-US" sz="1800" dirty="0" smtClean="0"/>
              <a:t>… “leave-one-out”</a:t>
            </a:r>
          </a:p>
          <a:p>
            <a:pPr marL="1314450" lvl="1" indent="-571500" eaLnBrk="1" hangingPunct="1">
              <a:spcBef>
                <a:spcPct val="0"/>
              </a:spcBef>
              <a:spcAft>
                <a:spcPts val="200"/>
              </a:spcAft>
            </a:pPr>
            <a:r>
              <a:rPr lang="en-GB" altLang="en-US" sz="1800" dirty="0" smtClean="0"/>
              <a:t>Training and testing data should be independent within a fold (“decoding step”), but will be dependent across folds</a:t>
            </a:r>
          </a:p>
          <a:p>
            <a:pPr marL="1314450" lvl="1" indent="-571500" eaLnBrk="1" hangingPunct="1">
              <a:spcBef>
                <a:spcPct val="0"/>
              </a:spcBef>
              <a:spcAft>
                <a:spcPts val="200"/>
              </a:spcAft>
            </a:pPr>
            <a:r>
              <a:rPr lang="en-GB" altLang="en-US" sz="1800" dirty="0" smtClean="0"/>
              <a:t>Ideally want conditions balanced within each chunk</a:t>
            </a:r>
          </a:p>
          <a:p>
            <a:pPr marL="571500" indent="-571500" eaLnBrk="1" hangingPunct="1">
              <a:spcBef>
                <a:spcPct val="0"/>
              </a:spcBef>
            </a:pPr>
            <a:endParaRPr lang="en-GB" altLang="en-US" sz="1200" dirty="0" smtClean="0"/>
          </a:p>
        </p:txBody>
      </p:sp>
      <p:grpSp>
        <p:nvGrpSpPr>
          <p:cNvPr id="9" name="Group 8"/>
          <p:cNvGrpSpPr/>
          <p:nvPr/>
        </p:nvGrpSpPr>
        <p:grpSpPr>
          <a:xfrm>
            <a:off x="899592" y="5811014"/>
            <a:ext cx="8221100" cy="1035045"/>
            <a:chOff x="1977407" y="5630410"/>
            <a:chExt cx="8221100" cy="1035045"/>
          </a:xfrm>
        </p:grpSpPr>
        <p:pic>
          <p:nvPicPr>
            <p:cNvPr id="78850" name="Picture 2" descr="https://upload.wikimedia.org/wikipedia/commons/c/c7/LOOCV.gif"/>
            <p:cNvPicPr>
              <a:picLocks noChangeAspect="1" noChangeArrowheads="1" noCrop="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977407" y="5652617"/>
              <a:ext cx="2249774" cy="676448"/>
            </a:xfrm>
            <a:prstGeom prst="rect">
              <a:avLst/>
            </a:prstGeom>
            <a:noFill/>
            <a:extLst>
              <a:ext uri="{909E8E84-426E-40DD-AFC4-6F175D3DCCD1}">
                <a14:hiddenFill xmlns:a14="http://schemas.microsoft.com/office/drawing/2010/main">
                  <a:solidFill>
                    <a:srgbClr val="FFFFFF"/>
                  </a:solidFill>
                </a14:hiddenFill>
              </a:ext>
            </a:extLst>
          </p:spPr>
        </p:pic>
        <p:pic>
          <p:nvPicPr>
            <p:cNvPr id="78852" name="Picture 4" descr="https://upload.wikimedia.org/wikipedia/commons/4/4b/KfoldCV.gif"/>
            <p:cNvPicPr>
              <a:picLocks noChangeAspect="1" noChangeArrowheads="1" noCrop="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048898" y="5630410"/>
              <a:ext cx="3141134" cy="720080"/>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p:cNvSpPr txBox="1">
              <a:spLocks noChangeArrowheads="1"/>
            </p:cNvSpPr>
            <p:nvPr/>
          </p:nvSpPr>
          <p:spPr bwMode="auto">
            <a:xfrm>
              <a:off x="7795032" y="6357480"/>
              <a:ext cx="2403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50000"/>
                </a:spcBef>
                <a:buFontTx/>
                <a:buNone/>
              </a:pPr>
              <a:r>
                <a:rPr lang="en-GB" altLang="en-US" sz="1400" i="1" dirty="0" smtClean="0">
                  <a:latin typeface="Times New Roman" panose="02020603050405020304" pitchFamily="18" charset="0"/>
                </a:rPr>
                <a:t>Gifs from Wikipedia</a:t>
              </a:r>
              <a:endParaRPr lang="en-US" altLang="en-US" sz="1400" i="1" dirty="0">
                <a:latin typeface="Times New Roman" panose="02020603050405020304" pitchFamily="18" charset="0"/>
              </a:endParaRPr>
            </a:p>
          </p:txBody>
        </p:sp>
      </p:grpSp>
      <p:grpSp>
        <p:nvGrpSpPr>
          <p:cNvPr id="10" name="Group 9"/>
          <p:cNvGrpSpPr/>
          <p:nvPr/>
        </p:nvGrpSpPr>
        <p:grpSpPr>
          <a:xfrm>
            <a:off x="3779912" y="3573016"/>
            <a:ext cx="5013349" cy="853237"/>
            <a:chOff x="3899636" y="3573016"/>
            <a:chExt cx="4752528" cy="853237"/>
          </a:xfrm>
        </p:grpSpPr>
        <p:cxnSp>
          <p:nvCxnSpPr>
            <p:cNvPr id="6" name="Straight Arrow Connector 5"/>
            <p:cNvCxnSpPr/>
            <p:nvPr/>
          </p:nvCxnSpPr>
          <p:spPr>
            <a:xfrm>
              <a:off x="3899636" y="3634165"/>
              <a:ext cx="0" cy="7920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 Box 4"/>
            <p:cNvSpPr txBox="1">
              <a:spLocks noChangeArrowheads="1"/>
            </p:cNvSpPr>
            <p:nvPr/>
          </p:nvSpPr>
          <p:spPr bwMode="auto">
            <a:xfrm>
              <a:off x="4043652" y="3573016"/>
              <a:ext cx="46085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400" dirty="0" smtClean="0">
                  <a:solidFill>
                    <a:schemeClr val="accent1"/>
                  </a:solidFill>
                  <a:latin typeface="Arial" panose="020B0604020202020204" pitchFamily="34" charset="0"/>
                  <a:cs typeface="Arial" panose="020B0604020202020204" pitchFamily="34" charset="0"/>
                </a:rPr>
                <a:t>More ways to split… more </a:t>
              </a:r>
              <a:r>
                <a:rPr lang="en-GB" altLang="en-US" sz="1400" i="1" u="sng" dirty="0" smtClean="0">
                  <a:solidFill>
                    <a:schemeClr val="accent1"/>
                  </a:solidFill>
                  <a:latin typeface="Arial" panose="020B0604020202020204" pitchFamily="34" charset="0"/>
                  <a:cs typeface="Arial" panose="020B0604020202020204" pitchFamily="34" charset="0"/>
                </a:rPr>
                <a:t>precise</a:t>
              </a:r>
              <a:r>
                <a:rPr lang="en-GB" altLang="en-US" sz="1400" dirty="0" smtClean="0">
                  <a:solidFill>
                    <a:schemeClr val="accent1"/>
                  </a:solidFill>
                  <a:latin typeface="Arial" panose="020B0604020202020204" pitchFamily="34" charset="0"/>
                  <a:cs typeface="Arial" panose="020B0604020202020204" pitchFamily="34" charset="0"/>
                </a:rPr>
                <a:t> performance estimate</a:t>
              </a:r>
              <a:endParaRPr lang="en-US" altLang="en-US" sz="1400" dirty="0">
                <a:solidFill>
                  <a:schemeClr val="accent1"/>
                </a:solidFill>
                <a:latin typeface="Arial" panose="020B0604020202020204" pitchFamily="34" charset="0"/>
                <a:cs typeface="Arial" panose="020B0604020202020204" pitchFamily="34" charset="0"/>
              </a:endParaRPr>
            </a:p>
          </p:txBody>
        </p:sp>
        <p:sp>
          <p:nvSpPr>
            <p:cNvPr id="12" name="Text Box 4"/>
            <p:cNvSpPr txBox="1">
              <a:spLocks noChangeArrowheads="1"/>
            </p:cNvSpPr>
            <p:nvPr/>
          </p:nvSpPr>
          <p:spPr bwMode="auto">
            <a:xfrm>
              <a:off x="4043652" y="4118476"/>
              <a:ext cx="46085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400" dirty="0" smtClean="0">
                  <a:solidFill>
                    <a:schemeClr val="accent1"/>
                  </a:solidFill>
                  <a:latin typeface="Arial" panose="020B0604020202020204" pitchFamily="34" charset="0"/>
                  <a:cs typeface="Arial" panose="020B0604020202020204" pitchFamily="34" charset="0"/>
                </a:rPr>
                <a:t>More training data per split… more </a:t>
              </a:r>
              <a:r>
                <a:rPr lang="en-GB" altLang="en-US" sz="1400" i="1" u="sng" dirty="0" smtClean="0">
                  <a:solidFill>
                    <a:schemeClr val="accent1"/>
                  </a:solidFill>
                  <a:latin typeface="Arial" panose="020B0604020202020204" pitchFamily="34" charset="0"/>
                  <a:cs typeface="Arial" panose="020B0604020202020204" pitchFamily="34" charset="0"/>
                </a:rPr>
                <a:t>sensitive</a:t>
              </a:r>
              <a:endParaRPr lang="en-US" altLang="en-US" sz="1400" u="sng" dirty="0">
                <a:solidFill>
                  <a:schemeClr val="accent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5532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2"/>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lstStyle/>
          <a:p>
            <a:r>
              <a:rPr lang="en-GB" sz="4000" dirty="0" smtClean="0"/>
              <a:t>Data splitting/partitioning</a:t>
            </a:r>
            <a:endParaRPr lang="en-GB" sz="4000" dirty="0"/>
          </a:p>
        </p:txBody>
      </p:sp>
      <p:pic>
        <p:nvPicPr>
          <p:cNvPr id="13" name="Picture 12"/>
          <p:cNvPicPr>
            <a:picLocks noChangeAspect="1"/>
          </p:cNvPicPr>
          <p:nvPr/>
        </p:nvPicPr>
        <p:blipFill>
          <a:blip r:embed="rId2"/>
          <a:stretch>
            <a:fillRect/>
          </a:stretch>
        </p:blipFill>
        <p:spPr>
          <a:xfrm>
            <a:off x="1403648" y="1412776"/>
            <a:ext cx="5944659" cy="4680519"/>
          </a:xfrm>
          <a:prstGeom prst="rect">
            <a:avLst/>
          </a:prstGeom>
        </p:spPr>
      </p:pic>
    </p:spTree>
    <p:extLst>
      <p:ext uri="{BB962C8B-B14F-4D97-AF65-F5344CB8AC3E}">
        <p14:creationId xmlns:p14="http://schemas.microsoft.com/office/powerpoint/2010/main" val="3433190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pPr>
              <a:spcAft>
                <a:spcPts val="600"/>
              </a:spcAft>
            </a:pPr>
            <a:r>
              <a:rPr lang="en-US" altLang="en-US" sz="2400" b="1" dirty="0" smtClean="0"/>
              <a:t>Cross-validation granularity: </a:t>
            </a:r>
            <a:r>
              <a:rPr lang="en-US" altLang="en-US" sz="2400" b="1" dirty="0" err="1"/>
              <a:t>generalise</a:t>
            </a:r>
            <a:r>
              <a:rPr lang="en-US" altLang="en-US" sz="2400" b="1" dirty="0"/>
              <a:t> to….?</a:t>
            </a:r>
            <a:endParaRPr lang="en-US" altLang="en-US" sz="2400" dirty="0" smtClean="0"/>
          </a:p>
          <a:p>
            <a:pPr lvl="1">
              <a:spcAft>
                <a:spcPts val="600"/>
              </a:spcAft>
            </a:pPr>
            <a:r>
              <a:rPr lang="en-US" altLang="en-US" sz="2000" dirty="0" smtClean="0"/>
              <a:t>new trial/stimulus pair</a:t>
            </a:r>
            <a:br>
              <a:rPr lang="en-US" altLang="en-US" sz="2000" dirty="0" smtClean="0"/>
            </a:br>
            <a:r>
              <a:rPr lang="en-US" altLang="en-US" sz="2000" dirty="0" smtClean="0"/>
              <a:t>(leave-stimulus-pair-out)</a:t>
            </a:r>
          </a:p>
          <a:p>
            <a:pPr lvl="1">
              <a:spcAft>
                <a:spcPts val="600"/>
              </a:spcAft>
            </a:pPr>
            <a:r>
              <a:rPr lang="en-US" altLang="en-US" sz="2000" b="1" dirty="0" smtClean="0"/>
              <a:t>new run (leave-run-out)</a:t>
            </a:r>
          </a:p>
          <a:p>
            <a:pPr lvl="1">
              <a:spcAft>
                <a:spcPts val="600"/>
              </a:spcAft>
            </a:pPr>
            <a:r>
              <a:rPr lang="en-US" altLang="en-US" sz="2000" dirty="0" smtClean="0"/>
              <a:t>new subject (leave-subject-out)</a:t>
            </a:r>
          </a:p>
          <a:p>
            <a:pPr marL="457200" lvl="1" indent="0">
              <a:spcAft>
                <a:spcPts val="600"/>
              </a:spcAft>
              <a:buNone/>
            </a:pPr>
            <a:r>
              <a:rPr lang="en-US" altLang="en-US" sz="1800" dirty="0"/>
              <a:t> </a:t>
            </a:r>
            <a:r>
              <a:rPr lang="en-US" altLang="en-US" sz="1800" dirty="0" smtClean="0"/>
              <a:t>    (</a:t>
            </a:r>
            <a:r>
              <a:rPr lang="en-GB" altLang="en-US" sz="1800" dirty="0" smtClean="0"/>
              <a:t>“</a:t>
            </a:r>
            <a:r>
              <a:rPr lang="en-GB" altLang="en-US" sz="1800" dirty="0" err="1" smtClean="0"/>
              <a:t>hyperalignment</a:t>
            </a:r>
            <a:r>
              <a:rPr lang="en-GB" altLang="en-US" sz="1800" dirty="0" smtClean="0"/>
              <a:t>”, </a:t>
            </a:r>
            <a:r>
              <a:rPr lang="en-GB" altLang="en-US" sz="1800" dirty="0" err="1" smtClean="0"/>
              <a:t>Haxby</a:t>
            </a:r>
            <a:r>
              <a:rPr lang="en-GB" altLang="en-US" sz="1800" dirty="0"/>
              <a:t>, 2011; 2020</a:t>
            </a:r>
            <a:r>
              <a:rPr lang="en-GB" altLang="en-US" sz="1800" dirty="0" smtClean="0"/>
              <a:t>)</a:t>
            </a:r>
          </a:p>
          <a:p>
            <a:pPr marL="457200" lvl="1" indent="0">
              <a:spcAft>
                <a:spcPts val="600"/>
              </a:spcAft>
              <a:buNone/>
            </a:pPr>
            <a:endParaRPr lang="en-GB" altLang="en-US" sz="1800" dirty="0"/>
          </a:p>
          <a:p>
            <a:pPr>
              <a:spcAft>
                <a:spcPts val="600"/>
              </a:spcAft>
            </a:pPr>
            <a:r>
              <a:rPr lang="en-GB" altLang="en-US" sz="2400" b="1" dirty="0" smtClean="0"/>
              <a:t>Why do we need </a:t>
            </a:r>
            <a:r>
              <a:rPr lang="en-GB" altLang="en-US" sz="2400" b="1" i="1" dirty="0" smtClean="0"/>
              <a:t>out-of-sample</a:t>
            </a:r>
            <a:r>
              <a:rPr lang="en-GB" altLang="en-US" sz="2400" b="1" dirty="0" smtClean="0"/>
              <a:t> prediction at all?</a:t>
            </a:r>
          </a:p>
          <a:p>
            <a:pPr lvl="1">
              <a:spcAft>
                <a:spcPts val="600"/>
              </a:spcAft>
            </a:pPr>
            <a:r>
              <a:rPr lang="en-GB" altLang="en-US" sz="2000" dirty="0" smtClean="0"/>
              <a:t>Classical univariate analysis uses </a:t>
            </a:r>
            <a:r>
              <a:rPr lang="en-GB" altLang="en-US" sz="2000" i="1" dirty="0" smtClean="0"/>
              <a:t>within-sample</a:t>
            </a:r>
            <a:r>
              <a:rPr lang="en-GB" altLang="en-US" sz="2000" dirty="0" smtClean="0"/>
              <a:t> statistical estimation</a:t>
            </a:r>
            <a:br>
              <a:rPr lang="en-GB" altLang="en-US" sz="2000" dirty="0" smtClean="0"/>
            </a:br>
            <a:r>
              <a:rPr lang="en-GB" altLang="en-US" sz="2000" dirty="0" smtClean="0"/>
              <a:t>(activation can be estimated in a direct and unbiased way)</a:t>
            </a:r>
          </a:p>
          <a:p>
            <a:pPr lvl="1">
              <a:spcAft>
                <a:spcPts val="600"/>
              </a:spcAft>
            </a:pPr>
            <a:r>
              <a:rPr lang="en-GB" altLang="en-US" sz="2000" dirty="0" smtClean="0"/>
              <a:t>In MVPA we want to estimate “information”, and out-of-sample prediction provides an unbiased estimate of this (with minimal assumptions).</a:t>
            </a:r>
            <a:endParaRPr lang="en-US" altLang="en-US" sz="2000" dirty="0" smtClean="0"/>
          </a:p>
          <a:p>
            <a:pPr lvl="1">
              <a:spcAft>
                <a:spcPts val="600"/>
              </a:spcAft>
            </a:pPr>
            <a:endParaRPr lang="en-US" altLang="en-US" sz="1800" dirty="0" smtClean="0"/>
          </a:p>
          <a:p>
            <a:pPr>
              <a:spcAft>
                <a:spcPts val="600"/>
              </a:spcAft>
              <a:buFont typeface="Arial" panose="020B0604020202020204" pitchFamily="34" charset="0"/>
              <a:buNone/>
            </a:pPr>
            <a:endParaRPr lang="en-US" altLang="en-US" sz="2400" dirty="0" smtClean="0"/>
          </a:p>
          <a:p>
            <a:pPr>
              <a:spcAft>
                <a:spcPts val="600"/>
              </a:spcAft>
            </a:pPr>
            <a:endParaRPr lang="en-US" altLang="en-US" sz="2400" dirty="0" smtClean="0"/>
          </a:p>
        </p:txBody>
      </p:sp>
      <p:sp>
        <p:nvSpPr>
          <p:cNvPr id="2" name="TextBox 1"/>
          <p:cNvSpPr txBox="1"/>
          <p:nvPr/>
        </p:nvSpPr>
        <p:spPr>
          <a:xfrm rot="16200000">
            <a:off x="5262703" y="1226711"/>
            <a:ext cx="2218202" cy="1754326"/>
          </a:xfrm>
          <a:prstGeom prst="rect">
            <a:avLst/>
          </a:prstGeom>
          <a:noFill/>
        </p:spPr>
        <p:txBody>
          <a:bodyPr wrap="square">
            <a:spAutoFit/>
          </a:bodyPr>
          <a:lstStyle/>
          <a:p>
            <a:pPr algn="ctr">
              <a:defRPr/>
            </a:pPr>
            <a:r>
              <a:rPr lang="en-GB" dirty="0" smtClean="0">
                <a:solidFill>
                  <a:srgbClr val="FF0000"/>
                </a:solidFill>
              </a:rPr>
              <a:t>Fewer </a:t>
            </a:r>
            <a:r>
              <a:rPr lang="en-GB" dirty="0">
                <a:solidFill>
                  <a:srgbClr val="FF0000"/>
                </a:solidFill>
              </a:rPr>
              <a:t>samples</a:t>
            </a:r>
          </a:p>
          <a:p>
            <a:pPr algn="ctr">
              <a:defRPr/>
            </a:pPr>
            <a:r>
              <a:rPr lang="en-GB" dirty="0" smtClean="0">
                <a:solidFill>
                  <a:srgbClr val="00B050"/>
                </a:solidFill>
              </a:rPr>
              <a:t>Cleaner samples</a:t>
            </a:r>
            <a:endParaRPr lang="en-GB" dirty="0">
              <a:solidFill>
                <a:srgbClr val="00B050"/>
              </a:solidFill>
            </a:endParaRPr>
          </a:p>
          <a:p>
            <a:pPr algn="ctr">
              <a:defRPr/>
            </a:pPr>
            <a:endParaRPr lang="en-GB" dirty="0">
              <a:solidFill>
                <a:srgbClr val="00B050"/>
              </a:solidFill>
            </a:endParaRPr>
          </a:p>
          <a:p>
            <a:pPr algn="ctr">
              <a:defRPr/>
            </a:pPr>
            <a:r>
              <a:rPr lang="en-GB" dirty="0">
                <a:solidFill>
                  <a:srgbClr val="FF0000"/>
                </a:solidFill>
              </a:rPr>
              <a:t>More </a:t>
            </a:r>
            <a:r>
              <a:rPr lang="en-GB" dirty="0" smtClean="0">
                <a:solidFill>
                  <a:srgbClr val="FF0000"/>
                </a:solidFill>
              </a:rPr>
              <a:t>different distributions</a:t>
            </a:r>
          </a:p>
          <a:p>
            <a:pPr algn="ctr">
              <a:defRPr/>
            </a:pPr>
            <a:r>
              <a:rPr lang="en-GB" dirty="0" smtClean="0">
                <a:solidFill>
                  <a:srgbClr val="00B050"/>
                </a:solidFill>
              </a:rPr>
              <a:t>More independence</a:t>
            </a:r>
            <a:endParaRPr lang="en-GB" dirty="0">
              <a:solidFill>
                <a:srgbClr val="00B050"/>
              </a:solidFill>
            </a:endParaRPr>
          </a:p>
        </p:txBody>
      </p:sp>
      <p:cxnSp>
        <p:nvCxnSpPr>
          <p:cNvPr id="5" name="Straight Arrow Connector 4"/>
          <p:cNvCxnSpPr/>
          <p:nvPr/>
        </p:nvCxnSpPr>
        <p:spPr>
          <a:xfrm>
            <a:off x="5220072" y="1222163"/>
            <a:ext cx="0" cy="184679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28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42213"/>
            <a:ext cx="8363272" cy="634082"/>
          </a:xfrm>
        </p:spPr>
        <p:txBody>
          <a:bodyPr/>
          <a:lstStyle/>
          <a:p>
            <a:r>
              <a:rPr lang="en-GB" sz="3600" dirty="0" smtClean="0"/>
              <a:t>Some different ways to partition samples:</a:t>
            </a:r>
            <a:endParaRPr lang="en-GB" sz="3600" dirty="0"/>
          </a:p>
        </p:txBody>
      </p:sp>
      <p:sp>
        <p:nvSpPr>
          <p:cNvPr id="4" name="Rectangle 3"/>
          <p:cNvSpPr/>
          <p:nvPr/>
        </p:nvSpPr>
        <p:spPr>
          <a:xfrm>
            <a:off x="6804248" y="6381328"/>
            <a:ext cx="2339752" cy="369332"/>
          </a:xfrm>
          <a:prstGeom prst="rect">
            <a:avLst/>
          </a:prstGeom>
        </p:spPr>
        <p:txBody>
          <a:bodyPr wrap="square">
            <a:spAutoFit/>
          </a:bodyPr>
          <a:lstStyle/>
          <a:p>
            <a:r>
              <a:rPr lang="en-GB" altLang="en-US" dirty="0" err="1"/>
              <a:t>Oosterhof</a:t>
            </a:r>
            <a:r>
              <a:rPr lang="en-GB" altLang="en-US" dirty="0"/>
              <a:t> et al. (2016</a:t>
            </a:r>
            <a:r>
              <a:rPr lang="en-GB" altLang="en-US" dirty="0" smtClean="0"/>
              <a:t>)</a:t>
            </a:r>
            <a:endParaRPr lang="en-GB" dirty="0"/>
          </a:p>
        </p:txBody>
      </p:sp>
      <p:pic>
        <p:nvPicPr>
          <p:cNvPr id="3" name="Picture 2"/>
          <p:cNvPicPr>
            <a:picLocks noChangeAspect="1"/>
          </p:cNvPicPr>
          <p:nvPr/>
        </p:nvPicPr>
        <p:blipFill>
          <a:blip r:embed="rId3"/>
          <a:stretch>
            <a:fillRect/>
          </a:stretch>
        </p:blipFill>
        <p:spPr>
          <a:xfrm>
            <a:off x="127873" y="1628800"/>
            <a:ext cx="8980631" cy="2952328"/>
          </a:xfrm>
          <a:prstGeom prst="rect">
            <a:avLst/>
          </a:prstGeom>
        </p:spPr>
      </p:pic>
      <p:sp>
        <p:nvSpPr>
          <p:cNvPr id="7" name="Title 1"/>
          <p:cNvSpPr txBox="1">
            <a:spLocks/>
          </p:cNvSpPr>
          <p:nvPr/>
        </p:nvSpPr>
        <p:spPr bwMode="auto">
          <a:xfrm>
            <a:off x="323528" y="784259"/>
            <a:ext cx="8496944"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spcAft>
                <a:spcPts val="1200"/>
              </a:spcAft>
              <a:buNone/>
            </a:pPr>
            <a:r>
              <a:rPr lang="en-GB" altLang="en-US" sz="2400" dirty="0" smtClean="0"/>
              <a:t>Examples with 3 conditions (targets) in each of 4 runs (chunks):</a:t>
            </a:r>
            <a:endParaRPr lang="en-GB" sz="2800" dirty="0" smtClean="0">
              <a:latin typeface="Consolas" panose="020B0609020204030204" pitchFamily="49" charset="0"/>
            </a:endParaRPr>
          </a:p>
        </p:txBody>
      </p:sp>
      <p:pic>
        <p:nvPicPr>
          <p:cNvPr id="8" name="Picture 7"/>
          <p:cNvPicPr>
            <a:picLocks noChangeAspect="1"/>
          </p:cNvPicPr>
          <p:nvPr/>
        </p:nvPicPr>
        <p:blipFill>
          <a:blip r:embed="rId4"/>
          <a:stretch>
            <a:fillRect/>
          </a:stretch>
        </p:blipFill>
        <p:spPr>
          <a:xfrm>
            <a:off x="3838414" y="2885889"/>
            <a:ext cx="666750" cy="438150"/>
          </a:xfrm>
          <a:prstGeom prst="rect">
            <a:avLst/>
          </a:prstGeom>
        </p:spPr>
      </p:pic>
      <p:sp>
        <p:nvSpPr>
          <p:cNvPr id="9" name="Title 1"/>
          <p:cNvSpPr txBox="1">
            <a:spLocks/>
          </p:cNvSpPr>
          <p:nvPr/>
        </p:nvSpPr>
        <p:spPr bwMode="auto">
          <a:xfrm>
            <a:off x="323528" y="4581128"/>
            <a:ext cx="8496944" cy="2169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indent="-342900" eaLnBrk="1" hangingPunct="1">
              <a:spcBef>
                <a:spcPct val="0"/>
              </a:spcBef>
              <a:spcAft>
                <a:spcPts val="600"/>
              </a:spcAft>
            </a:pPr>
            <a:r>
              <a:rPr lang="en-GB" altLang="en-US" sz="2000" dirty="0" smtClean="0"/>
              <a:t>Each column is a classifier</a:t>
            </a:r>
          </a:p>
          <a:p>
            <a:pPr marL="342900" indent="-342900" eaLnBrk="1" hangingPunct="1">
              <a:spcBef>
                <a:spcPct val="0"/>
              </a:spcBef>
              <a:spcAft>
                <a:spcPts val="600"/>
              </a:spcAft>
            </a:pPr>
            <a:r>
              <a:rPr lang="en-GB" altLang="en-US" sz="2000" dirty="0" smtClean="0"/>
              <a:t>Per column, samples from a run/chunk are never in both train AND test</a:t>
            </a:r>
          </a:p>
          <a:p>
            <a:pPr marL="342900" indent="-342900" eaLnBrk="1" hangingPunct="1">
              <a:spcBef>
                <a:spcPct val="0"/>
              </a:spcBef>
              <a:spcAft>
                <a:spcPts val="600"/>
              </a:spcAft>
            </a:pPr>
            <a:r>
              <a:rPr lang="en-GB" altLang="en-US" sz="2000" dirty="0" smtClean="0"/>
              <a:t>Accuracy typically averaged across columns</a:t>
            </a:r>
          </a:p>
          <a:p>
            <a:pPr marL="342900" indent="-342900" eaLnBrk="1" hangingPunct="1">
              <a:spcBef>
                <a:spcPct val="0"/>
              </a:spcBef>
              <a:spcAft>
                <a:spcPts val="600"/>
              </a:spcAft>
            </a:pPr>
            <a:r>
              <a:rPr lang="en-GB" altLang="en-US" sz="2000" dirty="0" smtClean="0"/>
              <a:t>Could combine classifier that use different proportions of test data</a:t>
            </a:r>
          </a:p>
          <a:p>
            <a:pPr marL="342900" indent="-342900" eaLnBrk="1" hangingPunct="1">
              <a:spcBef>
                <a:spcPct val="0"/>
              </a:spcBef>
              <a:spcAft>
                <a:spcPts val="600"/>
              </a:spcAft>
            </a:pPr>
            <a:r>
              <a:rPr lang="en-GB" altLang="en-US" sz="2000" dirty="0" smtClean="0"/>
              <a:t>No need for a classifier to use </a:t>
            </a:r>
            <a:r>
              <a:rPr lang="en-GB" altLang="en-US" sz="2000" i="1" dirty="0" smtClean="0"/>
              <a:t>all </a:t>
            </a:r>
            <a:r>
              <a:rPr lang="en-GB" altLang="en-US" sz="2000" dirty="0" smtClean="0"/>
              <a:t>the data...</a:t>
            </a:r>
          </a:p>
        </p:txBody>
      </p:sp>
    </p:spTree>
    <p:extLst>
      <p:ext uri="{BB962C8B-B14F-4D97-AF65-F5344CB8AC3E}">
        <p14:creationId xmlns:p14="http://schemas.microsoft.com/office/powerpoint/2010/main" val="1384794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323528" y="908720"/>
            <a:ext cx="8496944"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spcAft>
                <a:spcPts val="1200"/>
              </a:spcAft>
              <a:buNone/>
            </a:pPr>
            <a:r>
              <a:rPr lang="en-GB" altLang="en-US" sz="2400" dirty="0" smtClean="0"/>
              <a:t>Example with 2 conditions (targets) in each of 3 runs (chunks), cross-generalized across “modality”:</a:t>
            </a:r>
            <a:endParaRPr lang="en-GB" sz="2800" dirty="0" smtClean="0">
              <a:latin typeface="Consolas" panose="020B0609020204030204" pitchFamily="49" charset="0"/>
            </a:endParaRPr>
          </a:p>
        </p:txBody>
      </p:sp>
      <p:pic>
        <p:nvPicPr>
          <p:cNvPr id="5" name="Picture 4"/>
          <p:cNvPicPr>
            <a:picLocks noChangeAspect="1"/>
          </p:cNvPicPr>
          <p:nvPr/>
        </p:nvPicPr>
        <p:blipFill>
          <a:blip r:embed="rId3"/>
          <a:stretch>
            <a:fillRect/>
          </a:stretch>
        </p:blipFill>
        <p:spPr>
          <a:xfrm>
            <a:off x="172025" y="2060848"/>
            <a:ext cx="8792463" cy="3392016"/>
          </a:xfrm>
          <a:prstGeom prst="rect">
            <a:avLst/>
          </a:prstGeom>
        </p:spPr>
      </p:pic>
      <p:pic>
        <p:nvPicPr>
          <p:cNvPr id="8" name="Picture 7"/>
          <p:cNvPicPr>
            <a:picLocks noChangeAspect="1"/>
          </p:cNvPicPr>
          <p:nvPr/>
        </p:nvPicPr>
        <p:blipFill>
          <a:blip r:embed="rId4"/>
          <a:stretch>
            <a:fillRect/>
          </a:stretch>
        </p:blipFill>
        <p:spPr>
          <a:xfrm>
            <a:off x="6012160" y="3537780"/>
            <a:ext cx="810766" cy="532789"/>
          </a:xfrm>
          <a:prstGeom prst="rect">
            <a:avLst/>
          </a:prstGeom>
        </p:spPr>
      </p:pic>
      <p:sp>
        <p:nvSpPr>
          <p:cNvPr id="9" name="Title 1"/>
          <p:cNvSpPr txBox="1">
            <a:spLocks/>
          </p:cNvSpPr>
          <p:nvPr/>
        </p:nvSpPr>
        <p:spPr bwMode="auto">
          <a:xfrm>
            <a:off x="-108520" y="5596880"/>
            <a:ext cx="7784351" cy="6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spcAft>
                <a:spcPts val="1200"/>
              </a:spcAft>
              <a:buNone/>
            </a:pPr>
            <a:r>
              <a:rPr lang="en-GB" altLang="en-US" sz="2000" dirty="0" smtClean="0"/>
              <a:t>(Could similarly cross-generalize across participants, or time points)</a:t>
            </a:r>
            <a:endParaRPr lang="en-GB" sz="2400" dirty="0" smtClean="0">
              <a:latin typeface="Consolas" panose="020B0609020204030204" pitchFamily="49" charset="0"/>
            </a:endParaRPr>
          </a:p>
        </p:txBody>
      </p:sp>
      <p:sp>
        <p:nvSpPr>
          <p:cNvPr id="10" name="Title 1"/>
          <p:cNvSpPr>
            <a:spLocks noGrp="1"/>
          </p:cNvSpPr>
          <p:nvPr>
            <p:ph type="title"/>
          </p:nvPr>
        </p:nvSpPr>
        <p:spPr>
          <a:xfrm>
            <a:off x="323528" y="274638"/>
            <a:ext cx="8363272" cy="634082"/>
          </a:xfrm>
        </p:spPr>
        <p:txBody>
          <a:bodyPr/>
          <a:lstStyle/>
          <a:p>
            <a:r>
              <a:rPr lang="en-GB" sz="4000" dirty="0" smtClean="0"/>
              <a:t>Partitions that “cross-generalise”</a:t>
            </a:r>
            <a:endParaRPr lang="en-GB" sz="4000" dirty="0"/>
          </a:p>
        </p:txBody>
      </p:sp>
      <p:sp>
        <p:nvSpPr>
          <p:cNvPr id="11" name="Rectangle 10"/>
          <p:cNvSpPr/>
          <p:nvPr/>
        </p:nvSpPr>
        <p:spPr>
          <a:xfrm>
            <a:off x="130722" y="6420326"/>
            <a:ext cx="2339752" cy="369332"/>
          </a:xfrm>
          <a:prstGeom prst="rect">
            <a:avLst/>
          </a:prstGeom>
        </p:spPr>
        <p:txBody>
          <a:bodyPr wrap="square">
            <a:spAutoFit/>
          </a:bodyPr>
          <a:lstStyle/>
          <a:p>
            <a:r>
              <a:rPr lang="en-GB" altLang="en-US" dirty="0" err="1"/>
              <a:t>Oosterhof</a:t>
            </a:r>
            <a:r>
              <a:rPr lang="en-GB" altLang="en-US" dirty="0"/>
              <a:t> et al. (2016</a:t>
            </a:r>
            <a:r>
              <a:rPr lang="en-GB" altLang="en-US" dirty="0" smtClean="0"/>
              <a:t>)</a:t>
            </a:r>
            <a:endParaRPr lang="en-GB" dirty="0"/>
          </a:p>
        </p:txBody>
      </p:sp>
      <p:sp>
        <p:nvSpPr>
          <p:cNvPr id="12" name="Title 1"/>
          <p:cNvSpPr txBox="1">
            <a:spLocks/>
          </p:cNvSpPr>
          <p:nvPr/>
        </p:nvSpPr>
        <p:spPr bwMode="auto">
          <a:xfrm>
            <a:off x="6616939" y="6406051"/>
            <a:ext cx="2419557"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t>Back to demo!</a:t>
            </a:r>
            <a:endParaRPr lang="en-GB" altLang="en-US" sz="2800" b="1" dirty="0"/>
          </a:p>
        </p:txBody>
      </p:sp>
    </p:spTree>
    <p:extLst>
      <p:ext uri="{BB962C8B-B14F-4D97-AF65-F5344CB8AC3E}">
        <p14:creationId xmlns:p14="http://schemas.microsoft.com/office/powerpoint/2010/main" val="3308809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54752"/>
            <a:ext cx="4499992" cy="1934088"/>
          </a:xfrm>
        </p:spPr>
        <p:txBody>
          <a:bodyPr/>
          <a:lstStyle/>
          <a:p>
            <a:r>
              <a:rPr lang="en-GB" sz="2800" b="1" dirty="0">
                <a:solidFill>
                  <a:srgbClr val="FF0000"/>
                </a:solidFill>
              </a:rPr>
              <a:t>The RED </a:t>
            </a:r>
            <a:r>
              <a:rPr lang="en-GB" sz="2800" b="1" dirty="0" smtClean="0">
                <a:solidFill>
                  <a:srgbClr val="FF0000"/>
                </a:solidFill>
              </a:rPr>
              <a:t>exercise:</a:t>
            </a:r>
            <a:br>
              <a:rPr lang="en-GB" sz="2800" b="1" dirty="0" smtClean="0">
                <a:solidFill>
                  <a:srgbClr val="FF0000"/>
                </a:solidFill>
              </a:rPr>
            </a:br>
            <a:r>
              <a:rPr lang="en-GB" sz="2800" dirty="0" smtClean="0">
                <a:solidFill>
                  <a:srgbClr val="FF0000"/>
                </a:solidFill>
              </a:rPr>
              <a:t>No true pattern difference,</a:t>
            </a:r>
            <a:br>
              <a:rPr lang="en-GB" sz="2800" dirty="0" smtClean="0">
                <a:solidFill>
                  <a:srgbClr val="FF0000"/>
                </a:solidFill>
              </a:rPr>
            </a:br>
            <a:r>
              <a:rPr lang="en-GB" sz="2800" dirty="0" smtClean="0">
                <a:solidFill>
                  <a:srgbClr val="FF0000"/>
                </a:solidFill>
              </a:rPr>
              <a:t>but high classification performance</a:t>
            </a:r>
            <a:endParaRPr lang="en-GB" sz="2800" dirty="0">
              <a:solidFill>
                <a:srgbClr val="FF0000"/>
              </a:solidFill>
            </a:endParaRPr>
          </a:p>
        </p:txBody>
      </p:sp>
      <p:sp>
        <p:nvSpPr>
          <p:cNvPr id="28" name="Title 1"/>
          <p:cNvSpPr txBox="1">
            <a:spLocks/>
          </p:cNvSpPr>
          <p:nvPr/>
        </p:nvSpPr>
        <p:spPr bwMode="auto">
          <a:xfrm>
            <a:off x="4572000" y="54752"/>
            <a:ext cx="4499992" cy="193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GB" sz="2800" b="1" dirty="0" smtClean="0">
                <a:solidFill>
                  <a:schemeClr val="accent6"/>
                </a:solidFill>
              </a:rPr>
              <a:t>The ORANGE exercise:</a:t>
            </a:r>
            <a:br>
              <a:rPr lang="en-GB" sz="2800" b="1" dirty="0" smtClean="0">
                <a:solidFill>
                  <a:schemeClr val="accent6"/>
                </a:solidFill>
              </a:rPr>
            </a:br>
            <a:r>
              <a:rPr lang="en-GB" sz="2800" dirty="0" smtClean="0">
                <a:solidFill>
                  <a:schemeClr val="accent6"/>
                </a:solidFill>
              </a:rPr>
              <a:t>A true pattern difference,</a:t>
            </a:r>
            <a:br>
              <a:rPr lang="en-GB" sz="2800" dirty="0" smtClean="0">
                <a:solidFill>
                  <a:schemeClr val="accent6"/>
                </a:solidFill>
              </a:rPr>
            </a:br>
            <a:r>
              <a:rPr lang="en-GB" sz="2800" dirty="0" smtClean="0">
                <a:solidFill>
                  <a:schemeClr val="accent6"/>
                </a:solidFill>
              </a:rPr>
              <a:t>but disappointing classification performance</a:t>
            </a:r>
            <a:endParaRPr lang="en-GB" sz="2800" dirty="0">
              <a:solidFill>
                <a:schemeClr val="accent6"/>
              </a:solidFill>
            </a:endParaRPr>
          </a:p>
        </p:txBody>
      </p:sp>
      <p:sp>
        <p:nvSpPr>
          <p:cNvPr id="30" name="Title 1"/>
          <p:cNvSpPr txBox="1">
            <a:spLocks/>
          </p:cNvSpPr>
          <p:nvPr/>
        </p:nvSpPr>
        <p:spPr bwMode="auto">
          <a:xfrm>
            <a:off x="0" y="3140968"/>
            <a:ext cx="4499992" cy="244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GB" sz="2800" b="1" dirty="0" smtClean="0">
                <a:solidFill>
                  <a:schemeClr val="accent3">
                    <a:lumMod val="75000"/>
                  </a:schemeClr>
                </a:solidFill>
              </a:rPr>
              <a:t>The GREEN exercise:</a:t>
            </a:r>
            <a:br>
              <a:rPr lang="en-GB" sz="2800" b="1" dirty="0" smtClean="0">
                <a:solidFill>
                  <a:schemeClr val="accent3">
                    <a:lumMod val="75000"/>
                  </a:schemeClr>
                </a:solidFill>
              </a:rPr>
            </a:br>
            <a:r>
              <a:rPr lang="en-GB" sz="2800" dirty="0" smtClean="0">
                <a:solidFill>
                  <a:schemeClr val="accent3">
                    <a:lumMod val="75000"/>
                  </a:schemeClr>
                </a:solidFill>
              </a:rPr>
              <a:t>No mean pattern difference,</a:t>
            </a:r>
            <a:br>
              <a:rPr lang="en-GB" sz="2800" dirty="0" smtClean="0">
                <a:solidFill>
                  <a:schemeClr val="accent3">
                    <a:lumMod val="75000"/>
                  </a:schemeClr>
                </a:solidFill>
              </a:rPr>
            </a:br>
            <a:r>
              <a:rPr lang="en-GB" sz="2800" dirty="0" smtClean="0">
                <a:solidFill>
                  <a:schemeClr val="accent3">
                    <a:lumMod val="75000"/>
                  </a:schemeClr>
                </a:solidFill>
              </a:rPr>
              <a:t>but high classification performance</a:t>
            </a:r>
            <a:endParaRPr lang="en-GB" sz="2800" dirty="0">
              <a:solidFill>
                <a:schemeClr val="accent3">
                  <a:lumMod val="75000"/>
                </a:schemeClr>
              </a:solidFill>
            </a:endParaRPr>
          </a:p>
        </p:txBody>
      </p:sp>
      <p:sp>
        <p:nvSpPr>
          <p:cNvPr id="31" name="Title 1"/>
          <p:cNvSpPr txBox="1">
            <a:spLocks/>
          </p:cNvSpPr>
          <p:nvPr/>
        </p:nvSpPr>
        <p:spPr bwMode="auto">
          <a:xfrm>
            <a:off x="4572000" y="3145320"/>
            <a:ext cx="4499992" cy="1990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GB" sz="2800" b="1" dirty="0" smtClean="0">
                <a:solidFill>
                  <a:srgbClr val="0070C0"/>
                </a:solidFill>
              </a:rPr>
              <a:t>The BLUE exercise:</a:t>
            </a:r>
            <a:br>
              <a:rPr lang="en-GB" sz="2800" b="1" dirty="0" smtClean="0">
                <a:solidFill>
                  <a:srgbClr val="0070C0"/>
                </a:solidFill>
              </a:rPr>
            </a:br>
            <a:r>
              <a:rPr lang="en-GB" sz="2800" dirty="0" smtClean="0">
                <a:solidFill>
                  <a:srgbClr val="0070C0"/>
                </a:solidFill>
              </a:rPr>
              <a:t>Significantly below-chance classification performance</a:t>
            </a:r>
            <a:endParaRPr lang="en-GB" sz="2800" dirty="0">
              <a:solidFill>
                <a:srgbClr val="0070C0"/>
              </a:solidFill>
            </a:endParaRPr>
          </a:p>
        </p:txBody>
      </p:sp>
      <p:pic>
        <p:nvPicPr>
          <p:cNvPr id="2" name="Picture 1"/>
          <p:cNvPicPr>
            <a:picLocks noChangeAspect="1"/>
          </p:cNvPicPr>
          <p:nvPr/>
        </p:nvPicPr>
        <p:blipFill>
          <a:blip r:embed="rId3">
            <a:clrChange>
              <a:clrFrom>
                <a:srgbClr val="FFFFFF"/>
              </a:clrFrom>
              <a:clrTo>
                <a:srgbClr val="FFFFFF">
                  <a:alpha val="0"/>
                </a:srgbClr>
              </a:clrTo>
            </a:clrChange>
          </a:blip>
          <a:stretch>
            <a:fillRect/>
          </a:stretch>
        </p:blipFill>
        <p:spPr>
          <a:xfrm rot="2700000">
            <a:off x="561438" y="1502443"/>
            <a:ext cx="1794742" cy="2045802"/>
          </a:xfrm>
          <a:prstGeom prst="rect">
            <a:avLst/>
          </a:prstGeom>
        </p:spPr>
      </p:pic>
      <p:sp>
        <p:nvSpPr>
          <p:cNvPr id="3" name="Rectangle 2"/>
          <p:cNvSpPr/>
          <p:nvPr/>
        </p:nvSpPr>
        <p:spPr>
          <a:xfrm>
            <a:off x="89592" y="89592"/>
            <a:ext cx="4427984" cy="3284984"/>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sp>
        <p:nvSpPr>
          <p:cNvPr id="10" name="Rectangle 9"/>
          <p:cNvSpPr/>
          <p:nvPr/>
        </p:nvSpPr>
        <p:spPr>
          <a:xfrm>
            <a:off x="4624752" y="89592"/>
            <a:ext cx="4427984" cy="3284984"/>
          </a:xfrm>
          <a:prstGeom prst="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sp>
        <p:nvSpPr>
          <p:cNvPr id="13" name="Rectangle 12"/>
          <p:cNvSpPr/>
          <p:nvPr/>
        </p:nvSpPr>
        <p:spPr>
          <a:xfrm>
            <a:off x="89592" y="3469616"/>
            <a:ext cx="4427984" cy="3284984"/>
          </a:xfrm>
          <a:prstGeom prst="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sp>
        <p:nvSpPr>
          <p:cNvPr id="14" name="Rectangle 13"/>
          <p:cNvSpPr/>
          <p:nvPr/>
        </p:nvSpPr>
        <p:spPr>
          <a:xfrm>
            <a:off x="4624752" y="3469616"/>
            <a:ext cx="4427984" cy="3284984"/>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pic>
        <p:nvPicPr>
          <p:cNvPr id="6" name="Picture 5"/>
          <p:cNvPicPr>
            <a:picLocks noChangeAspect="1"/>
          </p:cNvPicPr>
          <p:nvPr/>
        </p:nvPicPr>
        <p:blipFill>
          <a:blip r:embed="rId4"/>
          <a:stretch>
            <a:fillRect/>
          </a:stretch>
        </p:blipFill>
        <p:spPr>
          <a:xfrm>
            <a:off x="7476866" y="5112108"/>
            <a:ext cx="1585498" cy="1585498"/>
          </a:xfrm>
          <a:prstGeom prst="rect">
            <a:avLst/>
          </a:prstGeom>
        </p:spPr>
      </p:pic>
      <p:pic>
        <p:nvPicPr>
          <p:cNvPr id="16" name="Picture 15"/>
          <p:cNvPicPr>
            <a:picLocks noChangeAspect="1"/>
          </p:cNvPicPr>
          <p:nvPr/>
        </p:nvPicPr>
        <p:blipFill>
          <a:blip r:embed="rId5"/>
          <a:stretch>
            <a:fillRect/>
          </a:stretch>
        </p:blipFill>
        <p:spPr>
          <a:xfrm>
            <a:off x="2958508" y="1811990"/>
            <a:ext cx="1577488" cy="1577488"/>
          </a:xfrm>
          <a:prstGeom prst="rect">
            <a:avLst/>
          </a:prstGeom>
        </p:spPr>
      </p:pic>
      <p:pic>
        <p:nvPicPr>
          <p:cNvPr id="17" name="Picture 16"/>
          <p:cNvPicPr>
            <a:picLocks noChangeAspect="1"/>
          </p:cNvPicPr>
          <p:nvPr/>
        </p:nvPicPr>
        <p:blipFill>
          <a:blip r:embed="rId6"/>
          <a:stretch>
            <a:fillRect/>
          </a:stretch>
        </p:blipFill>
        <p:spPr>
          <a:xfrm>
            <a:off x="7446459" y="1744060"/>
            <a:ext cx="1646312" cy="1646312"/>
          </a:xfrm>
          <a:prstGeom prst="rect">
            <a:avLst/>
          </a:prstGeom>
        </p:spPr>
      </p:pic>
      <p:pic>
        <p:nvPicPr>
          <p:cNvPr id="18" name="Picture 17"/>
          <p:cNvPicPr>
            <a:picLocks noChangeAspect="1"/>
          </p:cNvPicPr>
          <p:nvPr/>
        </p:nvPicPr>
        <p:blipFill>
          <a:blip r:embed="rId7"/>
          <a:stretch>
            <a:fillRect/>
          </a:stretch>
        </p:blipFill>
        <p:spPr>
          <a:xfrm>
            <a:off x="-2105944" y="5141749"/>
            <a:ext cx="1561661" cy="1561661"/>
          </a:xfrm>
          <a:prstGeom prst="rect">
            <a:avLst/>
          </a:prstGeom>
        </p:spPr>
      </p:pic>
      <p:pic>
        <p:nvPicPr>
          <p:cNvPr id="19" name="Picture 18"/>
          <p:cNvPicPr>
            <a:picLocks noChangeAspect="1"/>
          </p:cNvPicPr>
          <p:nvPr/>
        </p:nvPicPr>
        <p:blipFill>
          <a:blip r:embed="rId8">
            <a:clrChange>
              <a:clrFrom>
                <a:srgbClr val="FFFFFF"/>
              </a:clrFrom>
              <a:clrTo>
                <a:srgbClr val="FFFFFF">
                  <a:alpha val="0"/>
                </a:srgbClr>
              </a:clrTo>
            </a:clrChange>
          </a:blip>
          <a:stretch>
            <a:fillRect/>
          </a:stretch>
        </p:blipFill>
        <p:spPr>
          <a:xfrm rot="2700000">
            <a:off x="5380001" y="1597496"/>
            <a:ext cx="1624291" cy="2006477"/>
          </a:xfrm>
          <a:prstGeom prst="rect">
            <a:avLst/>
          </a:prstGeom>
        </p:spPr>
      </p:pic>
      <p:pic>
        <p:nvPicPr>
          <p:cNvPr id="20" name="Picture 19"/>
          <p:cNvPicPr>
            <a:picLocks noChangeAspect="1"/>
          </p:cNvPicPr>
          <p:nvPr/>
        </p:nvPicPr>
        <p:blipFill>
          <a:blip r:embed="rId9"/>
          <a:stretch>
            <a:fillRect/>
          </a:stretch>
        </p:blipFill>
        <p:spPr>
          <a:xfrm>
            <a:off x="4905849" y="4869160"/>
            <a:ext cx="2341631" cy="1732033"/>
          </a:xfrm>
          <a:prstGeom prst="rect">
            <a:avLst/>
          </a:prstGeom>
        </p:spPr>
      </p:pic>
      <p:pic>
        <p:nvPicPr>
          <p:cNvPr id="21" name="Picture 20"/>
          <p:cNvPicPr>
            <a:picLocks noChangeAspect="1"/>
          </p:cNvPicPr>
          <p:nvPr/>
        </p:nvPicPr>
        <p:blipFill>
          <a:blip r:embed="rId10">
            <a:clrChange>
              <a:clrFrom>
                <a:srgbClr val="FFFFFF"/>
              </a:clrFrom>
              <a:clrTo>
                <a:srgbClr val="FFFFFF">
                  <a:alpha val="0"/>
                </a:srgbClr>
              </a:clrTo>
            </a:clrChange>
          </a:blip>
          <a:stretch>
            <a:fillRect/>
          </a:stretch>
        </p:blipFill>
        <p:spPr>
          <a:xfrm rot="4500000">
            <a:off x="578765" y="4865096"/>
            <a:ext cx="1468310" cy="1953347"/>
          </a:xfrm>
          <a:prstGeom prst="rect">
            <a:avLst/>
          </a:prstGeom>
        </p:spPr>
      </p:pic>
      <p:pic>
        <p:nvPicPr>
          <p:cNvPr id="22" name="Picture 21"/>
          <p:cNvPicPr>
            <a:picLocks noChangeAspect="1"/>
          </p:cNvPicPr>
          <p:nvPr/>
        </p:nvPicPr>
        <p:blipFill>
          <a:blip r:embed="rId11"/>
          <a:stretch>
            <a:fillRect/>
          </a:stretch>
        </p:blipFill>
        <p:spPr>
          <a:xfrm>
            <a:off x="2816647" y="5125030"/>
            <a:ext cx="1595098" cy="1595098"/>
          </a:xfrm>
          <a:prstGeom prst="rect">
            <a:avLst/>
          </a:prstGeom>
        </p:spPr>
      </p:pic>
    </p:spTree>
    <p:extLst>
      <p:ext uri="{BB962C8B-B14F-4D97-AF65-F5344CB8AC3E}">
        <p14:creationId xmlns:p14="http://schemas.microsoft.com/office/powerpoint/2010/main" val="4981900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54751"/>
            <a:ext cx="9144000" cy="637945"/>
          </a:xfrm>
        </p:spPr>
        <p:txBody>
          <a:bodyPr/>
          <a:lstStyle/>
          <a:p>
            <a:r>
              <a:rPr lang="en-GB" sz="3600" b="1" dirty="0" smtClean="0"/>
              <a:t>Unbalanced samples</a:t>
            </a:r>
            <a:endParaRPr lang="en-GB" sz="3600" b="1" dirty="0"/>
          </a:p>
        </p:txBody>
      </p:sp>
      <p:sp>
        <p:nvSpPr>
          <p:cNvPr id="8" name="Content Placeholder 2"/>
          <p:cNvSpPr>
            <a:spLocks noGrp="1"/>
          </p:cNvSpPr>
          <p:nvPr>
            <p:ph idx="1"/>
          </p:nvPr>
        </p:nvSpPr>
        <p:spPr>
          <a:xfrm>
            <a:off x="457200" y="908720"/>
            <a:ext cx="8435280" cy="5760640"/>
          </a:xfrm>
        </p:spPr>
        <p:txBody>
          <a:bodyPr/>
          <a:lstStyle/>
          <a:p>
            <a:pPr>
              <a:spcAft>
                <a:spcPts val="600"/>
              </a:spcAft>
            </a:pPr>
            <a:r>
              <a:rPr lang="en-US" altLang="en-US" sz="2400" dirty="0" smtClean="0"/>
              <a:t>A classifier that doesn’t look at the test data should be at chance (on average)</a:t>
            </a:r>
          </a:p>
          <a:p>
            <a:pPr>
              <a:spcAft>
                <a:spcPts val="600"/>
              </a:spcAft>
            </a:pPr>
            <a:r>
              <a:rPr lang="en-US" altLang="en-US" sz="2400" dirty="0" smtClean="0"/>
              <a:t>In this case, what </a:t>
            </a:r>
            <a:r>
              <a:rPr lang="en-US" altLang="en-US" sz="2400" dirty="0"/>
              <a:t>is the expected proportion of correct classifications (accuracy) for </a:t>
            </a:r>
            <a:r>
              <a:rPr lang="en-US" altLang="en-US" sz="2400" dirty="0" smtClean="0"/>
              <a:t>N balanced classes?</a:t>
            </a:r>
          </a:p>
          <a:p>
            <a:pPr>
              <a:spcAft>
                <a:spcPts val="600"/>
              </a:spcAft>
            </a:pPr>
            <a:r>
              <a:rPr lang="en-US" altLang="en-US" sz="2400" dirty="0" smtClean="0"/>
              <a:t>But what will happen if there are more samples from class A than class B (in both test and train sets)?</a:t>
            </a:r>
          </a:p>
          <a:p>
            <a:pPr>
              <a:spcAft>
                <a:spcPts val="600"/>
              </a:spcAft>
            </a:pPr>
            <a:r>
              <a:rPr lang="en-US" altLang="en-US" sz="2400" dirty="0" smtClean="0"/>
              <a:t>What could we do about this?</a:t>
            </a:r>
          </a:p>
          <a:p>
            <a:pPr lvl="1">
              <a:spcAft>
                <a:spcPts val="600"/>
              </a:spcAft>
            </a:pPr>
            <a:r>
              <a:rPr lang="en-US" altLang="en-US" sz="2000" dirty="0" smtClean="0"/>
              <a:t>Design the experiment to collect balanced data</a:t>
            </a:r>
          </a:p>
          <a:p>
            <a:pPr lvl="1">
              <a:spcAft>
                <a:spcPts val="600"/>
              </a:spcAft>
            </a:pPr>
            <a:r>
              <a:rPr lang="en-US" altLang="en-US" sz="2000" dirty="0"/>
              <a:t>Resample the data at each fold to restore </a:t>
            </a:r>
            <a:r>
              <a:rPr lang="en-US" altLang="en-US" sz="2000" dirty="0" smtClean="0"/>
              <a:t>balance</a:t>
            </a:r>
          </a:p>
          <a:p>
            <a:pPr lvl="1">
              <a:spcAft>
                <a:spcPts val="600"/>
              </a:spcAft>
            </a:pPr>
            <a:r>
              <a:rPr lang="en-US" altLang="en-US" sz="2000" dirty="0" smtClean="0"/>
              <a:t>Tell the classifier to re-weight the samples to adjust for imbalance</a:t>
            </a:r>
            <a:endParaRPr lang="en-GB" altLang="en-US" sz="2400" dirty="0"/>
          </a:p>
          <a:p>
            <a:pPr lvl="1">
              <a:spcAft>
                <a:spcPts val="600"/>
              </a:spcAft>
            </a:pPr>
            <a:r>
              <a:rPr lang="en-US" altLang="en-US" sz="2000" dirty="0" smtClean="0"/>
              <a:t>Use an output measure that is unbiased for unbalanced data</a:t>
            </a:r>
          </a:p>
          <a:p>
            <a:pPr lvl="2">
              <a:spcAft>
                <a:spcPts val="600"/>
              </a:spcAft>
            </a:pPr>
            <a:r>
              <a:rPr lang="en-US" altLang="en-US" sz="1600" dirty="0" smtClean="0"/>
              <a:t>This last one is orthogonal to the others, and is always a good idea in case attempts to balance the samples are imperfect. However it doesn’t stop the classifier being biased, it just ensures this bias does not propagate to the performance metric.</a:t>
            </a:r>
          </a:p>
        </p:txBody>
      </p:sp>
    </p:spTree>
    <p:extLst>
      <p:ext uri="{BB962C8B-B14F-4D97-AF65-F5344CB8AC3E}">
        <p14:creationId xmlns:p14="http://schemas.microsoft.com/office/powerpoint/2010/main" val="190124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6323335" y="1774160"/>
            <a:ext cx="1768865" cy="2059415"/>
            <a:chOff x="5676923" y="1747888"/>
            <a:chExt cx="1768865" cy="2059415"/>
          </a:xfrm>
        </p:grpSpPr>
        <p:pic>
          <p:nvPicPr>
            <p:cNvPr id="32" name="Picture 31"/>
            <p:cNvPicPr>
              <a:picLocks noChangeAspect="1"/>
            </p:cNvPicPr>
            <p:nvPr/>
          </p:nvPicPr>
          <p:blipFill>
            <a:blip r:embed="rId2">
              <a:clrChange>
                <a:clrFrom>
                  <a:srgbClr val="FFFFFF"/>
                </a:clrFrom>
                <a:clrTo>
                  <a:srgbClr val="FFFFFF">
                    <a:alpha val="0"/>
                  </a:srgbClr>
                </a:clrTo>
              </a:clrChange>
            </a:blip>
            <a:stretch>
              <a:fillRect/>
            </a:stretch>
          </p:blipFill>
          <p:spPr>
            <a:xfrm rot="20828616">
              <a:off x="5676923" y="1747888"/>
              <a:ext cx="1768865" cy="2016306"/>
            </a:xfrm>
            <a:prstGeom prst="rect">
              <a:avLst/>
            </a:prstGeom>
          </p:spPr>
        </p:pic>
        <p:sp>
          <p:nvSpPr>
            <p:cNvPr id="2" name="Oval 1"/>
            <p:cNvSpPr/>
            <p:nvPr/>
          </p:nvSpPr>
          <p:spPr>
            <a:xfrm>
              <a:off x="6750720" y="2202805"/>
              <a:ext cx="256513" cy="298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6187077" y="2450268"/>
              <a:ext cx="256513" cy="298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p:cNvSpPr/>
            <p:nvPr/>
          </p:nvSpPr>
          <p:spPr>
            <a:xfrm>
              <a:off x="6561355" y="2731061"/>
              <a:ext cx="367185" cy="298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6119035" y="3192991"/>
              <a:ext cx="256513" cy="298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p:cNvSpPr/>
            <p:nvPr/>
          </p:nvSpPr>
          <p:spPr>
            <a:xfrm>
              <a:off x="6653864" y="2122728"/>
              <a:ext cx="300113" cy="5061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5980463" y="2869860"/>
              <a:ext cx="256513" cy="3799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6672027" y="1844797"/>
              <a:ext cx="256513" cy="3799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p:cNvSpPr/>
            <p:nvPr/>
          </p:nvSpPr>
          <p:spPr>
            <a:xfrm>
              <a:off x="6514120" y="2918815"/>
              <a:ext cx="414420" cy="377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p:cNvSpPr/>
            <p:nvPr/>
          </p:nvSpPr>
          <p:spPr>
            <a:xfrm>
              <a:off x="6106011" y="3456141"/>
              <a:ext cx="367185" cy="351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itle 1"/>
          <p:cNvSpPr>
            <a:spLocks noGrp="1"/>
          </p:cNvSpPr>
          <p:nvPr>
            <p:ph type="title"/>
          </p:nvPr>
        </p:nvSpPr>
        <p:spPr>
          <a:xfrm>
            <a:off x="0" y="54752"/>
            <a:ext cx="9144000" cy="812591"/>
          </a:xfrm>
        </p:spPr>
        <p:txBody>
          <a:bodyPr/>
          <a:lstStyle/>
          <a:p>
            <a:r>
              <a:rPr lang="en-GB" sz="2800" b="1" dirty="0">
                <a:solidFill>
                  <a:srgbClr val="FF0000"/>
                </a:solidFill>
              </a:rPr>
              <a:t>The RED exercise </a:t>
            </a:r>
            <a:r>
              <a:rPr lang="en-GB" sz="2800" b="1" dirty="0" smtClean="0">
                <a:solidFill>
                  <a:srgbClr val="FF0000"/>
                </a:solidFill>
              </a:rPr>
              <a:t>- Unbalanced samples; no true signal</a:t>
            </a:r>
            <a:endParaRPr lang="en-GB" sz="2800" b="1" dirty="0">
              <a:solidFill>
                <a:srgbClr val="FF0000"/>
              </a:solidFill>
            </a:endParaRPr>
          </a:p>
        </p:txBody>
      </p:sp>
      <p:sp>
        <p:nvSpPr>
          <p:cNvPr id="8" name="Content Placeholder 2"/>
          <p:cNvSpPr>
            <a:spLocks noGrp="1"/>
          </p:cNvSpPr>
          <p:nvPr>
            <p:ph idx="1"/>
          </p:nvPr>
        </p:nvSpPr>
        <p:spPr>
          <a:xfrm>
            <a:off x="0" y="764704"/>
            <a:ext cx="9144000" cy="648072"/>
          </a:xfrm>
        </p:spPr>
        <p:txBody>
          <a:bodyPr/>
          <a:lstStyle/>
          <a:p>
            <a:pPr marL="0" indent="0" algn="ctr">
              <a:spcAft>
                <a:spcPts val="600"/>
              </a:spcAft>
              <a:buNone/>
            </a:pPr>
            <a:r>
              <a:rPr lang="en-US" altLang="en-US" sz="2000" dirty="0" smtClean="0"/>
              <a:t>Imagine a case with few samples in a red class and 4x as many in a blue class,</a:t>
            </a:r>
            <a:br>
              <a:rPr lang="en-US" altLang="en-US" sz="2000" dirty="0" smtClean="0"/>
            </a:br>
            <a:r>
              <a:rPr lang="en-US" altLang="en-US" sz="2000" dirty="0" smtClean="0"/>
              <a:t>but both randomly sampled from the same distribution:</a:t>
            </a:r>
          </a:p>
        </p:txBody>
      </p:sp>
      <p:cxnSp>
        <p:nvCxnSpPr>
          <p:cNvPr id="35" name="Straight Connector 34"/>
          <p:cNvCxnSpPr/>
          <p:nvPr/>
        </p:nvCxnSpPr>
        <p:spPr>
          <a:xfrm flipV="1">
            <a:off x="1979712" y="1712571"/>
            <a:ext cx="864096" cy="2129742"/>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36" name="Content Placeholder 2"/>
          <p:cNvSpPr txBox="1">
            <a:spLocks/>
          </p:cNvSpPr>
          <p:nvPr/>
        </p:nvSpPr>
        <p:spPr bwMode="auto">
          <a:xfrm>
            <a:off x="256731" y="3986329"/>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Font typeface="Arial" panose="020B0604020202020204" pitchFamily="34" charset="0"/>
              <a:buNone/>
            </a:pPr>
            <a:r>
              <a:rPr lang="en-US" altLang="en-US" sz="1800" dirty="0" smtClean="0"/>
              <a:t>A classifier that uses the class proportions will be biased to choose blue.</a:t>
            </a:r>
          </a:p>
          <a:p>
            <a:pPr marL="0" indent="0" algn="ctr">
              <a:spcAft>
                <a:spcPts val="600"/>
              </a:spcAft>
              <a:buFont typeface="Arial" panose="020B0604020202020204" pitchFamily="34" charset="0"/>
              <a:buNone/>
            </a:pPr>
            <a:r>
              <a:rPr lang="en-US" altLang="en-US" sz="1800" dirty="0" smtClean="0"/>
              <a:t>Here, the classifier always predicts blue and is correct 4/5 of the time, even if no true signal:</a:t>
            </a:r>
          </a:p>
          <a:p>
            <a:pPr marL="0" indent="0" algn="ctr">
              <a:spcAft>
                <a:spcPts val="600"/>
              </a:spcAft>
              <a:buFont typeface="Arial" panose="020B0604020202020204" pitchFamily="34" charset="0"/>
              <a:buNone/>
            </a:pPr>
            <a:r>
              <a:rPr lang="en-US" altLang="en-US" sz="1800" dirty="0" smtClean="0"/>
              <a:t>“Simple accuracy” = 80%</a:t>
            </a:r>
          </a:p>
        </p:txBody>
      </p:sp>
      <p:sp>
        <p:nvSpPr>
          <p:cNvPr id="38" name="Content Placeholder 2"/>
          <p:cNvSpPr txBox="1">
            <a:spLocks/>
          </p:cNvSpPr>
          <p:nvPr/>
        </p:nvSpPr>
        <p:spPr bwMode="auto">
          <a:xfrm>
            <a:off x="3203848" y="3986329"/>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altLang="en-US" sz="1800" dirty="0" smtClean="0"/>
              <a:t>Averaging “accuracy per class” corrects for the bias without changing the boundary, which is still biased:</a:t>
            </a:r>
          </a:p>
          <a:p>
            <a:pPr marL="0" indent="0" algn="ctr">
              <a:spcAft>
                <a:spcPts val="600"/>
              </a:spcAft>
              <a:buFont typeface="Arial" panose="020B0604020202020204" pitchFamily="34" charset="0"/>
              <a:buNone/>
            </a:pPr>
            <a:r>
              <a:rPr lang="en-US" altLang="en-US" sz="1800" dirty="0" smtClean="0"/>
              <a:t>In this </a:t>
            </a:r>
            <a:r>
              <a:rPr lang="en-US" altLang="en-US" sz="1800" dirty="0"/>
              <a:t>e</a:t>
            </a:r>
            <a:r>
              <a:rPr lang="en-US" altLang="en-US" sz="1800" dirty="0" smtClean="0"/>
              <a:t>xample, </a:t>
            </a:r>
            <a:br>
              <a:rPr lang="en-US" altLang="en-US" sz="1800" dirty="0" smtClean="0"/>
            </a:br>
            <a:r>
              <a:rPr lang="en-US" altLang="en-US" sz="1800" dirty="0" smtClean="0">
                <a:solidFill>
                  <a:schemeClr val="accent1"/>
                </a:solidFill>
              </a:rPr>
              <a:t>Blue accuracy = 100%</a:t>
            </a:r>
            <a:r>
              <a:rPr lang="en-US" altLang="en-US" sz="1800" dirty="0">
                <a:solidFill>
                  <a:schemeClr val="accent1"/>
                </a:solidFill>
              </a:rPr>
              <a:t/>
            </a:r>
            <a:br>
              <a:rPr lang="en-US" altLang="en-US" sz="1800" dirty="0">
                <a:solidFill>
                  <a:schemeClr val="accent1"/>
                </a:solidFill>
              </a:rPr>
            </a:br>
            <a:r>
              <a:rPr lang="en-US" altLang="en-US" sz="1800" dirty="0" smtClean="0">
                <a:solidFill>
                  <a:schemeClr val="accent2"/>
                </a:solidFill>
              </a:rPr>
              <a:t>Red accuracy = 0%</a:t>
            </a:r>
            <a:r>
              <a:rPr lang="en-US" altLang="en-US" sz="1800" dirty="0">
                <a:solidFill>
                  <a:schemeClr val="accent2"/>
                </a:solidFill>
              </a:rPr>
              <a:t/>
            </a:r>
            <a:br>
              <a:rPr lang="en-US" altLang="en-US" sz="1800" dirty="0">
                <a:solidFill>
                  <a:schemeClr val="accent2"/>
                </a:solidFill>
              </a:rPr>
            </a:br>
            <a:r>
              <a:rPr lang="en-US" altLang="en-US" sz="1800" dirty="0" smtClean="0"/>
              <a:t>Average = 50%</a:t>
            </a:r>
          </a:p>
        </p:txBody>
      </p:sp>
      <p:sp>
        <p:nvSpPr>
          <p:cNvPr id="39" name="Content Placeholder 2"/>
          <p:cNvSpPr txBox="1">
            <a:spLocks/>
          </p:cNvSpPr>
          <p:nvPr/>
        </p:nvSpPr>
        <p:spPr bwMode="auto">
          <a:xfrm>
            <a:off x="6119523" y="3986329"/>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altLang="en-US" sz="1800" dirty="0" smtClean="0"/>
              <a:t>Subsampling the majority class will discard some data, but encourages unbiased placement of the decision boundary:</a:t>
            </a:r>
          </a:p>
          <a:p>
            <a:pPr marL="0" indent="0" algn="ctr">
              <a:spcAft>
                <a:spcPts val="600"/>
              </a:spcAft>
              <a:buNone/>
            </a:pPr>
            <a:r>
              <a:rPr lang="en-US" altLang="en-US" sz="1800" dirty="0"/>
              <a:t>“Simple accuracy” </a:t>
            </a:r>
            <a:r>
              <a:rPr lang="en-US" altLang="en-US" sz="1800" dirty="0" smtClean="0"/>
              <a:t/>
            </a:r>
            <a:br>
              <a:rPr lang="en-US" altLang="en-US" sz="1800" dirty="0" smtClean="0"/>
            </a:br>
            <a:r>
              <a:rPr lang="en-US" altLang="en-US" sz="1800" dirty="0" smtClean="0"/>
              <a:t>= “</a:t>
            </a:r>
            <a:r>
              <a:rPr lang="en-US" altLang="en-US" sz="1800" dirty="0"/>
              <a:t>accuracy per class” </a:t>
            </a:r>
            <a:r>
              <a:rPr lang="en-US" altLang="en-US" sz="1800" dirty="0" smtClean="0"/>
              <a:t/>
            </a:r>
            <a:br>
              <a:rPr lang="en-US" altLang="en-US" sz="1800" dirty="0" smtClean="0"/>
            </a:br>
            <a:r>
              <a:rPr lang="en-US" altLang="en-US" sz="1800" dirty="0" smtClean="0"/>
              <a:t>~  50% </a:t>
            </a:r>
            <a:r>
              <a:rPr lang="en-US" altLang="en-US" sz="1800" dirty="0" smtClean="0">
                <a:sym typeface="Symbol" panose="05050102010706020507" pitchFamily="18" charset="2"/>
              </a:rPr>
              <a:t></a:t>
            </a:r>
            <a:endParaRPr lang="en-US" altLang="en-US" sz="1800" dirty="0"/>
          </a:p>
          <a:p>
            <a:pPr marL="0" indent="0" algn="ctr">
              <a:spcAft>
                <a:spcPts val="600"/>
              </a:spcAft>
              <a:buNone/>
            </a:pPr>
            <a:endParaRPr lang="en-US" altLang="en-US" sz="1800" dirty="0" smtClean="0"/>
          </a:p>
        </p:txBody>
      </p:sp>
      <p:cxnSp>
        <p:nvCxnSpPr>
          <p:cNvPr id="22" name="Straight Connector 21"/>
          <p:cNvCxnSpPr/>
          <p:nvPr/>
        </p:nvCxnSpPr>
        <p:spPr>
          <a:xfrm flipV="1">
            <a:off x="4887594" y="1712571"/>
            <a:ext cx="864096" cy="2129742"/>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6893703" y="2320309"/>
            <a:ext cx="1206689" cy="833365"/>
          </a:xfrm>
          <a:prstGeom prst="line">
            <a:avLst/>
          </a:prstGeom>
          <a:ln w="28575">
            <a:prstDash val="dash"/>
          </a:ln>
        </p:spPr>
        <p:style>
          <a:lnRef idx="1">
            <a:schemeClr val="dk1"/>
          </a:lnRef>
          <a:fillRef idx="0">
            <a:schemeClr val="dk1"/>
          </a:fillRef>
          <a:effectRef idx="0">
            <a:schemeClr val="dk1"/>
          </a:effectRef>
          <a:fontRef idx="minor">
            <a:schemeClr val="tx1"/>
          </a:fontRef>
        </p:style>
      </p:cxnSp>
      <p:pic>
        <p:nvPicPr>
          <p:cNvPr id="30" name="Picture 29"/>
          <p:cNvPicPr>
            <a:picLocks noChangeAspect="1"/>
          </p:cNvPicPr>
          <p:nvPr/>
        </p:nvPicPr>
        <p:blipFill>
          <a:blip r:embed="rId2">
            <a:clrChange>
              <a:clrFrom>
                <a:srgbClr val="FFFFFF"/>
              </a:clrFrom>
              <a:clrTo>
                <a:srgbClr val="FFFFFF">
                  <a:alpha val="0"/>
                </a:srgbClr>
              </a:clrTo>
            </a:clrChange>
          </a:blip>
          <a:stretch>
            <a:fillRect/>
          </a:stretch>
        </p:blipFill>
        <p:spPr>
          <a:xfrm rot="20828616">
            <a:off x="618286" y="1715663"/>
            <a:ext cx="1768865" cy="2016306"/>
          </a:xfrm>
          <a:prstGeom prst="rect">
            <a:avLst/>
          </a:prstGeom>
        </p:spPr>
      </p:pic>
      <p:pic>
        <p:nvPicPr>
          <p:cNvPr id="31" name="Picture 30"/>
          <p:cNvPicPr>
            <a:picLocks noChangeAspect="1"/>
          </p:cNvPicPr>
          <p:nvPr/>
        </p:nvPicPr>
        <p:blipFill>
          <a:blip r:embed="rId2">
            <a:clrChange>
              <a:clrFrom>
                <a:srgbClr val="FFFFFF"/>
              </a:clrFrom>
              <a:clrTo>
                <a:srgbClr val="FFFFFF">
                  <a:alpha val="0"/>
                </a:srgbClr>
              </a:clrTo>
            </a:clrChange>
          </a:blip>
          <a:stretch>
            <a:fillRect/>
          </a:stretch>
        </p:blipFill>
        <p:spPr>
          <a:xfrm rot="20828616">
            <a:off x="3503757" y="1715663"/>
            <a:ext cx="1768865" cy="2016306"/>
          </a:xfrm>
          <a:prstGeom prst="rect">
            <a:avLst/>
          </a:prstGeom>
        </p:spPr>
      </p:pic>
      <p:sp>
        <p:nvSpPr>
          <p:cNvPr id="44" name="Oval 43"/>
          <p:cNvSpPr/>
          <p:nvPr/>
        </p:nvSpPr>
        <p:spPr>
          <a:xfrm>
            <a:off x="6940297" y="1464977"/>
            <a:ext cx="256513" cy="298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358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8" grpId="0"/>
      <p:bldP spid="3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54751"/>
            <a:ext cx="9144000" cy="781961"/>
          </a:xfrm>
        </p:spPr>
        <p:txBody>
          <a:bodyPr/>
          <a:lstStyle/>
          <a:p>
            <a:r>
              <a:rPr lang="en-GB" sz="2800" b="1" dirty="0">
                <a:solidFill>
                  <a:schemeClr val="accent6"/>
                </a:solidFill>
              </a:rPr>
              <a:t>The </a:t>
            </a:r>
            <a:r>
              <a:rPr lang="en-GB" sz="2800" b="1" dirty="0" smtClean="0">
                <a:solidFill>
                  <a:schemeClr val="accent6"/>
                </a:solidFill>
              </a:rPr>
              <a:t>ORANGE exercise - Unbalanced samples; true signal</a:t>
            </a:r>
            <a:endParaRPr lang="en-GB" sz="2800" b="1" dirty="0"/>
          </a:p>
        </p:txBody>
      </p:sp>
      <p:sp>
        <p:nvSpPr>
          <p:cNvPr id="8" name="Content Placeholder 2"/>
          <p:cNvSpPr>
            <a:spLocks noGrp="1"/>
          </p:cNvSpPr>
          <p:nvPr>
            <p:ph idx="1"/>
          </p:nvPr>
        </p:nvSpPr>
        <p:spPr>
          <a:xfrm>
            <a:off x="0" y="704459"/>
            <a:ext cx="9144000" cy="792088"/>
          </a:xfrm>
        </p:spPr>
        <p:txBody>
          <a:bodyPr/>
          <a:lstStyle/>
          <a:p>
            <a:pPr marL="0" indent="0" algn="ctr">
              <a:spcAft>
                <a:spcPts val="600"/>
              </a:spcAft>
              <a:buNone/>
            </a:pPr>
            <a:r>
              <a:rPr lang="en-US" altLang="en-US" sz="2000" dirty="0" smtClean="0"/>
              <a:t>Again imagine a case with few red samples and this time 9x as many blue samples, </a:t>
            </a:r>
            <a:br>
              <a:rPr lang="en-US" altLang="en-US" sz="2000" dirty="0" smtClean="0"/>
            </a:br>
            <a:r>
              <a:rPr lang="en-US" altLang="en-US" sz="2000" dirty="0" smtClean="0"/>
              <a:t>this time drawn from different distributions:</a:t>
            </a:r>
          </a:p>
        </p:txBody>
      </p:sp>
      <p:sp>
        <p:nvSpPr>
          <p:cNvPr id="36" name="Content Placeholder 2"/>
          <p:cNvSpPr txBox="1">
            <a:spLocks/>
          </p:cNvSpPr>
          <p:nvPr/>
        </p:nvSpPr>
        <p:spPr bwMode="auto">
          <a:xfrm>
            <a:off x="256731" y="3914321"/>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Font typeface="Arial" panose="020B0604020202020204" pitchFamily="34" charset="0"/>
              <a:buNone/>
            </a:pPr>
            <a:r>
              <a:rPr lang="en-US" altLang="en-US" sz="1800" dirty="0" smtClean="0"/>
              <a:t>Without subsampling, the classification boundary will be somewhat biased to choose blue.</a:t>
            </a:r>
          </a:p>
          <a:p>
            <a:pPr marL="0" indent="0" algn="ctr">
              <a:spcAft>
                <a:spcPts val="600"/>
              </a:spcAft>
              <a:buFont typeface="Arial" panose="020B0604020202020204" pitchFamily="34" charset="0"/>
              <a:buNone/>
            </a:pPr>
            <a:r>
              <a:rPr lang="en-US" altLang="en-US" sz="1800" dirty="0" smtClean="0"/>
              <a:t>In this example, the classifier always predicts blue and is correct 90% of the time:</a:t>
            </a:r>
          </a:p>
          <a:p>
            <a:pPr marL="0" indent="0" algn="ctr">
              <a:spcAft>
                <a:spcPts val="600"/>
              </a:spcAft>
              <a:buFont typeface="Arial" panose="020B0604020202020204" pitchFamily="34" charset="0"/>
              <a:buNone/>
            </a:pPr>
            <a:r>
              <a:rPr lang="en-US" altLang="en-US" sz="1800" dirty="0" smtClean="0"/>
              <a:t>“Simple accuracy” = 90%</a:t>
            </a:r>
          </a:p>
        </p:txBody>
      </p:sp>
      <p:sp>
        <p:nvSpPr>
          <p:cNvPr id="38" name="Content Placeholder 2"/>
          <p:cNvSpPr txBox="1">
            <a:spLocks/>
          </p:cNvSpPr>
          <p:nvPr/>
        </p:nvSpPr>
        <p:spPr bwMode="auto">
          <a:xfrm>
            <a:off x="3203848" y="3914321"/>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altLang="en-US" sz="1800" dirty="0" smtClean="0"/>
              <a:t>Averaging “accuracy per class” corrects for the bias without changing the boundary, which is still biased </a:t>
            </a:r>
            <a:r>
              <a:rPr lang="en-US" altLang="en-US" sz="1800" dirty="0"/>
              <a:t>(suboptimal</a:t>
            </a:r>
            <a:r>
              <a:rPr lang="en-US" altLang="en-US" sz="1800" dirty="0" smtClean="0"/>
              <a:t>):</a:t>
            </a:r>
            <a:r>
              <a:rPr lang="en-US" altLang="en-US" sz="1000" dirty="0" smtClean="0"/>
              <a:t/>
            </a:r>
            <a:br>
              <a:rPr lang="en-US" altLang="en-US" sz="1000" dirty="0" smtClean="0"/>
            </a:br>
            <a:r>
              <a:rPr lang="en-US" altLang="en-US" sz="1000" dirty="0" smtClean="0"/>
              <a:t/>
            </a:r>
            <a:br>
              <a:rPr lang="en-US" altLang="en-US" sz="1000" dirty="0" smtClean="0"/>
            </a:br>
            <a:r>
              <a:rPr lang="en-US" altLang="en-US" sz="1800" dirty="0" smtClean="0">
                <a:solidFill>
                  <a:schemeClr val="accent1"/>
                </a:solidFill>
              </a:rPr>
              <a:t>Blue accuracy = 100%</a:t>
            </a:r>
            <a:r>
              <a:rPr lang="en-US" altLang="en-US" sz="1800" dirty="0">
                <a:solidFill>
                  <a:schemeClr val="accent1"/>
                </a:solidFill>
              </a:rPr>
              <a:t/>
            </a:r>
            <a:br>
              <a:rPr lang="en-US" altLang="en-US" sz="1800" dirty="0">
                <a:solidFill>
                  <a:schemeClr val="accent1"/>
                </a:solidFill>
              </a:rPr>
            </a:br>
            <a:r>
              <a:rPr lang="en-US" altLang="en-US" sz="1800" dirty="0" smtClean="0">
                <a:solidFill>
                  <a:schemeClr val="accent2"/>
                </a:solidFill>
              </a:rPr>
              <a:t>Red accuracy = 0%</a:t>
            </a:r>
            <a:r>
              <a:rPr lang="en-US" altLang="en-US" sz="1800" dirty="0">
                <a:solidFill>
                  <a:schemeClr val="accent2"/>
                </a:solidFill>
              </a:rPr>
              <a:t/>
            </a:r>
            <a:br>
              <a:rPr lang="en-US" altLang="en-US" sz="1800" dirty="0">
                <a:solidFill>
                  <a:schemeClr val="accent2"/>
                </a:solidFill>
              </a:rPr>
            </a:br>
            <a:r>
              <a:rPr lang="en-US" altLang="en-US" sz="1800" dirty="0" smtClean="0"/>
              <a:t>Average = 50%</a:t>
            </a:r>
          </a:p>
          <a:p>
            <a:pPr marL="0" indent="0" algn="ctr">
              <a:spcAft>
                <a:spcPts val="600"/>
              </a:spcAft>
              <a:buFont typeface="Arial" panose="020B0604020202020204" pitchFamily="34" charset="0"/>
              <a:buNone/>
            </a:pPr>
            <a:r>
              <a:rPr lang="en-US" altLang="en-US" sz="1800" dirty="0" smtClean="0"/>
              <a:t>…despite some true signal</a:t>
            </a:r>
          </a:p>
        </p:txBody>
      </p:sp>
      <p:sp>
        <p:nvSpPr>
          <p:cNvPr id="39" name="Content Placeholder 2"/>
          <p:cNvSpPr txBox="1">
            <a:spLocks/>
          </p:cNvSpPr>
          <p:nvPr/>
        </p:nvSpPr>
        <p:spPr bwMode="auto">
          <a:xfrm>
            <a:off x="6119523" y="3914321"/>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altLang="en-US" sz="1800" dirty="0" smtClean="0"/>
              <a:t>Subsampling or reweighting the majority class will discard some data, but can improve sensitivity by encouraging optimal placement of the decision boundary:</a:t>
            </a:r>
          </a:p>
          <a:p>
            <a:pPr marL="0" indent="0" algn="ctr">
              <a:spcAft>
                <a:spcPts val="600"/>
              </a:spcAft>
              <a:buNone/>
            </a:pPr>
            <a:r>
              <a:rPr lang="en-US" altLang="en-US" sz="1800" dirty="0"/>
              <a:t>“Simple accuracy” </a:t>
            </a:r>
            <a:r>
              <a:rPr lang="en-US" altLang="en-US" sz="1800" dirty="0" smtClean="0"/>
              <a:t>=</a:t>
            </a:r>
            <a:br>
              <a:rPr lang="en-US" altLang="en-US" sz="1800" dirty="0" smtClean="0"/>
            </a:br>
            <a:r>
              <a:rPr lang="en-US" altLang="en-US" sz="1800" dirty="0" smtClean="0"/>
              <a:t>“</a:t>
            </a:r>
            <a:r>
              <a:rPr lang="en-US" altLang="en-US" sz="1800" dirty="0"/>
              <a:t>accuracy per class” </a:t>
            </a:r>
            <a:r>
              <a:rPr lang="en-US" altLang="en-US" sz="1800" dirty="0" smtClean="0"/>
              <a:t>&gt; 50%</a:t>
            </a:r>
            <a:endParaRPr lang="en-US" altLang="en-US" sz="1800" dirty="0"/>
          </a:p>
          <a:p>
            <a:pPr marL="0" indent="0" algn="ctr">
              <a:spcAft>
                <a:spcPts val="600"/>
              </a:spcAft>
              <a:buNone/>
            </a:pPr>
            <a:endParaRPr lang="en-US" altLang="en-US" sz="1800" dirty="0" smtClean="0"/>
          </a:p>
        </p:txBody>
      </p:sp>
      <p:cxnSp>
        <p:nvCxnSpPr>
          <p:cNvPr id="46" name="Straight Connector 45"/>
          <p:cNvCxnSpPr/>
          <p:nvPr/>
        </p:nvCxnSpPr>
        <p:spPr>
          <a:xfrm flipV="1">
            <a:off x="4869657" y="1640563"/>
            <a:ext cx="864096" cy="2129742"/>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flipV="1">
            <a:off x="6732240" y="1916832"/>
            <a:ext cx="1512168" cy="1750336"/>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flipV="1">
            <a:off x="1933284" y="1640563"/>
            <a:ext cx="864096" cy="2129742"/>
          </a:xfrm>
          <a:prstGeom prst="line">
            <a:avLst/>
          </a:prstGeom>
          <a:ln w="28575">
            <a:prstDash val="dash"/>
          </a:ln>
        </p:spPr>
        <p:style>
          <a:lnRef idx="1">
            <a:schemeClr val="dk1"/>
          </a:lnRef>
          <a:fillRef idx="0">
            <a:schemeClr val="dk1"/>
          </a:fillRef>
          <a:effectRef idx="0">
            <a:schemeClr val="dk1"/>
          </a:effectRef>
          <a:fontRef idx="minor">
            <a:schemeClr val="tx1"/>
          </a:fontRef>
        </p:style>
      </p:cxnSp>
      <p:pic>
        <p:nvPicPr>
          <p:cNvPr id="19" name="Picture 18"/>
          <p:cNvPicPr>
            <a:picLocks noChangeAspect="1"/>
          </p:cNvPicPr>
          <p:nvPr/>
        </p:nvPicPr>
        <p:blipFill>
          <a:blip r:embed="rId2">
            <a:clrChange>
              <a:clrFrom>
                <a:srgbClr val="FFFFFF"/>
              </a:clrFrom>
              <a:clrTo>
                <a:srgbClr val="FFFFFF">
                  <a:alpha val="0"/>
                </a:srgbClr>
              </a:clrTo>
            </a:clrChange>
          </a:blip>
          <a:stretch>
            <a:fillRect/>
          </a:stretch>
        </p:blipFill>
        <p:spPr>
          <a:xfrm rot="20441805">
            <a:off x="812737" y="1635944"/>
            <a:ext cx="1624291" cy="2006477"/>
          </a:xfrm>
          <a:prstGeom prst="rect">
            <a:avLst/>
          </a:prstGeom>
        </p:spPr>
      </p:pic>
      <p:pic>
        <p:nvPicPr>
          <p:cNvPr id="20" name="Picture 19"/>
          <p:cNvPicPr>
            <a:picLocks noChangeAspect="1"/>
          </p:cNvPicPr>
          <p:nvPr/>
        </p:nvPicPr>
        <p:blipFill>
          <a:blip r:embed="rId2">
            <a:clrChange>
              <a:clrFrom>
                <a:srgbClr val="FFFFFF"/>
              </a:clrFrom>
              <a:clrTo>
                <a:srgbClr val="FFFFFF">
                  <a:alpha val="0"/>
                </a:srgbClr>
              </a:clrTo>
            </a:clrChange>
          </a:blip>
          <a:stretch>
            <a:fillRect/>
          </a:stretch>
        </p:blipFill>
        <p:spPr>
          <a:xfrm rot="20441805">
            <a:off x="3765710" y="1635944"/>
            <a:ext cx="1624291" cy="2006477"/>
          </a:xfrm>
          <a:prstGeom prst="rect">
            <a:avLst/>
          </a:prstGeom>
        </p:spPr>
      </p:pic>
      <p:pic>
        <p:nvPicPr>
          <p:cNvPr id="2" name="Picture 1"/>
          <p:cNvPicPr>
            <a:picLocks noChangeAspect="1"/>
          </p:cNvPicPr>
          <p:nvPr/>
        </p:nvPicPr>
        <p:blipFill>
          <a:blip r:embed="rId3">
            <a:clrChange>
              <a:clrFrom>
                <a:srgbClr val="FFFFFF"/>
              </a:clrFrom>
              <a:clrTo>
                <a:srgbClr val="FFFFFF">
                  <a:alpha val="0"/>
                </a:srgbClr>
              </a:clrTo>
            </a:clrChange>
          </a:blip>
          <a:stretch>
            <a:fillRect/>
          </a:stretch>
        </p:blipFill>
        <p:spPr>
          <a:xfrm rot="20700000">
            <a:off x="6567083" y="2134117"/>
            <a:ext cx="1841184" cy="1231582"/>
          </a:xfrm>
          <a:prstGeom prst="rect">
            <a:avLst/>
          </a:prstGeom>
        </p:spPr>
      </p:pic>
    </p:spTree>
    <p:extLst>
      <p:ext uri="{BB962C8B-B14F-4D97-AF65-F5344CB8AC3E}">
        <p14:creationId xmlns:p14="http://schemas.microsoft.com/office/powerpoint/2010/main" val="165343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8" grpId="0"/>
      <p:bldP spid="3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260648"/>
            <a:ext cx="9144000" cy="927366"/>
          </a:xfrm>
        </p:spPr>
        <p:txBody>
          <a:bodyPr/>
          <a:lstStyle/>
          <a:p>
            <a:r>
              <a:rPr lang="en-GB" sz="2800" b="1" dirty="0">
                <a:solidFill>
                  <a:schemeClr val="accent3"/>
                </a:solidFill>
              </a:rPr>
              <a:t>The </a:t>
            </a:r>
            <a:r>
              <a:rPr lang="en-GB" sz="2800" b="1" dirty="0" smtClean="0">
                <a:solidFill>
                  <a:schemeClr val="accent3"/>
                </a:solidFill>
              </a:rPr>
              <a:t>GREEN exercise – patterns with same mean,</a:t>
            </a:r>
            <a:br>
              <a:rPr lang="en-GB" sz="2800" b="1" dirty="0" smtClean="0">
                <a:solidFill>
                  <a:schemeClr val="accent3"/>
                </a:solidFill>
              </a:rPr>
            </a:br>
            <a:r>
              <a:rPr lang="en-GB" sz="2800" b="1" dirty="0" smtClean="0">
                <a:solidFill>
                  <a:schemeClr val="accent3"/>
                </a:solidFill>
              </a:rPr>
              <a:t>but different variance</a:t>
            </a:r>
            <a:endParaRPr lang="en-GB" sz="2800" b="1" dirty="0">
              <a:solidFill>
                <a:schemeClr val="accent3"/>
              </a:solidFill>
            </a:endParaRPr>
          </a:p>
        </p:txBody>
      </p:sp>
      <p:sp>
        <p:nvSpPr>
          <p:cNvPr id="36" name="Content Placeholder 2"/>
          <p:cNvSpPr txBox="1">
            <a:spLocks/>
          </p:cNvSpPr>
          <p:nvPr/>
        </p:nvSpPr>
        <p:spPr bwMode="auto">
          <a:xfrm>
            <a:off x="256731" y="3914321"/>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Font typeface="Arial" panose="020B0604020202020204" pitchFamily="34" charset="0"/>
              <a:buNone/>
            </a:pPr>
            <a:r>
              <a:rPr lang="en-US" altLang="en-US" sz="1800" dirty="0" smtClean="0"/>
              <a:t>A non-linear classifier </a:t>
            </a:r>
            <a:br>
              <a:rPr lang="en-US" altLang="en-US" sz="1800" dirty="0" smtClean="0"/>
            </a:br>
            <a:r>
              <a:rPr lang="en-US" altLang="en-US" sz="1800" dirty="0" smtClean="0"/>
              <a:t>(e.g. SVM with radial basis) can partially separate classes based on their variance:</a:t>
            </a:r>
          </a:p>
          <a:p>
            <a:pPr marL="0" indent="0" algn="ctr">
              <a:spcAft>
                <a:spcPts val="600"/>
              </a:spcAft>
              <a:buNone/>
            </a:pPr>
            <a:r>
              <a:rPr lang="en-US" altLang="en-US" sz="1800" dirty="0" smtClean="0">
                <a:solidFill>
                  <a:schemeClr val="accent2"/>
                </a:solidFill>
              </a:rPr>
              <a:t>Red </a:t>
            </a:r>
            <a:r>
              <a:rPr lang="en-US" altLang="en-US" sz="1800" dirty="0">
                <a:solidFill>
                  <a:schemeClr val="accent2"/>
                </a:solidFill>
              </a:rPr>
              <a:t>accuracy = </a:t>
            </a:r>
            <a:r>
              <a:rPr lang="en-US" altLang="en-US" sz="1800" dirty="0" smtClean="0">
                <a:solidFill>
                  <a:schemeClr val="accent2"/>
                </a:solidFill>
              </a:rPr>
              <a:t>100</a:t>
            </a:r>
            <a:r>
              <a:rPr lang="en-US" altLang="en-US" sz="1800" dirty="0">
                <a:solidFill>
                  <a:schemeClr val="accent2"/>
                </a:solidFill>
              </a:rPr>
              <a:t>%</a:t>
            </a:r>
            <a:br>
              <a:rPr lang="en-US" altLang="en-US" sz="1800" dirty="0">
                <a:solidFill>
                  <a:schemeClr val="accent2"/>
                </a:solidFill>
              </a:rPr>
            </a:br>
            <a:r>
              <a:rPr lang="en-US" altLang="en-US" sz="1800" dirty="0">
                <a:solidFill>
                  <a:schemeClr val="accent1"/>
                </a:solidFill>
              </a:rPr>
              <a:t>Blue accuracy </a:t>
            </a:r>
            <a:r>
              <a:rPr lang="en-US" altLang="en-US" sz="1800" dirty="0" smtClean="0">
                <a:solidFill>
                  <a:schemeClr val="accent1"/>
                </a:solidFill>
              </a:rPr>
              <a:t>&gt;&gt; 0</a:t>
            </a:r>
            <a:r>
              <a:rPr lang="en-US" altLang="en-US" sz="1800" dirty="0">
                <a:solidFill>
                  <a:schemeClr val="accent1"/>
                </a:solidFill>
              </a:rPr>
              <a:t>%</a:t>
            </a:r>
            <a:br>
              <a:rPr lang="en-US" altLang="en-US" sz="1800" dirty="0">
                <a:solidFill>
                  <a:schemeClr val="accent1"/>
                </a:solidFill>
              </a:rPr>
            </a:br>
            <a:r>
              <a:rPr lang="en-US" altLang="en-US" sz="1800" dirty="0" smtClean="0"/>
              <a:t>Average &gt;&gt; </a:t>
            </a:r>
            <a:r>
              <a:rPr lang="en-US" altLang="en-US" sz="1800" dirty="0"/>
              <a:t>50%</a:t>
            </a:r>
            <a:endParaRPr lang="en-US" altLang="en-US" sz="1800" dirty="0" smtClean="0"/>
          </a:p>
        </p:txBody>
      </p:sp>
      <p:sp>
        <p:nvSpPr>
          <p:cNvPr id="38" name="Content Placeholder 2"/>
          <p:cNvSpPr txBox="1">
            <a:spLocks/>
          </p:cNvSpPr>
          <p:nvPr/>
        </p:nvSpPr>
        <p:spPr bwMode="auto">
          <a:xfrm>
            <a:off x="3203848" y="3914321"/>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altLang="en-US" sz="1800" dirty="0" smtClean="0"/>
              <a:t>A linear classifier can still achieve above-chance performance using a metric based on the proportion correct:</a:t>
            </a:r>
            <a:r>
              <a:rPr lang="en-US" altLang="en-US" sz="1000" dirty="0" smtClean="0"/>
              <a:t/>
            </a:r>
            <a:br>
              <a:rPr lang="en-US" altLang="en-US" sz="1000" dirty="0" smtClean="0"/>
            </a:br>
            <a:r>
              <a:rPr lang="en-US" altLang="en-US" sz="1000" dirty="0" smtClean="0"/>
              <a:t/>
            </a:r>
            <a:br>
              <a:rPr lang="en-US" altLang="en-US" sz="1000" dirty="0" smtClean="0"/>
            </a:br>
            <a:r>
              <a:rPr lang="en-US" altLang="en-US" sz="1800" dirty="0">
                <a:solidFill>
                  <a:schemeClr val="accent2"/>
                </a:solidFill>
              </a:rPr>
              <a:t>Red accuracy = 100%</a:t>
            </a:r>
            <a:br>
              <a:rPr lang="en-US" altLang="en-US" sz="1800" dirty="0">
                <a:solidFill>
                  <a:schemeClr val="accent2"/>
                </a:solidFill>
              </a:rPr>
            </a:br>
            <a:r>
              <a:rPr lang="en-US" altLang="en-US" sz="1800" dirty="0">
                <a:solidFill>
                  <a:schemeClr val="accent1"/>
                </a:solidFill>
              </a:rPr>
              <a:t>Blue accuracy </a:t>
            </a:r>
            <a:r>
              <a:rPr lang="en-US" altLang="en-US" sz="1800" dirty="0" smtClean="0">
                <a:solidFill>
                  <a:schemeClr val="accent1"/>
                </a:solidFill>
              </a:rPr>
              <a:t>&gt; </a:t>
            </a:r>
            <a:r>
              <a:rPr lang="en-US" altLang="en-US" sz="1800" dirty="0">
                <a:solidFill>
                  <a:schemeClr val="accent1"/>
                </a:solidFill>
              </a:rPr>
              <a:t>0%</a:t>
            </a:r>
            <a:br>
              <a:rPr lang="en-US" altLang="en-US" sz="1800" dirty="0">
                <a:solidFill>
                  <a:schemeClr val="accent1"/>
                </a:solidFill>
              </a:rPr>
            </a:br>
            <a:r>
              <a:rPr lang="en-US" altLang="en-US" sz="1800" dirty="0"/>
              <a:t>Average </a:t>
            </a:r>
            <a:r>
              <a:rPr lang="en-US" altLang="en-US" sz="1800" dirty="0" smtClean="0"/>
              <a:t>&gt; </a:t>
            </a:r>
            <a:r>
              <a:rPr lang="en-US" altLang="en-US" sz="1800" dirty="0"/>
              <a:t>50%</a:t>
            </a:r>
          </a:p>
        </p:txBody>
      </p:sp>
      <p:sp>
        <p:nvSpPr>
          <p:cNvPr id="39" name="Content Placeholder 2"/>
          <p:cNvSpPr txBox="1">
            <a:spLocks/>
          </p:cNvSpPr>
          <p:nvPr/>
        </p:nvSpPr>
        <p:spPr bwMode="auto">
          <a:xfrm>
            <a:off x="6119523" y="3914321"/>
            <a:ext cx="2736304" cy="297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Aft>
                <a:spcPts val="600"/>
              </a:spcAft>
              <a:buNone/>
            </a:pPr>
            <a:r>
              <a:rPr lang="en-US" altLang="en-US" sz="1800" dirty="0" smtClean="0"/>
              <a:t>Other metrics can be insensitive to sample variance: </a:t>
            </a:r>
          </a:p>
          <a:p>
            <a:pPr marL="0" indent="0" algn="ctr">
              <a:spcAft>
                <a:spcPts val="600"/>
              </a:spcAft>
              <a:buNone/>
            </a:pPr>
            <a:r>
              <a:rPr lang="en-US" altLang="en-US" sz="1800" dirty="0" smtClean="0"/>
              <a:t>e.g. mean signed distance to hyperplane:</a:t>
            </a:r>
          </a:p>
          <a:p>
            <a:pPr marL="0" indent="0" algn="ctr">
              <a:spcAft>
                <a:spcPts val="600"/>
              </a:spcAft>
              <a:buNone/>
            </a:pPr>
            <a:r>
              <a:rPr lang="en-US" altLang="en-US" sz="1800" dirty="0" smtClean="0">
                <a:solidFill>
                  <a:schemeClr val="accent2"/>
                </a:solidFill>
              </a:rPr>
              <a:t>d</a:t>
            </a:r>
            <a:r>
              <a:rPr lang="en-US" altLang="en-US" sz="1800" dirty="0" smtClean="0"/>
              <a:t> </a:t>
            </a:r>
            <a:r>
              <a:rPr lang="en-US" altLang="en-US" sz="1800" dirty="0" smtClean="0">
                <a:solidFill>
                  <a:schemeClr val="accent1"/>
                </a:solidFill>
              </a:rPr>
              <a:t>– d</a:t>
            </a:r>
            <a:r>
              <a:rPr lang="en-US" altLang="en-US" sz="1800" dirty="0" smtClean="0"/>
              <a:t> = 0 = chance</a:t>
            </a:r>
            <a:br>
              <a:rPr lang="en-US" altLang="en-US" sz="1800" dirty="0" smtClean="0"/>
            </a:br>
            <a:endParaRPr lang="en-US" altLang="en-US" sz="1800" dirty="0" smtClean="0"/>
          </a:p>
        </p:txBody>
      </p:sp>
      <p:sp>
        <p:nvSpPr>
          <p:cNvPr id="52" name="Oval 51"/>
          <p:cNvSpPr/>
          <p:nvPr/>
        </p:nvSpPr>
        <p:spPr>
          <a:xfrm rot="1800000">
            <a:off x="1005624" y="1651908"/>
            <a:ext cx="1217674" cy="1944216"/>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53" name="Oval 52"/>
          <p:cNvSpPr/>
          <p:nvPr/>
        </p:nvSpPr>
        <p:spPr>
          <a:xfrm rot="1800000">
            <a:off x="1252080" y="2045415"/>
            <a:ext cx="724763" cy="1157202"/>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1" name="Oval 20"/>
          <p:cNvSpPr/>
          <p:nvPr/>
        </p:nvSpPr>
        <p:spPr>
          <a:xfrm rot="1800000">
            <a:off x="1252080" y="2045415"/>
            <a:ext cx="724763" cy="1157202"/>
          </a:xfrm>
          <a:prstGeom prst="ellipse">
            <a:avLst/>
          </a:prstGeom>
          <a:noFill/>
          <a:ln w="28575">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2" name="Oval 21"/>
          <p:cNvSpPr/>
          <p:nvPr/>
        </p:nvSpPr>
        <p:spPr>
          <a:xfrm rot="1800000">
            <a:off x="4040382" y="1651908"/>
            <a:ext cx="1217674" cy="1944216"/>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3" name="Oval 22"/>
          <p:cNvSpPr/>
          <p:nvPr/>
        </p:nvSpPr>
        <p:spPr>
          <a:xfrm rot="1800000">
            <a:off x="4286838" y="2045415"/>
            <a:ext cx="724763" cy="1157202"/>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cxnSp>
        <p:nvCxnSpPr>
          <p:cNvPr id="46" name="Straight Connector 45"/>
          <p:cNvCxnSpPr/>
          <p:nvPr/>
        </p:nvCxnSpPr>
        <p:spPr>
          <a:xfrm flipV="1">
            <a:off x="4582422" y="1578498"/>
            <a:ext cx="864096" cy="2129742"/>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4" name="Oval 23"/>
          <p:cNvSpPr/>
          <p:nvPr/>
        </p:nvSpPr>
        <p:spPr>
          <a:xfrm rot="1800000">
            <a:off x="6910280" y="1581572"/>
            <a:ext cx="1217674" cy="1944216"/>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5" name="Oval 24"/>
          <p:cNvSpPr/>
          <p:nvPr/>
        </p:nvSpPr>
        <p:spPr>
          <a:xfrm rot="1800000">
            <a:off x="7156736" y="1975079"/>
            <a:ext cx="724763" cy="1157202"/>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cxnSp>
        <p:nvCxnSpPr>
          <p:cNvPr id="50" name="Straight Connector 49"/>
          <p:cNvCxnSpPr/>
          <p:nvPr/>
        </p:nvCxnSpPr>
        <p:spPr>
          <a:xfrm flipV="1">
            <a:off x="7437200" y="1570227"/>
            <a:ext cx="864096" cy="2129742"/>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7519117" y="2553680"/>
            <a:ext cx="350131" cy="127150"/>
          </a:xfrm>
          <a:prstGeom prst="line">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7562754" y="2311498"/>
            <a:ext cx="306494" cy="369332"/>
          </a:xfrm>
          <a:prstGeom prst="rect">
            <a:avLst/>
          </a:prstGeom>
          <a:noFill/>
        </p:spPr>
        <p:txBody>
          <a:bodyPr wrap="none" rtlCol="0">
            <a:spAutoFit/>
          </a:bodyPr>
          <a:lstStyle/>
          <a:p>
            <a:r>
              <a:rPr lang="en-GB" dirty="0" smtClean="0"/>
              <a:t>d</a:t>
            </a:r>
            <a:endParaRPr lang="en-GB" dirty="0"/>
          </a:p>
        </p:txBody>
      </p:sp>
    </p:spTree>
    <p:extLst>
      <p:ext uri="{BB962C8B-B14F-4D97-AF65-F5344CB8AC3E}">
        <p14:creationId xmlns:p14="http://schemas.microsoft.com/office/powerpoint/2010/main" val="368202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8" grpId="0"/>
      <p:bldP spid="39" grpId="0"/>
      <p:bldP spid="21" grpId="0" animBg="1"/>
      <p:bldP spid="22" grpId="0" animBg="1"/>
      <p:bldP spid="23" grpId="0" animBg="1"/>
      <p:bldP spid="24" grpId="0" animBg="1"/>
      <p:bldP spid="25" grpId="0" animBg="1"/>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54751"/>
            <a:ext cx="9144000" cy="853969"/>
          </a:xfrm>
        </p:spPr>
        <p:txBody>
          <a:bodyPr/>
          <a:lstStyle/>
          <a:p>
            <a:r>
              <a:rPr lang="en-GB" sz="3600" b="1" dirty="0" smtClean="0"/>
              <a:t>Summary of some related principles:</a:t>
            </a:r>
            <a:endParaRPr lang="en-GB" sz="3600" b="1"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097902153"/>
              </p:ext>
            </p:extLst>
          </p:nvPr>
        </p:nvGraphicFramePr>
        <p:xfrm>
          <a:off x="251520" y="1124744"/>
          <a:ext cx="8640960" cy="5353824"/>
        </p:xfrm>
        <a:graphic>
          <a:graphicData uri="http://schemas.openxmlformats.org/drawingml/2006/table">
            <a:tbl>
              <a:tblPr firstRow="1" bandRow="1">
                <a:tableStyleId>{5C22544A-7EE6-4342-B048-85BDC9FD1C3A}</a:tableStyleId>
              </a:tblPr>
              <a:tblGrid>
                <a:gridCol w="1464570">
                  <a:extLst>
                    <a:ext uri="{9D8B030D-6E8A-4147-A177-3AD203B41FA5}">
                      <a16:colId xmlns:a16="http://schemas.microsoft.com/office/drawing/2014/main" val="1161236869"/>
                    </a:ext>
                  </a:extLst>
                </a:gridCol>
                <a:gridCol w="2135830">
                  <a:extLst>
                    <a:ext uri="{9D8B030D-6E8A-4147-A177-3AD203B41FA5}">
                      <a16:colId xmlns:a16="http://schemas.microsoft.com/office/drawing/2014/main" val="4085511832"/>
                    </a:ext>
                  </a:extLst>
                </a:gridCol>
                <a:gridCol w="2587406">
                  <a:extLst>
                    <a:ext uri="{9D8B030D-6E8A-4147-A177-3AD203B41FA5}">
                      <a16:colId xmlns:a16="http://schemas.microsoft.com/office/drawing/2014/main" val="2581057852"/>
                    </a:ext>
                  </a:extLst>
                </a:gridCol>
                <a:gridCol w="2453154">
                  <a:extLst>
                    <a:ext uri="{9D8B030D-6E8A-4147-A177-3AD203B41FA5}">
                      <a16:colId xmlns:a16="http://schemas.microsoft.com/office/drawing/2014/main" val="2908457911"/>
                    </a:ext>
                  </a:extLst>
                </a:gridCol>
              </a:tblGrid>
              <a:tr h="862455">
                <a:tc>
                  <a:txBody>
                    <a:bodyPr/>
                    <a:lstStyle/>
                    <a:p>
                      <a:endParaRPr lang="en-GB" dirty="0"/>
                    </a:p>
                  </a:txBody>
                  <a:tcPr/>
                </a:tc>
                <a:tc gridSpan="3">
                  <a:txBody>
                    <a:bodyPr/>
                    <a:lstStyle/>
                    <a:p>
                      <a:pPr algn="ctr"/>
                      <a:r>
                        <a:rPr lang="en-GB" dirty="0" smtClean="0"/>
                        <a:t>Problems that might inflate performance </a:t>
                      </a:r>
                    </a:p>
                    <a:p>
                      <a:pPr algn="ctr"/>
                      <a:r>
                        <a:rPr lang="en-GB" dirty="0" smtClean="0"/>
                        <a:t>(assumed to reflect</a:t>
                      </a:r>
                      <a:r>
                        <a:rPr lang="en-GB" baseline="0" dirty="0" smtClean="0"/>
                        <a:t> real mean pattern differences):</a:t>
                      </a:r>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907447734"/>
                  </a:ext>
                </a:extLst>
              </a:tr>
              <a:tr h="721721">
                <a:tc>
                  <a:txBody>
                    <a:bodyPr/>
                    <a:lstStyle/>
                    <a:p>
                      <a:endParaRPr lang="en-GB" dirty="0"/>
                    </a:p>
                  </a:txBody>
                  <a:tcPr/>
                </a:tc>
                <a:tc>
                  <a:txBody>
                    <a:bodyPr/>
                    <a:lstStyle/>
                    <a:p>
                      <a:r>
                        <a:rPr lang="en-GB" b="1" dirty="0" smtClean="0"/>
                        <a:t>Bias due to overfitting noise</a:t>
                      </a:r>
                      <a:endParaRPr lang="en-GB" b="1" dirty="0"/>
                    </a:p>
                  </a:txBody>
                  <a:tcPr/>
                </a:tc>
                <a:tc>
                  <a:txBody>
                    <a:bodyPr/>
                    <a:lstStyle/>
                    <a:p>
                      <a:r>
                        <a:rPr lang="en-GB" b="1" dirty="0" smtClean="0">
                          <a:solidFill>
                            <a:schemeClr val="accent2"/>
                          </a:solidFill>
                        </a:rPr>
                        <a:t>Bias due</a:t>
                      </a:r>
                      <a:r>
                        <a:rPr lang="en-GB" b="1" baseline="0" dirty="0" smtClean="0">
                          <a:solidFill>
                            <a:schemeClr val="accent2"/>
                          </a:solidFill>
                        </a:rPr>
                        <a:t> to unequal </a:t>
                      </a:r>
                      <a:br>
                        <a:rPr lang="en-GB" b="1" baseline="0" dirty="0" smtClean="0">
                          <a:solidFill>
                            <a:schemeClr val="accent2"/>
                          </a:solidFill>
                        </a:rPr>
                      </a:br>
                      <a:r>
                        <a:rPr lang="en-GB" b="1" baseline="0" dirty="0" smtClean="0">
                          <a:solidFill>
                            <a:schemeClr val="accent2"/>
                          </a:solidFill>
                        </a:rPr>
                        <a:t>class probability</a:t>
                      </a:r>
                      <a:endParaRPr lang="en-GB" b="1" dirty="0">
                        <a:solidFill>
                          <a:schemeClr val="accent2"/>
                        </a:solidFill>
                      </a:endParaRPr>
                    </a:p>
                  </a:txBody>
                  <a:tcPr/>
                </a:tc>
                <a:tc>
                  <a:txBody>
                    <a:bodyPr/>
                    <a:lstStyle/>
                    <a:p>
                      <a:r>
                        <a:rPr lang="en-GB" b="1" dirty="0" smtClean="0">
                          <a:solidFill>
                            <a:schemeClr val="accent3">
                              <a:lumMod val="75000"/>
                            </a:schemeClr>
                          </a:solidFill>
                        </a:rPr>
                        <a:t>Bias due to unequal class</a:t>
                      </a:r>
                      <a:r>
                        <a:rPr lang="en-GB" b="1" baseline="0" dirty="0" smtClean="0">
                          <a:solidFill>
                            <a:schemeClr val="accent3">
                              <a:lumMod val="75000"/>
                            </a:schemeClr>
                          </a:solidFill>
                        </a:rPr>
                        <a:t> </a:t>
                      </a:r>
                      <a:r>
                        <a:rPr lang="en-GB" b="1" dirty="0" smtClean="0">
                          <a:solidFill>
                            <a:schemeClr val="accent3">
                              <a:lumMod val="75000"/>
                            </a:schemeClr>
                          </a:solidFill>
                        </a:rPr>
                        <a:t>variance</a:t>
                      </a:r>
                      <a:endParaRPr lang="en-GB" b="1" dirty="0">
                        <a:solidFill>
                          <a:schemeClr val="accent3">
                            <a:lumMod val="75000"/>
                          </a:schemeClr>
                        </a:solidFill>
                      </a:endParaRPr>
                    </a:p>
                  </a:txBody>
                  <a:tcPr/>
                </a:tc>
                <a:extLst>
                  <a:ext uri="{0D108BD9-81ED-4DB2-BD59-A6C34878D82A}">
                    <a16:rowId xmlns:a16="http://schemas.microsoft.com/office/drawing/2014/main" val="2113488154"/>
                  </a:ext>
                </a:extLst>
              </a:tr>
              <a:tr h="1597133">
                <a:tc>
                  <a:txBody>
                    <a:bodyPr/>
                    <a:lstStyle/>
                    <a:p>
                      <a:r>
                        <a:rPr lang="en-GB" b="1" dirty="0" smtClean="0"/>
                        <a:t>Solution to reduce bias</a:t>
                      </a:r>
                      <a:br>
                        <a:rPr lang="en-GB" b="1" dirty="0" smtClean="0"/>
                      </a:br>
                      <a:r>
                        <a:rPr lang="en-GB" b="1" dirty="0" smtClean="0"/>
                        <a:t>in classifier</a:t>
                      </a:r>
                      <a:endParaRPr lang="en-GB" b="1" dirty="0"/>
                    </a:p>
                  </a:txBody>
                  <a:tcPr/>
                </a:tc>
                <a:tc>
                  <a:txBody>
                    <a:bodyPr/>
                    <a:lstStyle/>
                    <a:p>
                      <a:r>
                        <a:rPr lang="en-GB" sz="1600" dirty="0" smtClean="0"/>
                        <a:t>Use a simpler model:</a:t>
                      </a:r>
                      <a:br>
                        <a:rPr lang="en-GB" sz="1600" dirty="0" smtClean="0"/>
                      </a:br>
                      <a:r>
                        <a:rPr lang="en-GB" sz="1600" dirty="0" smtClean="0"/>
                        <a:t/>
                      </a:r>
                      <a:br>
                        <a:rPr lang="en-GB" sz="1600" dirty="0" smtClean="0"/>
                      </a:br>
                      <a:endParaRPr lang="en-GB" sz="1600" baseline="0" dirty="0" smtClean="0"/>
                    </a:p>
                    <a:p>
                      <a:pPr marL="285750" indent="-285750">
                        <a:buFont typeface="Arial" panose="020B0604020202020204" pitchFamily="34" charset="0"/>
                        <a:buChar char="•"/>
                      </a:pPr>
                      <a:r>
                        <a:rPr lang="en-GB" sz="1600" baseline="0" dirty="0" smtClean="0"/>
                        <a:t>fewer features</a:t>
                      </a:r>
                    </a:p>
                    <a:p>
                      <a:pPr marL="285750" indent="-285750">
                        <a:buFont typeface="Arial" panose="020B0604020202020204" pitchFamily="34" charset="0"/>
                        <a:buChar char="•"/>
                      </a:pPr>
                      <a:r>
                        <a:rPr lang="en-GB" sz="1600" baseline="0" dirty="0" smtClean="0"/>
                        <a:t>fewer parameters</a:t>
                      </a:r>
                    </a:p>
                    <a:p>
                      <a:pPr marL="285750" indent="-285750">
                        <a:buFont typeface="Arial" panose="020B0604020202020204" pitchFamily="34" charset="0"/>
                        <a:buChar char="•"/>
                      </a:pPr>
                      <a:r>
                        <a:rPr lang="en-GB" sz="1600" baseline="0" dirty="0" smtClean="0"/>
                        <a:t>more regularisation</a:t>
                      </a:r>
                      <a:endParaRPr lang="en-GB" sz="1600" dirty="0"/>
                    </a:p>
                  </a:txBody>
                  <a:tcPr/>
                </a:tc>
                <a:tc>
                  <a:txBody>
                    <a:bodyPr/>
                    <a:lstStyle/>
                    <a:p>
                      <a:r>
                        <a:rPr lang="en-GB" sz="1600" dirty="0" smtClean="0"/>
                        <a:t>Reduce</a:t>
                      </a:r>
                      <a:r>
                        <a:rPr lang="en-GB" sz="1600" baseline="0" dirty="0" smtClean="0"/>
                        <a:t> imbalance in training set:</a:t>
                      </a:r>
                      <a:br>
                        <a:rPr lang="en-GB" sz="1600" baseline="0" dirty="0" smtClean="0"/>
                      </a:br>
                      <a:endParaRPr lang="en-GB" sz="1600" baseline="0" dirty="0" smtClean="0"/>
                    </a:p>
                    <a:p>
                      <a:pPr marL="285750" indent="-285750">
                        <a:buFont typeface="Arial" panose="020B0604020202020204" pitchFamily="34" charset="0"/>
                        <a:buChar char="•"/>
                      </a:pPr>
                      <a:r>
                        <a:rPr lang="en-GB" sz="1600" baseline="0" dirty="0" smtClean="0"/>
                        <a:t>by design</a:t>
                      </a:r>
                    </a:p>
                    <a:p>
                      <a:pPr marL="285750" indent="-285750">
                        <a:buFont typeface="Arial" panose="020B0604020202020204" pitchFamily="34" charset="0"/>
                        <a:buChar char="•"/>
                      </a:pPr>
                      <a:r>
                        <a:rPr lang="en-GB" sz="1600" dirty="0" smtClean="0"/>
                        <a:t>by resampling</a:t>
                      </a:r>
                    </a:p>
                    <a:p>
                      <a:pPr marL="285750" indent="-285750">
                        <a:buFont typeface="Arial" panose="020B0604020202020204" pitchFamily="34" charset="0"/>
                        <a:buChar char="•"/>
                      </a:pPr>
                      <a:r>
                        <a:rPr lang="en-GB" sz="1600" dirty="0" smtClean="0"/>
                        <a:t>by</a:t>
                      </a:r>
                      <a:r>
                        <a:rPr lang="en-GB" sz="1600" baseline="0" dirty="0" smtClean="0"/>
                        <a:t> reweighting</a:t>
                      </a:r>
                      <a:endParaRPr lang="en-GB" sz="1600" dirty="0"/>
                    </a:p>
                  </a:txBody>
                  <a:tcPr/>
                </a:tc>
                <a:tc>
                  <a:txBody>
                    <a:bodyPr/>
                    <a:lstStyle/>
                    <a:p>
                      <a:pPr marL="285750" indent="-285750">
                        <a:buFont typeface="Arial" panose="020B0604020202020204" pitchFamily="34" charset="0"/>
                        <a:buChar char="•"/>
                      </a:pPr>
                      <a:r>
                        <a:rPr lang="en-GB" sz="1600" dirty="0" smtClean="0"/>
                        <a:t>Try</a:t>
                      </a:r>
                      <a:r>
                        <a:rPr lang="en-GB" sz="1600" baseline="0" dirty="0" smtClean="0"/>
                        <a:t> to m</a:t>
                      </a:r>
                      <a:r>
                        <a:rPr lang="en-GB" sz="1600" dirty="0" smtClean="0"/>
                        <a:t>atch class variance by design</a:t>
                      </a:r>
                    </a:p>
                    <a:p>
                      <a:pPr marL="285750" indent="-285750">
                        <a:buFont typeface="Arial" panose="020B0604020202020204" pitchFamily="34" charset="0"/>
                        <a:buChar char="•"/>
                      </a:pPr>
                      <a:r>
                        <a:rPr lang="en-GB" sz="1600" dirty="0" smtClean="0"/>
                        <a:t>Use a classifier that’s less sensitive to class variance </a:t>
                      </a:r>
                      <a:br>
                        <a:rPr lang="en-GB" sz="1600" dirty="0" smtClean="0"/>
                      </a:br>
                      <a:r>
                        <a:rPr lang="en-GB" sz="1600" dirty="0" smtClean="0"/>
                        <a:t>(e.g. linear rather than</a:t>
                      </a:r>
                      <a:r>
                        <a:rPr lang="en-GB" sz="1600" baseline="0" dirty="0" smtClean="0"/>
                        <a:t> nonlinear</a:t>
                      </a:r>
                      <a:r>
                        <a:rPr lang="en-GB" sz="1600" dirty="0" smtClean="0"/>
                        <a:t>)</a:t>
                      </a:r>
                      <a:endParaRPr lang="en-GB" sz="1600" dirty="0"/>
                    </a:p>
                  </a:txBody>
                  <a:tcPr/>
                </a:tc>
                <a:extLst>
                  <a:ext uri="{0D108BD9-81ED-4DB2-BD59-A6C34878D82A}">
                    <a16:rowId xmlns:a16="http://schemas.microsoft.com/office/drawing/2014/main" val="4196019611"/>
                  </a:ext>
                </a:extLst>
              </a:tr>
              <a:tr h="1971328">
                <a:tc>
                  <a:txBody>
                    <a:bodyPr/>
                    <a:lstStyle/>
                    <a:p>
                      <a:r>
                        <a:rPr lang="en-GB" b="1" dirty="0" smtClean="0"/>
                        <a:t>Solution</a:t>
                      </a:r>
                      <a:r>
                        <a:rPr lang="en-GB" b="1" baseline="0" dirty="0" smtClean="0"/>
                        <a:t> to remove bias from performance metric</a:t>
                      </a:r>
                      <a:endParaRPr lang="en-GB" b="1" dirty="0"/>
                    </a:p>
                  </a:txBody>
                  <a:tcPr/>
                </a:tc>
                <a:tc>
                  <a:txBody>
                    <a:bodyPr/>
                    <a:lstStyle/>
                    <a:p>
                      <a:r>
                        <a:rPr lang="en-GB" sz="1600" dirty="0" smtClean="0"/>
                        <a:t>Cross-validate</a:t>
                      </a:r>
                      <a:endParaRPr lang="en-GB" sz="1600" dirty="0"/>
                    </a:p>
                  </a:txBody>
                  <a:tcPr/>
                </a:tc>
                <a:tc>
                  <a:txBody>
                    <a:bodyPr/>
                    <a:lstStyle/>
                    <a:p>
                      <a:pPr marL="285750" indent="-285750">
                        <a:buFont typeface="Arial" panose="020B0604020202020204" pitchFamily="34" charset="0"/>
                        <a:buChar char="•"/>
                      </a:pPr>
                      <a:r>
                        <a:rPr lang="en-GB" sz="1600" dirty="0" smtClean="0"/>
                        <a:t>Use a metric that is insensitive to class probability, e.g.:</a:t>
                      </a:r>
                    </a:p>
                    <a:p>
                      <a:pPr marL="742950" lvl="1" indent="-285750">
                        <a:buFont typeface="Arial" panose="020B0604020202020204" pitchFamily="34" charset="0"/>
                        <a:buChar char="•"/>
                      </a:pPr>
                      <a:r>
                        <a:rPr lang="en-GB" sz="1400" dirty="0" smtClean="0"/>
                        <a:t>Balanced accuracy</a:t>
                      </a:r>
                    </a:p>
                    <a:p>
                      <a:pPr marL="742950" lvl="1" indent="-285750">
                        <a:buFont typeface="Arial" panose="020B0604020202020204" pitchFamily="34" charset="0"/>
                        <a:buChar char="•"/>
                      </a:pPr>
                      <a:r>
                        <a:rPr lang="en-GB" sz="1400" dirty="0" smtClean="0"/>
                        <a:t>Area under ROC curve</a:t>
                      </a:r>
                    </a:p>
                    <a:p>
                      <a:pPr marL="285750" lvl="0" indent="-285750">
                        <a:buFont typeface="Arial" panose="020B0604020202020204" pitchFamily="34" charset="0"/>
                        <a:buChar char="•"/>
                      </a:pPr>
                      <a:r>
                        <a:rPr lang="en-GB" sz="1600" dirty="0" smtClean="0"/>
                        <a:t>Ensure test set is balanced</a:t>
                      </a:r>
                      <a:endParaRPr lang="en-GB" sz="1600" dirty="0"/>
                    </a:p>
                  </a:txBody>
                  <a:tcPr/>
                </a:tc>
                <a:tc>
                  <a:txBody>
                    <a:bodyPr/>
                    <a:lstStyle/>
                    <a:p>
                      <a:r>
                        <a:rPr lang="en-GB" sz="1600" dirty="0" smtClean="0"/>
                        <a:t>Use a</a:t>
                      </a:r>
                      <a:r>
                        <a:rPr lang="en-GB" sz="1600" baseline="0" dirty="0" smtClean="0"/>
                        <a:t> metric that’s insensitive to pattern variance, e.g.:</a:t>
                      </a:r>
                    </a:p>
                    <a:p>
                      <a:pPr marL="285750" indent="-285750">
                        <a:buFont typeface="Arial" panose="020B0604020202020204" pitchFamily="34" charset="0"/>
                        <a:buChar char="•"/>
                      </a:pPr>
                      <a:r>
                        <a:rPr lang="en-GB" sz="1600" baseline="0" dirty="0" smtClean="0"/>
                        <a:t>Mean signed distance to hyperplane</a:t>
                      </a:r>
                      <a:endParaRPr lang="en-GB" sz="1600" dirty="0"/>
                    </a:p>
                  </a:txBody>
                  <a:tcPr/>
                </a:tc>
                <a:extLst>
                  <a:ext uri="{0D108BD9-81ED-4DB2-BD59-A6C34878D82A}">
                    <a16:rowId xmlns:a16="http://schemas.microsoft.com/office/drawing/2014/main" val="366725687"/>
                  </a:ext>
                </a:extLst>
              </a:tr>
            </a:tbl>
          </a:graphicData>
        </a:graphic>
      </p:graphicFrame>
    </p:spTree>
    <p:extLst>
      <p:ext uri="{BB962C8B-B14F-4D97-AF65-F5344CB8AC3E}">
        <p14:creationId xmlns:p14="http://schemas.microsoft.com/office/powerpoint/2010/main" val="181916483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6239667" y="3383164"/>
            <a:ext cx="2320925" cy="2952750"/>
            <a:chOff x="5867400" y="1641475"/>
            <a:chExt cx="2320925" cy="2952750"/>
          </a:xfrm>
        </p:grpSpPr>
        <p:pic>
          <p:nvPicPr>
            <p:cNvPr id="11280" name="Content Placeholder 3" descr="granada_inference_RFX.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5825" y="1641475"/>
              <a:ext cx="9525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1" name="Rectangle 17"/>
            <p:cNvSpPr>
              <a:spLocks noChangeArrowheads="1"/>
            </p:cNvSpPr>
            <p:nvPr/>
          </p:nvSpPr>
          <p:spPr bwMode="auto">
            <a:xfrm>
              <a:off x="5867400" y="2867025"/>
              <a:ext cx="1443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50% (chance)</a:t>
              </a:r>
            </a:p>
          </p:txBody>
        </p:sp>
        <p:sp>
          <p:nvSpPr>
            <p:cNvPr id="11282" name="Rectangle 18"/>
            <p:cNvSpPr>
              <a:spLocks noChangeArrowheads="1"/>
            </p:cNvSpPr>
            <p:nvPr/>
          </p:nvSpPr>
          <p:spPr bwMode="auto">
            <a:xfrm>
              <a:off x="6710363" y="3813175"/>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0%</a:t>
              </a:r>
            </a:p>
          </p:txBody>
        </p:sp>
        <p:sp>
          <p:nvSpPr>
            <p:cNvPr id="11283" name="Rectangle 19"/>
            <p:cNvSpPr>
              <a:spLocks noChangeArrowheads="1"/>
            </p:cNvSpPr>
            <p:nvPr/>
          </p:nvSpPr>
          <p:spPr bwMode="auto">
            <a:xfrm>
              <a:off x="6594475" y="2011363"/>
              <a:ext cx="700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100%</a:t>
              </a:r>
            </a:p>
          </p:txBody>
        </p:sp>
      </p:grpSp>
      <p:sp>
        <p:nvSpPr>
          <p:cNvPr id="11284" name="Rectangle 20"/>
          <p:cNvSpPr>
            <a:spLocks noChangeArrowheads="1"/>
          </p:cNvSpPr>
          <p:nvPr/>
        </p:nvSpPr>
        <p:spPr bwMode="auto">
          <a:xfrm>
            <a:off x="362890" y="3822126"/>
            <a:ext cx="785571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2000" dirty="0" smtClean="0"/>
              <a:t>8 </a:t>
            </a:r>
            <a:r>
              <a:rPr lang="en-US" altLang="en-US" sz="2000" dirty="0"/>
              <a:t>runs</a:t>
            </a:r>
          </a:p>
          <a:p>
            <a:pPr eaLnBrk="1" hangingPunct="1">
              <a:spcBef>
                <a:spcPct val="0"/>
              </a:spcBef>
            </a:pPr>
            <a:r>
              <a:rPr lang="en-US" altLang="en-US" sz="2000" dirty="0"/>
              <a:t>2 </a:t>
            </a:r>
            <a:r>
              <a:rPr lang="en-US" altLang="en-US" sz="2000" dirty="0" smtClean="0"/>
              <a:t>activation patterns per </a:t>
            </a:r>
            <a:r>
              <a:rPr lang="en-US" altLang="en-US" sz="2000" dirty="0"/>
              <a:t>run, </a:t>
            </a:r>
            <a:r>
              <a:rPr lang="en-US" altLang="en-US" sz="2000" dirty="0" smtClean="0"/>
              <a:t/>
            </a:r>
            <a:br>
              <a:rPr lang="en-US" altLang="en-US" sz="2000" dirty="0" smtClean="0"/>
            </a:br>
            <a:r>
              <a:rPr lang="en-US" altLang="en-US" sz="2000" dirty="0" smtClean="0"/>
              <a:t>in </a:t>
            </a:r>
            <a:r>
              <a:rPr lang="en-US" altLang="en-US" sz="2000" dirty="0"/>
              <a:t>response to </a:t>
            </a:r>
            <a:r>
              <a:rPr lang="en-US" altLang="en-US" sz="2000" dirty="0" err="1"/>
              <a:t>coloured</a:t>
            </a:r>
            <a:r>
              <a:rPr lang="en-US" altLang="en-US" sz="2000" dirty="0"/>
              <a:t> </a:t>
            </a:r>
            <a:r>
              <a:rPr lang="en-US" altLang="en-US" sz="2000" dirty="0" smtClean="0"/>
              <a:t>fruits</a:t>
            </a:r>
          </a:p>
          <a:p>
            <a:pPr eaLnBrk="1" hangingPunct="1">
              <a:spcBef>
                <a:spcPct val="0"/>
              </a:spcBef>
            </a:pPr>
            <a:r>
              <a:rPr lang="en-US" altLang="en-US" sz="2000" dirty="0" smtClean="0"/>
              <a:t>Fruit &amp; </a:t>
            </a:r>
            <a:r>
              <a:rPr lang="en-US" altLang="en-US" sz="2000" dirty="0"/>
              <a:t>colour </a:t>
            </a:r>
            <a:r>
              <a:rPr lang="en-US" altLang="en-US" sz="2000" dirty="0" smtClean="0"/>
              <a:t>fully counterbalanced </a:t>
            </a:r>
            <a:br>
              <a:rPr lang="en-US" altLang="en-US" sz="2000" dirty="0" smtClean="0"/>
            </a:br>
            <a:r>
              <a:rPr lang="en-US" altLang="en-US" sz="2000" dirty="0" smtClean="0"/>
              <a:t>across the experiment</a:t>
            </a:r>
          </a:p>
          <a:p>
            <a:pPr eaLnBrk="1" hangingPunct="1">
              <a:spcBef>
                <a:spcPct val="0"/>
              </a:spcBef>
            </a:pPr>
            <a:r>
              <a:rPr lang="en-US" altLang="en-US" sz="2000" dirty="0" smtClean="0"/>
              <a:t>One of each fruit, and one of each colour, per run</a:t>
            </a:r>
            <a:endParaRPr lang="en-US" altLang="en-US" sz="2000" dirty="0"/>
          </a:p>
          <a:p>
            <a:pPr eaLnBrk="1" hangingPunct="1">
              <a:spcBef>
                <a:spcPct val="0"/>
              </a:spcBef>
            </a:pPr>
            <a:r>
              <a:rPr lang="en-US" altLang="en-US" sz="2000" dirty="0"/>
              <a:t>Leave-one-run-out cross validation</a:t>
            </a:r>
          </a:p>
          <a:p>
            <a:pPr eaLnBrk="1" hangingPunct="1">
              <a:spcBef>
                <a:spcPct val="0"/>
              </a:spcBef>
            </a:pPr>
            <a:r>
              <a:rPr lang="en-US" altLang="en-US" sz="2000" dirty="0">
                <a:solidFill>
                  <a:srgbClr val="FF0000"/>
                </a:solidFill>
              </a:rPr>
              <a:t>Significantly below-chance decoding of </a:t>
            </a:r>
            <a:r>
              <a:rPr lang="en-US" altLang="en-US" sz="2000" dirty="0" smtClean="0">
                <a:solidFill>
                  <a:srgbClr val="FF0000"/>
                </a:solidFill>
              </a:rPr>
              <a:t>fruit (apple </a:t>
            </a:r>
            <a:r>
              <a:rPr lang="en-US" altLang="en-US" sz="2000" dirty="0">
                <a:solidFill>
                  <a:srgbClr val="FF0000"/>
                </a:solidFill>
              </a:rPr>
              <a:t>vs </a:t>
            </a:r>
            <a:r>
              <a:rPr lang="en-US" altLang="en-US" sz="2000" dirty="0" smtClean="0">
                <a:solidFill>
                  <a:srgbClr val="FF0000"/>
                </a:solidFill>
              </a:rPr>
              <a:t>pear)</a:t>
            </a:r>
          </a:p>
        </p:txBody>
      </p:sp>
      <p:grpSp>
        <p:nvGrpSpPr>
          <p:cNvPr id="14" name="Group 13"/>
          <p:cNvGrpSpPr/>
          <p:nvPr/>
        </p:nvGrpSpPr>
        <p:grpSpPr>
          <a:xfrm>
            <a:off x="1547664" y="1075321"/>
            <a:ext cx="769079" cy="2256871"/>
            <a:chOff x="2008317" y="1641475"/>
            <a:chExt cx="769079" cy="2256871"/>
          </a:xfrm>
        </p:grpSpPr>
        <p:sp>
          <p:nvSpPr>
            <p:cNvPr id="11276" name="Rectangle 11"/>
            <p:cNvSpPr>
              <a:spLocks noChangeArrowheads="1"/>
            </p:cNvSpPr>
            <p:nvPr/>
          </p:nvSpPr>
          <p:spPr bwMode="auto">
            <a:xfrm>
              <a:off x="2031700" y="1641475"/>
              <a:ext cx="72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2</a:t>
              </a:r>
            </a:p>
          </p:txBody>
        </p:sp>
        <p:pic>
          <p:nvPicPr>
            <p:cNvPr id="23" name="Picture 22"/>
            <p:cNvPicPr>
              <a:picLocks noChangeAspect="1"/>
            </p:cNvPicPr>
            <p:nvPr/>
          </p:nvPicPr>
          <p:blipFill>
            <a:blip r:embed="rId3">
              <a:duotone>
                <a:schemeClr val="accent4">
                  <a:shade val="45000"/>
                  <a:satMod val="135000"/>
                </a:schemeClr>
                <a:prstClr val="white"/>
              </a:duotone>
            </a:blip>
            <a:stretch>
              <a:fillRect/>
            </a:stretch>
          </p:blipFill>
          <p:spPr>
            <a:xfrm>
              <a:off x="2016003" y="2031533"/>
              <a:ext cx="753707" cy="839234"/>
            </a:xfrm>
            <a:prstGeom prst="rect">
              <a:avLst/>
            </a:prstGeom>
          </p:spPr>
        </p:pic>
        <p:pic>
          <p:nvPicPr>
            <p:cNvPr id="12" name="Picture 11"/>
            <p:cNvPicPr>
              <a:picLocks noChangeAspect="1"/>
            </p:cNvPicPr>
            <p:nvPr/>
          </p:nvPicPr>
          <p:blipFill>
            <a:blip r:embed="rId4">
              <a:duotone>
                <a:schemeClr val="accent1">
                  <a:shade val="45000"/>
                  <a:satMod val="135000"/>
                </a:schemeClr>
                <a:prstClr val="white"/>
              </a:duotone>
            </a:blip>
            <a:stretch>
              <a:fillRect/>
            </a:stretch>
          </p:blipFill>
          <p:spPr>
            <a:xfrm>
              <a:off x="2008317" y="2973898"/>
              <a:ext cx="769079" cy="924448"/>
            </a:xfrm>
            <a:prstGeom prst="rect">
              <a:avLst/>
            </a:prstGeom>
          </p:spPr>
        </p:pic>
      </p:grpSp>
      <p:grpSp>
        <p:nvGrpSpPr>
          <p:cNvPr id="13" name="Group 12"/>
          <p:cNvGrpSpPr/>
          <p:nvPr/>
        </p:nvGrpSpPr>
        <p:grpSpPr>
          <a:xfrm>
            <a:off x="487705" y="1075321"/>
            <a:ext cx="784971" cy="2266423"/>
            <a:chOff x="998715" y="1641475"/>
            <a:chExt cx="784971" cy="2266423"/>
          </a:xfrm>
        </p:grpSpPr>
        <p:sp>
          <p:nvSpPr>
            <p:cNvPr id="11275" name="Rectangle 10"/>
            <p:cNvSpPr>
              <a:spLocks noChangeArrowheads="1"/>
            </p:cNvSpPr>
            <p:nvPr/>
          </p:nvSpPr>
          <p:spPr bwMode="auto">
            <a:xfrm>
              <a:off x="1029250"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1</a:t>
              </a:r>
            </a:p>
          </p:txBody>
        </p:sp>
        <p:pic>
          <p:nvPicPr>
            <p:cNvPr id="3" name="Picture 2"/>
            <p:cNvPicPr>
              <a:picLocks noChangeAspect="1"/>
            </p:cNvPicPr>
            <p:nvPr/>
          </p:nvPicPr>
          <p:blipFill>
            <a:blip r:embed="rId3">
              <a:duotone>
                <a:schemeClr val="accent1">
                  <a:shade val="45000"/>
                  <a:satMod val="135000"/>
                </a:schemeClr>
                <a:prstClr val="white"/>
              </a:duotone>
            </a:blip>
            <a:stretch>
              <a:fillRect/>
            </a:stretch>
          </p:blipFill>
          <p:spPr>
            <a:xfrm>
              <a:off x="1014347" y="2031533"/>
              <a:ext cx="753707" cy="839234"/>
            </a:xfrm>
            <a:prstGeom prst="rect">
              <a:avLst/>
            </a:prstGeom>
          </p:spPr>
        </p:pic>
        <p:pic>
          <p:nvPicPr>
            <p:cNvPr id="26" name="Picture 25"/>
            <p:cNvPicPr>
              <a:picLocks noChangeAspect="1"/>
            </p:cNvPicPr>
            <p:nvPr/>
          </p:nvPicPr>
          <p:blipFill>
            <a:blip r:embed="rId4">
              <a:duotone>
                <a:schemeClr val="accent4">
                  <a:shade val="45000"/>
                  <a:satMod val="135000"/>
                </a:schemeClr>
                <a:prstClr val="white"/>
              </a:duotone>
            </a:blip>
            <a:stretch>
              <a:fillRect/>
            </a:stretch>
          </p:blipFill>
          <p:spPr>
            <a:xfrm>
              <a:off x="998715" y="2964347"/>
              <a:ext cx="784971" cy="943551"/>
            </a:xfrm>
            <a:prstGeom prst="rect">
              <a:avLst/>
            </a:prstGeom>
          </p:spPr>
        </p:pic>
      </p:grpSp>
      <p:grpSp>
        <p:nvGrpSpPr>
          <p:cNvPr id="15" name="Group 14"/>
          <p:cNvGrpSpPr/>
          <p:nvPr/>
        </p:nvGrpSpPr>
        <p:grpSpPr>
          <a:xfrm>
            <a:off x="2591731" y="1075321"/>
            <a:ext cx="784971" cy="2214264"/>
            <a:chOff x="3059397" y="1641475"/>
            <a:chExt cx="784971" cy="2214264"/>
          </a:xfrm>
        </p:grpSpPr>
        <p:sp>
          <p:nvSpPr>
            <p:cNvPr id="11277" name="Rectangle 12"/>
            <p:cNvSpPr>
              <a:spLocks noChangeArrowheads="1"/>
            </p:cNvSpPr>
            <p:nvPr/>
          </p:nvSpPr>
          <p:spPr bwMode="auto">
            <a:xfrm>
              <a:off x="3090726" y="1641475"/>
              <a:ext cx="722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3</a:t>
              </a:r>
            </a:p>
          </p:txBody>
        </p:sp>
        <p:pic>
          <p:nvPicPr>
            <p:cNvPr id="27" name="Picture 26"/>
            <p:cNvPicPr>
              <a:picLocks noChangeAspect="1"/>
            </p:cNvPicPr>
            <p:nvPr/>
          </p:nvPicPr>
          <p:blipFill>
            <a:blip r:embed="rId3">
              <a:duotone>
                <a:schemeClr val="accent1">
                  <a:shade val="45000"/>
                  <a:satMod val="135000"/>
                </a:schemeClr>
                <a:prstClr val="white"/>
              </a:duotone>
            </a:blip>
            <a:stretch>
              <a:fillRect/>
            </a:stretch>
          </p:blipFill>
          <p:spPr>
            <a:xfrm>
              <a:off x="3075029" y="3016505"/>
              <a:ext cx="753707" cy="839234"/>
            </a:xfrm>
            <a:prstGeom prst="rect">
              <a:avLst/>
            </a:prstGeom>
          </p:spPr>
        </p:pic>
        <p:pic>
          <p:nvPicPr>
            <p:cNvPr id="28" name="Picture 27"/>
            <p:cNvPicPr>
              <a:picLocks noChangeAspect="1"/>
            </p:cNvPicPr>
            <p:nvPr/>
          </p:nvPicPr>
          <p:blipFill>
            <a:blip r:embed="rId4">
              <a:duotone>
                <a:schemeClr val="accent4">
                  <a:shade val="45000"/>
                  <a:satMod val="135000"/>
                </a:schemeClr>
                <a:prstClr val="white"/>
              </a:duotone>
            </a:blip>
            <a:stretch>
              <a:fillRect/>
            </a:stretch>
          </p:blipFill>
          <p:spPr>
            <a:xfrm>
              <a:off x="3059397" y="1979375"/>
              <a:ext cx="784971" cy="943551"/>
            </a:xfrm>
            <a:prstGeom prst="rect">
              <a:avLst/>
            </a:prstGeom>
          </p:spPr>
        </p:pic>
      </p:grpSp>
      <p:grpSp>
        <p:nvGrpSpPr>
          <p:cNvPr id="16" name="Group 15"/>
          <p:cNvGrpSpPr/>
          <p:nvPr/>
        </p:nvGrpSpPr>
        <p:grpSpPr>
          <a:xfrm>
            <a:off x="3651689" y="1075321"/>
            <a:ext cx="769079" cy="2214264"/>
            <a:chOff x="4162699" y="1641475"/>
            <a:chExt cx="769079" cy="2214264"/>
          </a:xfrm>
        </p:grpSpPr>
        <p:sp>
          <p:nvSpPr>
            <p:cNvPr id="11278" name="Rectangle 13"/>
            <p:cNvSpPr>
              <a:spLocks noChangeArrowheads="1"/>
            </p:cNvSpPr>
            <p:nvPr/>
          </p:nvSpPr>
          <p:spPr bwMode="auto">
            <a:xfrm>
              <a:off x="4185288"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4</a:t>
              </a:r>
            </a:p>
          </p:txBody>
        </p:sp>
        <p:pic>
          <p:nvPicPr>
            <p:cNvPr id="29" name="Picture 28"/>
            <p:cNvPicPr>
              <a:picLocks noChangeAspect="1"/>
            </p:cNvPicPr>
            <p:nvPr/>
          </p:nvPicPr>
          <p:blipFill>
            <a:blip r:embed="rId3">
              <a:duotone>
                <a:schemeClr val="accent4">
                  <a:shade val="45000"/>
                  <a:satMod val="135000"/>
                </a:schemeClr>
                <a:prstClr val="white"/>
              </a:duotone>
            </a:blip>
            <a:stretch>
              <a:fillRect/>
            </a:stretch>
          </p:blipFill>
          <p:spPr>
            <a:xfrm>
              <a:off x="4170385" y="3016505"/>
              <a:ext cx="753707" cy="839234"/>
            </a:xfrm>
            <a:prstGeom prst="rect">
              <a:avLst/>
            </a:prstGeom>
          </p:spPr>
        </p:pic>
        <p:pic>
          <p:nvPicPr>
            <p:cNvPr id="30" name="Picture 29"/>
            <p:cNvPicPr>
              <a:picLocks noChangeAspect="1"/>
            </p:cNvPicPr>
            <p:nvPr/>
          </p:nvPicPr>
          <p:blipFill>
            <a:blip r:embed="rId4">
              <a:duotone>
                <a:schemeClr val="accent1">
                  <a:shade val="45000"/>
                  <a:satMod val="135000"/>
                </a:schemeClr>
                <a:prstClr val="white"/>
              </a:duotone>
            </a:blip>
            <a:stretch>
              <a:fillRect/>
            </a:stretch>
          </p:blipFill>
          <p:spPr>
            <a:xfrm>
              <a:off x="4162699" y="1988926"/>
              <a:ext cx="769079" cy="924448"/>
            </a:xfrm>
            <a:prstGeom prst="rect">
              <a:avLst/>
            </a:prstGeom>
          </p:spPr>
        </p:pic>
      </p:grpSp>
      <p:grpSp>
        <p:nvGrpSpPr>
          <p:cNvPr id="52" name="Group 51"/>
          <p:cNvGrpSpPr/>
          <p:nvPr/>
        </p:nvGrpSpPr>
        <p:grpSpPr>
          <a:xfrm>
            <a:off x="5739957" y="1075321"/>
            <a:ext cx="769079" cy="2256871"/>
            <a:chOff x="2008317" y="1641475"/>
            <a:chExt cx="769079" cy="2256871"/>
          </a:xfrm>
        </p:grpSpPr>
        <p:sp>
          <p:nvSpPr>
            <p:cNvPr id="53" name="Rectangle 11"/>
            <p:cNvSpPr>
              <a:spLocks noChangeArrowheads="1"/>
            </p:cNvSpPr>
            <p:nvPr/>
          </p:nvSpPr>
          <p:spPr bwMode="auto">
            <a:xfrm>
              <a:off x="2031700" y="1641475"/>
              <a:ext cx="72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6</a:t>
              </a:r>
              <a:endParaRPr lang="en-US" altLang="en-US" sz="1800" dirty="0"/>
            </a:p>
          </p:txBody>
        </p:sp>
        <p:pic>
          <p:nvPicPr>
            <p:cNvPr id="54" name="Picture 53"/>
            <p:cNvPicPr>
              <a:picLocks noChangeAspect="1"/>
            </p:cNvPicPr>
            <p:nvPr/>
          </p:nvPicPr>
          <p:blipFill>
            <a:blip r:embed="rId3">
              <a:duotone>
                <a:schemeClr val="accent4">
                  <a:shade val="45000"/>
                  <a:satMod val="135000"/>
                </a:schemeClr>
                <a:prstClr val="white"/>
              </a:duotone>
            </a:blip>
            <a:stretch>
              <a:fillRect/>
            </a:stretch>
          </p:blipFill>
          <p:spPr>
            <a:xfrm>
              <a:off x="2016003" y="2031533"/>
              <a:ext cx="753707" cy="839234"/>
            </a:xfrm>
            <a:prstGeom prst="rect">
              <a:avLst/>
            </a:prstGeom>
          </p:spPr>
        </p:pic>
        <p:pic>
          <p:nvPicPr>
            <p:cNvPr id="55" name="Picture 54"/>
            <p:cNvPicPr>
              <a:picLocks noChangeAspect="1"/>
            </p:cNvPicPr>
            <p:nvPr/>
          </p:nvPicPr>
          <p:blipFill>
            <a:blip r:embed="rId4">
              <a:duotone>
                <a:schemeClr val="accent1">
                  <a:shade val="45000"/>
                  <a:satMod val="135000"/>
                </a:schemeClr>
                <a:prstClr val="white"/>
              </a:duotone>
            </a:blip>
            <a:stretch>
              <a:fillRect/>
            </a:stretch>
          </p:blipFill>
          <p:spPr>
            <a:xfrm>
              <a:off x="2008317" y="2973898"/>
              <a:ext cx="769079" cy="924448"/>
            </a:xfrm>
            <a:prstGeom prst="rect">
              <a:avLst/>
            </a:prstGeom>
          </p:spPr>
        </p:pic>
      </p:grpSp>
      <p:grpSp>
        <p:nvGrpSpPr>
          <p:cNvPr id="56" name="Group 55"/>
          <p:cNvGrpSpPr/>
          <p:nvPr/>
        </p:nvGrpSpPr>
        <p:grpSpPr>
          <a:xfrm>
            <a:off x="4679998" y="1075321"/>
            <a:ext cx="784971" cy="2266423"/>
            <a:chOff x="998715" y="1641475"/>
            <a:chExt cx="784971" cy="2266423"/>
          </a:xfrm>
        </p:grpSpPr>
        <p:sp>
          <p:nvSpPr>
            <p:cNvPr id="57" name="Rectangle 10"/>
            <p:cNvSpPr>
              <a:spLocks noChangeArrowheads="1"/>
            </p:cNvSpPr>
            <p:nvPr/>
          </p:nvSpPr>
          <p:spPr bwMode="auto">
            <a:xfrm>
              <a:off x="1029250"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5</a:t>
              </a:r>
              <a:endParaRPr lang="en-US" altLang="en-US" sz="1800" dirty="0"/>
            </a:p>
          </p:txBody>
        </p:sp>
        <p:pic>
          <p:nvPicPr>
            <p:cNvPr id="58" name="Picture 57"/>
            <p:cNvPicPr>
              <a:picLocks noChangeAspect="1"/>
            </p:cNvPicPr>
            <p:nvPr/>
          </p:nvPicPr>
          <p:blipFill>
            <a:blip r:embed="rId3">
              <a:duotone>
                <a:schemeClr val="accent1">
                  <a:shade val="45000"/>
                  <a:satMod val="135000"/>
                </a:schemeClr>
                <a:prstClr val="white"/>
              </a:duotone>
            </a:blip>
            <a:stretch>
              <a:fillRect/>
            </a:stretch>
          </p:blipFill>
          <p:spPr>
            <a:xfrm>
              <a:off x="1014347" y="2031533"/>
              <a:ext cx="753707" cy="839234"/>
            </a:xfrm>
            <a:prstGeom prst="rect">
              <a:avLst/>
            </a:prstGeom>
          </p:spPr>
        </p:pic>
        <p:pic>
          <p:nvPicPr>
            <p:cNvPr id="59" name="Picture 58"/>
            <p:cNvPicPr>
              <a:picLocks noChangeAspect="1"/>
            </p:cNvPicPr>
            <p:nvPr/>
          </p:nvPicPr>
          <p:blipFill>
            <a:blip r:embed="rId4">
              <a:duotone>
                <a:schemeClr val="accent4">
                  <a:shade val="45000"/>
                  <a:satMod val="135000"/>
                </a:schemeClr>
                <a:prstClr val="white"/>
              </a:duotone>
            </a:blip>
            <a:stretch>
              <a:fillRect/>
            </a:stretch>
          </p:blipFill>
          <p:spPr>
            <a:xfrm>
              <a:off x="998715" y="2964347"/>
              <a:ext cx="784971" cy="943551"/>
            </a:xfrm>
            <a:prstGeom prst="rect">
              <a:avLst/>
            </a:prstGeom>
          </p:spPr>
        </p:pic>
      </p:grpSp>
      <p:grpSp>
        <p:nvGrpSpPr>
          <p:cNvPr id="60" name="Group 59"/>
          <p:cNvGrpSpPr/>
          <p:nvPr/>
        </p:nvGrpSpPr>
        <p:grpSpPr>
          <a:xfrm>
            <a:off x="6784024" y="1075321"/>
            <a:ext cx="784971" cy="2214264"/>
            <a:chOff x="3059397" y="1641475"/>
            <a:chExt cx="784971" cy="2214264"/>
          </a:xfrm>
        </p:grpSpPr>
        <p:sp>
          <p:nvSpPr>
            <p:cNvPr id="61" name="Rectangle 12"/>
            <p:cNvSpPr>
              <a:spLocks noChangeArrowheads="1"/>
            </p:cNvSpPr>
            <p:nvPr/>
          </p:nvSpPr>
          <p:spPr bwMode="auto">
            <a:xfrm>
              <a:off x="3090726" y="1641475"/>
              <a:ext cx="722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7</a:t>
              </a:r>
              <a:endParaRPr lang="en-US" altLang="en-US" sz="1800" dirty="0"/>
            </a:p>
          </p:txBody>
        </p:sp>
        <p:pic>
          <p:nvPicPr>
            <p:cNvPr id="62" name="Picture 61"/>
            <p:cNvPicPr>
              <a:picLocks noChangeAspect="1"/>
            </p:cNvPicPr>
            <p:nvPr/>
          </p:nvPicPr>
          <p:blipFill>
            <a:blip r:embed="rId3">
              <a:duotone>
                <a:schemeClr val="accent1">
                  <a:shade val="45000"/>
                  <a:satMod val="135000"/>
                </a:schemeClr>
                <a:prstClr val="white"/>
              </a:duotone>
            </a:blip>
            <a:stretch>
              <a:fillRect/>
            </a:stretch>
          </p:blipFill>
          <p:spPr>
            <a:xfrm>
              <a:off x="3075029" y="3016505"/>
              <a:ext cx="753707" cy="839234"/>
            </a:xfrm>
            <a:prstGeom prst="rect">
              <a:avLst/>
            </a:prstGeom>
          </p:spPr>
        </p:pic>
        <p:pic>
          <p:nvPicPr>
            <p:cNvPr id="63" name="Picture 62"/>
            <p:cNvPicPr>
              <a:picLocks noChangeAspect="1"/>
            </p:cNvPicPr>
            <p:nvPr/>
          </p:nvPicPr>
          <p:blipFill>
            <a:blip r:embed="rId4">
              <a:duotone>
                <a:schemeClr val="accent4">
                  <a:shade val="45000"/>
                  <a:satMod val="135000"/>
                </a:schemeClr>
                <a:prstClr val="white"/>
              </a:duotone>
            </a:blip>
            <a:stretch>
              <a:fillRect/>
            </a:stretch>
          </p:blipFill>
          <p:spPr>
            <a:xfrm>
              <a:off x="3059397" y="1979375"/>
              <a:ext cx="784971" cy="943551"/>
            </a:xfrm>
            <a:prstGeom prst="rect">
              <a:avLst/>
            </a:prstGeom>
          </p:spPr>
        </p:pic>
      </p:grpSp>
      <p:grpSp>
        <p:nvGrpSpPr>
          <p:cNvPr id="64" name="Group 63"/>
          <p:cNvGrpSpPr/>
          <p:nvPr/>
        </p:nvGrpSpPr>
        <p:grpSpPr>
          <a:xfrm>
            <a:off x="7843982" y="1075321"/>
            <a:ext cx="769079" cy="2214264"/>
            <a:chOff x="4162699" y="1641475"/>
            <a:chExt cx="769079" cy="2214264"/>
          </a:xfrm>
        </p:grpSpPr>
        <p:sp>
          <p:nvSpPr>
            <p:cNvPr id="65" name="Rectangle 13"/>
            <p:cNvSpPr>
              <a:spLocks noChangeArrowheads="1"/>
            </p:cNvSpPr>
            <p:nvPr/>
          </p:nvSpPr>
          <p:spPr bwMode="auto">
            <a:xfrm>
              <a:off x="4185288"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8</a:t>
              </a:r>
              <a:endParaRPr lang="en-US" altLang="en-US" sz="1800" dirty="0"/>
            </a:p>
          </p:txBody>
        </p:sp>
        <p:pic>
          <p:nvPicPr>
            <p:cNvPr id="66" name="Picture 65"/>
            <p:cNvPicPr>
              <a:picLocks noChangeAspect="1"/>
            </p:cNvPicPr>
            <p:nvPr/>
          </p:nvPicPr>
          <p:blipFill>
            <a:blip r:embed="rId3">
              <a:duotone>
                <a:schemeClr val="accent4">
                  <a:shade val="45000"/>
                  <a:satMod val="135000"/>
                </a:schemeClr>
                <a:prstClr val="white"/>
              </a:duotone>
            </a:blip>
            <a:stretch>
              <a:fillRect/>
            </a:stretch>
          </p:blipFill>
          <p:spPr>
            <a:xfrm>
              <a:off x="4170385" y="3016505"/>
              <a:ext cx="753707" cy="839234"/>
            </a:xfrm>
            <a:prstGeom prst="rect">
              <a:avLst/>
            </a:prstGeom>
          </p:spPr>
        </p:pic>
        <p:pic>
          <p:nvPicPr>
            <p:cNvPr id="67" name="Picture 66"/>
            <p:cNvPicPr>
              <a:picLocks noChangeAspect="1"/>
            </p:cNvPicPr>
            <p:nvPr/>
          </p:nvPicPr>
          <p:blipFill>
            <a:blip r:embed="rId4">
              <a:duotone>
                <a:schemeClr val="accent1">
                  <a:shade val="45000"/>
                  <a:satMod val="135000"/>
                </a:schemeClr>
                <a:prstClr val="white"/>
              </a:duotone>
            </a:blip>
            <a:stretch>
              <a:fillRect/>
            </a:stretch>
          </p:blipFill>
          <p:spPr>
            <a:xfrm>
              <a:off x="4162699" y="1988926"/>
              <a:ext cx="769079" cy="924448"/>
            </a:xfrm>
            <a:prstGeom prst="rect">
              <a:avLst/>
            </a:prstGeom>
          </p:spPr>
        </p:pic>
      </p:grpSp>
      <p:sp>
        <p:nvSpPr>
          <p:cNvPr id="42" name="Title 1"/>
          <p:cNvSpPr txBox="1">
            <a:spLocks/>
          </p:cNvSpPr>
          <p:nvPr/>
        </p:nvSpPr>
        <p:spPr>
          <a:xfrm>
            <a:off x="0" y="1"/>
            <a:ext cx="9143999" cy="836712"/>
          </a:xfrm>
          <a:prstGeom prst="rect">
            <a:avLst/>
          </a:prstGeom>
        </p:spPr>
        <p:txBody>
          <a:bodyPr vert="horz" lIns="91440" tIns="45720" rIns="91440" bIns="45720" rtlCol="0" anchor="b">
            <a:normAutofit fontScale="975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fontAlgn="auto">
              <a:spcAft>
                <a:spcPts val="0"/>
              </a:spcAft>
            </a:pPr>
            <a:r>
              <a:rPr lang="en-GB" sz="2800" b="1" dirty="0" smtClean="0">
                <a:solidFill>
                  <a:srgbClr val="0070C0"/>
                </a:solidFill>
                <a:latin typeface="+mn-lt"/>
              </a:rPr>
              <a:t>The BLUE exercise: below-chance decoding</a:t>
            </a:r>
            <a:endParaRPr lang="en-GB" altLang="en-US" sz="2800" dirty="0" smtClean="0">
              <a:latin typeface="+mn-lt"/>
            </a:endParaRPr>
          </a:p>
        </p:txBody>
      </p:sp>
    </p:spTree>
    <p:extLst>
      <p:ext uri="{BB962C8B-B14F-4D97-AF65-F5344CB8AC3E}">
        <p14:creationId xmlns:p14="http://schemas.microsoft.com/office/powerpoint/2010/main" val="320939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1547664" y="1075321"/>
            <a:ext cx="769079" cy="2256871"/>
            <a:chOff x="2008317" y="1641475"/>
            <a:chExt cx="769079" cy="2256871"/>
          </a:xfrm>
        </p:grpSpPr>
        <p:sp>
          <p:nvSpPr>
            <p:cNvPr id="11276" name="Rectangle 11"/>
            <p:cNvSpPr>
              <a:spLocks noChangeArrowheads="1"/>
            </p:cNvSpPr>
            <p:nvPr/>
          </p:nvSpPr>
          <p:spPr bwMode="auto">
            <a:xfrm>
              <a:off x="2031700" y="1641475"/>
              <a:ext cx="72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2</a:t>
              </a:r>
            </a:p>
          </p:txBody>
        </p:sp>
        <p:pic>
          <p:nvPicPr>
            <p:cNvPr id="23" name="Picture 22"/>
            <p:cNvPicPr>
              <a:picLocks noChangeAspect="1"/>
            </p:cNvPicPr>
            <p:nvPr/>
          </p:nvPicPr>
          <p:blipFill>
            <a:blip r:embed="rId2">
              <a:duotone>
                <a:schemeClr val="accent4">
                  <a:shade val="45000"/>
                  <a:satMod val="135000"/>
                </a:schemeClr>
                <a:prstClr val="white"/>
              </a:duotone>
            </a:blip>
            <a:stretch>
              <a:fillRect/>
            </a:stretch>
          </p:blipFill>
          <p:spPr>
            <a:xfrm>
              <a:off x="2016003" y="2031533"/>
              <a:ext cx="753707" cy="839234"/>
            </a:xfrm>
            <a:prstGeom prst="rect">
              <a:avLst/>
            </a:prstGeom>
          </p:spPr>
        </p:pic>
        <p:pic>
          <p:nvPicPr>
            <p:cNvPr id="12" name="Picture 11"/>
            <p:cNvPicPr>
              <a:picLocks noChangeAspect="1"/>
            </p:cNvPicPr>
            <p:nvPr/>
          </p:nvPicPr>
          <p:blipFill>
            <a:blip r:embed="rId3">
              <a:duotone>
                <a:schemeClr val="accent1">
                  <a:shade val="45000"/>
                  <a:satMod val="135000"/>
                </a:schemeClr>
                <a:prstClr val="white"/>
              </a:duotone>
            </a:blip>
            <a:stretch>
              <a:fillRect/>
            </a:stretch>
          </p:blipFill>
          <p:spPr>
            <a:xfrm>
              <a:off x="2008317" y="2973898"/>
              <a:ext cx="769079" cy="924448"/>
            </a:xfrm>
            <a:prstGeom prst="rect">
              <a:avLst/>
            </a:prstGeom>
          </p:spPr>
        </p:pic>
      </p:grpSp>
      <p:grpSp>
        <p:nvGrpSpPr>
          <p:cNvPr id="13" name="Group 12"/>
          <p:cNvGrpSpPr/>
          <p:nvPr/>
        </p:nvGrpSpPr>
        <p:grpSpPr>
          <a:xfrm>
            <a:off x="487705" y="1075321"/>
            <a:ext cx="784971" cy="2266423"/>
            <a:chOff x="998715" y="1641475"/>
            <a:chExt cx="784971" cy="2266423"/>
          </a:xfrm>
        </p:grpSpPr>
        <p:sp>
          <p:nvSpPr>
            <p:cNvPr id="11275" name="Rectangle 10"/>
            <p:cNvSpPr>
              <a:spLocks noChangeArrowheads="1"/>
            </p:cNvSpPr>
            <p:nvPr/>
          </p:nvSpPr>
          <p:spPr bwMode="auto">
            <a:xfrm>
              <a:off x="1029250"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1</a:t>
              </a:r>
            </a:p>
          </p:txBody>
        </p:sp>
        <p:pic>
          <p:nvPicPr>
            <p:cNvPr id="3" name="Picture 2"/>
            <p:cNvPicPr>
              <a:picLocks noChangeAspect="1"/>
            </p:cNvPicPr>
            <p:nvPr/>
          </p:nvPicPr>
          <p:blipFill>
            <a:blip r:embed="rId2">
              <a:duotone>
                <a:schemeClr val="accent1">
                  <a:shade val="45000"/>
                  <a:satMod val="135000"/>
                </a:schemeClr>
                <a:prstClr val="white"/>
              </a:duotone>
            </a:blip>
            <a:stretch>
              <a:fillRect/>
            </a:stretch>
          </p:blipFill>
          <p:spPr>
            <a:xfrm>
              <a:off x="1014347" y="2031533"/>
              <a:ext cx="753707" cy="839234"/>
            </a:xfrm>
            <a:prstGeom prst="rect">
              <a:avLst/>
            </a:prstGeom>
          </p:spPr>
        </p:pic>
        <p:pic>
          <p:nvPicPr>
            <p:cNvPr id="26" name="Picture 25"/>
            <p:cNvPicPr>
              <a:picLocks noChangeAspect="1"/>
            </p:cNvPicPr>
            <p:nvPr/>
          </p:nvPicPr>
          <p:blipFill>
            <a:blip r:embed="rId3">
              <a:duotone>
                <a:schemeClr val="accent4">
                  <a:shade val="45000"/>
                  <a:satMod val="135000"/>
                </a:schemeClr>
                <a:prstClr val="white"/>
              </a:duotone>
            </a:blip>
            <a:stretch>
              <a:fillRect/>
            </a:stretch>
          </p:blipFill>
          <p:spPr>
            <a:xfrm>
              <a:off x="998715" y="2964347"/>
              <a:ext cx="784971" cy="943551"/>
            </a:xfrm>
            <a:prstGeom prst="rect">
              <a:avLst/>
            </a:prstGeom>
          </p:spPr>
        </p:pic>
      </p:grpSp>
      <p:grpSp>
        <p:nvGrpSpPr>
          <p:cNvPr id="15" name="Group 14"/>
          <p:cNvGrpSpPr/>
          <p:nvPr/>
        </p:nvGrpSpPr>
        <p:grpSpPr>
          <a:xfrm>
            <a:off x="2591731" y="1075321"/>
            <a:ext cx="784971" cy="2214264"/>
            <a:chOff x="3059397" y="1641475"/>
            <a:chExt cx="784971" cy="2214264"/>
          </a:xfrm>
        </p:grpSpPr>
        <p:sp>
          <p:nvSpPr>
            <p:cNvPr id="11277" name="Rectangle 12"/>
            <p:cNvSpPr>
              <a:spLocks noChangeArrowheads="1"/>
            </p:cNvSpPr>
            <p:nvPr/>
          </p:nvSpPr>
          <p:spPr bwMode="auto">
            <a:xfrm>
              <a:off x="3090726" y="1641475"/>
              <a:ext cx="722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3</a:t>
              </a:r>
            </a:p>
          </p:txBody>
        </p:sp>
        <p:pic>
          <p:nvPicPr>
            <p:cNvPr id="27" name="Picture 26"/>
            <p:cNvPicPr>
              <a:picLocks noChangeAspect="1"/>
            </p:cNvPicPr>
            <p:nvPr/>
          </p:nvPicPr>
          <p:blipFill>
            <a:blip r:embed="rId2">
              <a:duotone>
                <a:schemeClr val="accent1">
                  <a:shade val="45000"/>
                  <a:satMod val="135000"/>
                </a:schemeClr>
                <a:prstClr val="white"/>
              </a:duotone>
            </a:blip>
            <a:stretch>
              <a:fillRect/>
            </a:stretch>
          </p:blipFill>
          <p:spPr>
            <a:xfrm>
              <a:off x="3075029" y="3016505"/>
              <a:ext cx="753707" cy="839234"/>
            </a:xfrm>
            <a:prstGeom prst="rect">
              <a:avLst/>
            </a:prstGeom>
          </p:spPr>
        </p:pic>
        <p:pic>
          <p:nvPicPr>
            <p:cNvPr id="28" name="Picture 27"/>
            <p:cNvPicPr>
              <a:picLocks noChangeAspect="1"/>
            </p:cNvPicPr>
            <p:nvPr/>
          </p:nvPicPr>
          <p:blipFill>
            <a:blip r:embed="rId3">
              <a:duotone>
                <a:schemeClr val="accent4">
                  <a:shade val="45000"/>
                  <a:satMod val="135000"/>
                </a:schemeClr>
                <a:prstClr val="white"/>
              </a:duotone>
            </a:blip>
            <a:stretch>
              <a:fillRect/>
            </a:stretch>
          </p:blipFill>
          <p:spPr>
            <a:xfrm>
              <a:off x="3059397" y="1979375"/>
              <a:ext cx="784971" cy="943551"/>
            </a:xfrm>
            <a:prstGeom prst="rect">
              <a:avLst/>
            </a:prstGeom>
          </p:spPr>
        </p:pic>
      </p:grpSp>
      <p:grpSp>
        <p:nvGrpSpPr>
          <p:cNvPr id="16" name="Group 15"/>
          <p:cNvGrpSpPr/>
          <p:nvPr/>
        </p:nvGrpSpPr>
        <p:grpSpPr>
          <a:xfrm>
            <a:off x="3651689" y="1075321"/>
            <a:ext cx="769079" cy="2214264"/>
            <a:chOff x="4162699" y="1641475"/>
            <a:chExt cx="769079" cy="2214264"/>
          </a:xfrm>
        </p:grpSpPr>
        <p:sp>
          <p:nvSpPr>
            <p:cNvPr id="11278" name="Rectangle 13"/>
            <p:cNvSpPr>
              <a:spLocks noChangeArrowheads="1"/>
            </p:cNvSpPr>
            <p:nvPr/>
          </p:nvSpPr>
          <p:spPr bwMode="auto">
            <a:xfrm>
              <a:off x="4185288"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a:t>Run 4</a:t>
              </a:r>
            </a:p>
          </p:txBody>
        </p:sp>
        <p:pic>
          <p:nvPicPr>
            <p:cNvPr id="29" name="Picture 28"/>
            <p:cNvPicPr>
              <a:picLocks noChangeAspect="1"/>
            </p:cNvPicPr>
            <p:nvPr/>
          </p:nvPicPr>
          <p:blipFill>
            <a:blip r:embed="rId2">
              <a:duotone>
                <a:schemeClr val="accent4">
                  <a:shade val="45000"/>
                  <a:satMod val="135000"/>
                </a:schemeClr>
                <a:prstClr val="white"/>
              </a:duotone>
            </a:blip>
            <a:stretch>
              <a:fillRect/>
            </a:stretch>
          </p:blipFill>
          <p:spPr>
            <a:xfrm>
              <a:off x="4170385" y="3016505"/>
              <a:ext cx="753707" cy="839234"/>
            </a:xfrm>
            <a:prstGeom prst="rect">
              <a:avLst/>
            </a:prstGeom>
          </p:spPr>
        </p:pic>
        <p:pic>
          <p:nvPicPr>
            <p:cNvPr id="30" name="Picture 29"/>
            <p:cNvPicPr>
              <a:picLocks noChangeAspect="1"/>
            </p:cNvPicPr>
            <p:nvPr/>
          </p:nvPicPr>
          <p:blipFill>
            <a:blip r:embed="rId3">
              <a:duotone>
                <a:schemeClr val="accent1">
                  <a:shade val="45000"/>
                  <a:satMod val="135000"/>
                </a:schemeClr>
                <a:prstClr val="white"/>
              </a:duotone>
            </a:blip>
            <a:stretch>
              <a:fillRect/>
            </a:stretch>
          </p:blipFill>
          <p:spPr>
            <a:xfrm>
              <a:off x="4162699" y="1988926"/>
              <a:ext cx="769079" cy="924448"/>
            </a:xfrm>
            <a:prstGeom prst="rect">
              <a:avLst/>
            </a:prstGeom>
          </p:spPr>
        </p:pic>
      </p:grpSp>
      <p:grpSp>
        <p:nvGrpSpPr>
          <p:cNvPr id="52" name="Group 51"/>
          <p:cNvGrpSpPr/>
          <p:nvPr/>
        </p:nvGrpSpPr>
        <p:grpSpPr>
          <a:xfrm>
            <a:off x="5739957" y="1075321"/>
            <a:ext cx="769079" cy="2256871"/>
            <a:chOff x="2008317" y="1641475"/>
            <a:chExt cx="769079" cy="2256871"/>
          </a:xfrm>
        </p:grpSpPr>
        <p:sp>
          <p:nvSpPr>
            <p:cNvPr id="53" name="Rectangle 11"/>
            <p:cNvSpPr>
              <a:spLocks noChangeArrowheads="1"/>
            </p:cNvSpPr>
            <p:nvPr/>
          </p:nvSpPr>
          <p:spPr bwMode="auto">
            <a:xfrm>
              <a:off x="2031700" y="1641475"/>
              <a:ext cx="72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6</a:t>
              </a:r>
              <a:endParaRPr lang="en-US" altLang="en-US" sz="1800" dirty="0"/>
            </a:p>
          </p:txBody>
        </p:sp>
        <p:pic>
          <p:nvPicPr>
            <p:cNvPr id="54" name="Picture 53"/>
            <p:cNvPicPr>
              <a:picLocks noChangeAspect="1"/>
            </p:cNvPicPr>
            <p:nvPr/>
          </p:nvPicPr>
          <p:blipFill>
            <a:blip r:embed="rId2">
              <a:duotone>
                <a:schemeClr val="accent4">
                  <a:shade val="45000"/>
                  <a:satMod val="135000"/>
                </a:schemeClr>
                <a:prstClr val="white"/>
              </a:duotone>
            </a:blip>
            <a:stretch>
              <a:fillRect/>
            </a:stretch>
          </p:blipFill>
          <p:spPr>
            <a:xfrm>
              <a:off x="2016003" y="2031533"/>
              <a:ext cx="753707" cy="839234"/>
            </a:xfrm>
            <a:prstGeom prst="rect">
              <a:avLst/>
            </a:prstGeom>
          </p:spPr>
        </p:pic>
        <p:pic>
          <p:nvPicPr>
            <p:cNvPr id="55" name="Picture 54"/>
            <p:cNvPicPr>
              <a:picLocks noChangeAspect="1"/>
            </p:cNvPicPr>
            <p:nvPr/>
          </p:nvPicPr>
          <p:blipFill>
            <a:blip r:embed="rId3">
              <a:duotone>
                <a:schemeClr val="accent1">
                  <a:shade val="45000"/>
                  <a:satMod val="135000"/>
                </a:schemeClr>
                <a:prstClr val="white"/>
              </a:duotone>
            </a:blip>
            <a:stretch>
              <a:fillRect/>
            </a:stretch>
          </p:blipFill>
          <p:spPr>
            <a:xfrm>
              <a:off x="2008317" y="2973898"/>
              <a:ext cx="769079" cy="924448"/>
            </a:xfrm>
            <a:prstGeom prst="rect">
              <a:avLst/>
            </a:prstGeom>
          </p:spPr>
        </p:pic>
      </p:grpSp>
      <p:grpSp>
        <p:nvGrpSpPr>
          <p:cNvPr id="56" name="Group 55"/>
          <p:cNvGrpSpPr/>
          <p:nvPr/>
        </p:nvGrpSpPr>
        <p:grpSpPr>
          <a:xfrm>
            <a:off x="4679998" y="1075321"/>
            <a:ext cx="784971" cy="2266423"/>
            <a:chOff x="998715" y="1641475"/>
            <a:chExt cx="784971" cy="2266423"/>
          </a:xfrm>
        </p:grpSpPr>
        <p:sp>
          <p:nvSpPr>
            <p:cNvPr id="57" name="Rectangle 10"/>
            <p:cNvSpPr>
              <a:spLocks noChangeArrowheads="1"/>
            </p:cNvSpPr>
            <p:nvPr/>
          </p:nvSpPr>
          <p:spPr bwMode="auto">
            <a:xfrm>
              <a:off x="1029250"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5</a:t>
              </a:r>
              <a:endParaRPr lang="en-US" altLang="en-US" sz="1800" dirty="0"/>
            </a:p>
          </p:txBody>
        </p:sp>
        <p:pic>
          <p:nvPicPr>
            <p:cNvPr id="58" name="Picture 57"/>
            <p:cNvPicPr>
              <a:picLocks noChangeAspect="1"/>
            </p:cNvPicPr>
            <p:nvPr/>
          </p:nvPicPr>
          <p:blipFill>
            <a:blip r:embed="rId2">
              <a:duotone>
                <a:schemeClr val="accent1">
                  <a:shade val="45000"/>
                  <a:satMod val="135000"/>
                </a:schemeClr>
                <a:prstClr val="white"/>
              </a:duotone>
            </a:blip>
            <a:stretch>
              <a:fillRect/>
            </a:stretch>
          </p:blipFill>
          <p:spPr>
            <a:xfrm>
              <a:off x="1014347" y="2031533"/>
              <a:ext cx="753707" cy="839234"/>
            </a:xfrm>
            <a:prstGeom prst="rect">
              <a:avLst/>
            </a:prstGeom>
          </p:spPr>
        </p:pic>
        <p:pic>
          <p:nvPicPr>
            <p:cNvPr id="59" name="Picture 58"/>
            <p:cNvPicPr>
              <a:picLocks noChangeAspect="1"/>
            </p:cNvPicPr>
            <p:nvPr/>
          </p:nvPicPr>
          <p:blipFill>
            <a:blip r:embed="rId3">
              <a:duotone>
                <a:schemeClr val="accent4">
                  <a:shade val="45000"/>
                  <a:satMod val="135000"/>
                </a:schemeClr>
                <a:prstClr val="white"/>
              </a:duotone>
            </a:blip>
            <a:stretch>
              <a:fillRect/>
            </a:stretch>
          </p:blipFill>
          <p:spPr>
            <a:xfrm>
              <a:off x="998715" y="2964347"/>
              <a:ext cx="784971" cy="943551"/>
            </a:xfrm>
            <a:prstGeom prst="rect">
              <a:avLst/>
            </a:prstGeom>
          </p:spPr>
        </p:pic>
      </p:grpSp>
      <p:grpSp>
        <p:nvGrpSpPr>
          <p:cNvPr id="60" name="Group 59"/>
          <p:cNvGrpSpPr/>
          <p:nvPr/>
        </p:nvGrpSpPr>
        <p:grpSpPr>
          <a:xfrm>
            <a:off x="6784024" y="1075321"/>
            <a:ext cx="784971" cy="2214264"/>
            <a:chOff x="3059397" y="1641475"/>
            <a:chExt cx="784971" cy="2214264"/>
          </a:xfrm>
        </p:grpSpPr>
        <p:sp>
          <p:nvSpPr>
            <p:cNvPr id="61" name="Rectangle 12"/>
            <p:cNvSpPr>
              <a:spLocks noChangeArrowheads="1"/>
            </p:cNvSpPr>
            <p:nvPr/>
          </p:nvSpPr>
          <p:spPr bwMode="auto">
            <a:xfrm>
              <a:off x="3090726" y="1641475"/>
              <a:ext cx="722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7</a:t>
              </a:r>
              <a:endParaRPr lang="en-US" altLang="en-US" sz="1800" dirty="0"/>
            </a:p>
          </p:txBody>
        </p:sp>
        <p:pic>
          <p:nvPicPr>
            <p:cNvPr id="62" name="Picture 61"/>
            <p:cNvPicPr>
              <a:picLocks noChangeAspect="1"/>
            </p:cNvPicPr>
            <p:nvPr/>
          </p:nvPicPr>
          <p:blipFill>
            <a:blip r:embed="rId2">
              <a:duotone>
                <a:schemeClr val="accent1">
                  <a:shade val="45000"/>
                  <a:satMod val="135000"/>
                </a:schemeClr>
                <a:prstClr val="white"/>
              </a:duotone>
            </a:blip>
            <a:stretch>
              <a:fillRect/>
            </a:stretch>
          </p:blipFill>
          <p:spPr>
            <a:xfrm>
              <a:off x="3075029" y="3016505"/>
              <a:ext cx="753707" cy="839234"/>
            </a:xfrm>
            <a:prstGeom prst="rect">
              <a:avLst/>
            </a:prstGeom>
          </p:spPr>
        </p:pic>
        <p:pic>
          <p:nvPicPr>
            <p:cNvPr id="63" name="Picture 62"/>
            <p:cNvPicPr>
              <a:picLocks noChangeAspect="1"/>
            </p:cNvPicPr>
            <p:nvPr/>
          </p:nvPicPr>
          <p:blipFill>
            <a:blip r:embed="rId3">
              <a:duotone>
                <a:schemeClr val="accent4">
                  <a:shade val="45000"/>
                  <a:satMod val="135000"/>
                </a:schemeClr>
                <a:prstClr val="white"/>
              </a:duotone>
            </a:blip>
            <a:stretch>
              <a:fillRect/>
            </a:stretch>
          </p:blipFill>
          <p:spPr>
            <a:xfrm>
              <a:off x="3059397" y="1979375"/>
              <a:ext cx="784971" cy="943551"/>
            </a:xfrm>
            <a:prstGeom prst="rect">
              <a:avLst/>
            </a:prstGeom>
          </p:spPr>
        </p:pic>
      </p:grpSp>
      <p:grpSp>
        <p:nvGrpSpPr>
          <p:cNvPr id="64" name="Group 63"/>
          <p:cNvGrpSpPr/>
          <p:nvPr/>
        </p:nvGrpSpPr>
        <p:grpSpPr>
          <a:xfrm>
            <a:off x="7843982" y="1075321"/>
            <a:ext cx="769079" cy="2214264"/>
            <a:chOff x="4162699" y="1641475"/>
            <a:chExt cx="769079" cy="2214264"/>
          </a:xfrm>
        </p:grpSpPr>
        <p:sp>
          <p:nvSpPr>
            <p:cNvPr id="65" name="Rectangle 13"/>
            <p:cNvSpPr>
              <a:spLocks noChangeArrowheads="1"/>
            </p:cNvSpPr>
            <p:nvPr/>
          </p:nvSpPr>
          <p:spPr bwMode="auto">
            <a:xfrm>
              <a:off x="4185288" y="16414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t>Run </a:t>
              </a:r>
              <a:r>
                <a:rPr lang="en-US" altLang="en-US" sz="1800" dirty="0" smtClean="0"/>
                <a:t>8</a:t>
              </a:r>
              <a:endParaRPr lang="en-US" altLang="en-US" sz="1800" dirty="0"/>
            </a:p>
          </p:txBody>
        </p:sp>
        <p:pic>
          <p:nvPicPr>
            <p:cNvPr id="66" name="Picture 65"/>
            <p:cNvPicPr>
              <a:picLocks noChangeAspect="1"/>
            </p:cNvPicPr>
            <p:nvPr/>
          </p:nvPicPr>
          <p:blipFill>
            <a:blip r:embed="rId2">
              <a:duotone>
                <a:schemeClr val="accent4">
                  <a:shade val="45000"/>
                  <a:satMod val="135000"/>
                </a:schemeClr>
                <a:prstClr val="white"/>
              </a:duotone>
            </a:blip>
            <a:stretch>
              <a:fillRect/>
            </a:stretch>
          </p:blipFill>
          <p:spPr>
            <a:xfrm>
              <a:off x="4170385" y="3016505"/>
              <a:ext cx="753707" cy="839234"/>
            </a:xfrm>
            <a:prstGeom prst="rect">
              <a:avLst/>
            </a:prstGeom>
          </p:spPr>
        </p:pic>
        <p:pic>
          <p:nvPicPr>
            <p:cNvPr id="67" name="Picture 66"/>
            <p:cNvPicPr>
              <a:picLocks noChangeAspect="1"/>
            </p:cNvPicPr>
            <p:nvPr/>
          </p:nvPicPr>
          <p:blipFill>
            <a:blip r:embed="rId3">
              <a:duotone>
                <a:schemeClr val="accent1">
                  <a:shade val="45000"/>
                  <a:satMod val="135000"/>
                </a:schemeClr>
                <a:prstClr val="white"/>
              </a:duotone>
            </a:blip>
            <a:stretch>
              <a:fillRect/>
            </a:stretch>
          </p:blipFill>
          <p:spPr>
            <a:xfrm>
              <a:off x="4162699" y="1988926"/>
              <a:ext cx="769079" cy="924448"/>
            </a:xfrm>
            <a:prstGeom prst="rect">
              <a:avLst/>
            </a:prstGeom>
          </p:spPr>
        </p:pic>
      </p:grpSp>
      <p:sp>
        <p:nvSpPr>
          <p:cNvPr id="2" name="Rectangle 1"/>
          <p:cNvSpPr/>
          <p:nvPr/>
        </p:nvSpPr>
        <p:spPr>
          <a:xfrm>
            <a:off x="334713" y="1075321"/>
            <a:ext cx="7344816" cy="2353679"/>
          </a:xfrm>
          <a:prstGeom prst="rect">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2" name="Rectangle 20"/>
          <p:cNvSpPr>
            <a:spLocks noChangeArrowheads="1"/>
          </p:cNvSpPr>
          <p:nvPr/>
        </p:nvSpPr>
        <p:spPr bwMode="auto">
          <a:xfrm>
            <a:off x="362890" y="3822126"/>
            <a:ext cx="8382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2000" dirty="0" smtClean="0"/>
              <a:t>Within each run, features are balanced but not counterbalanced</a:t>
            </a:r>
            <a:endParaRPr lang="en-US" altLang="en-US" sz="2000" dirty="0"/>
          </a:p>
          <a:p>
            <a:pPr eaLnBrk="1" hangingPunct="1">
              <a:spcBef>
                <a:spcPct val="0"/>
              </a:spcBef>
            </a:pPr>
            <a:r>
              <a:rPr lang="en-US" altLang="en-US" sz="2000" dirty="0" smtClean="0"/>
              <a:t>Across the full experiment, features are counterbalanced, but with leave-one-run-out cross-validation, each training set is unbalanced </a:t>
            </a:r>
          </a:p>
          <a:p>
            <a:pPr eaLnBrk="1" hangingPunct="1">
              <a:spcBef>
                <a:spcPct val="0"/>
              </a:spcBef>
            </a:pPr>
            <a:r>
              <a:rPr lang="en-US" altLang="en-US" sz="2000" dirty="0" smtClean="0"/>
              <a:t>In </a:t>
            </a:r>
            <a:r>
              <a:rPr lang="en-US" altLang="en-US" sz="2000" dirty="0"/>
              <a:t>this example fold, the classifier learns that </a:t>
            </a:r>
            <a:r>
              <a:rPr lang="en-US" altLang="en-US" sz="2000" dirty="0" smtClean="0"/>
              <a:t>apples </a:t>
            </a:r>
            <a:r>
              <a:rPr lang="en-US" altLang="en-US" sz="2000" dirty="0"/>
              <a:t>tend to be </a:t>
            </a:r>
            <a:r>
              <a:rPr lang="en-US" altLang="en-US" sz="2000" dirty="0" smtClean="0"/>
              <a:t>blue</a:t>
            </a:r>
          </a:p>
          <a:p>
            <a:pPr eaLnBrk="1" hangingPunct="1">
              <a:spcBef>
                <a:spcPct val="0"/>
              </a:spcBef>
            </a:pPr>
            <a:r>
              <a:rPr lang="en-US" altLang="en-US" sz="2000" dirty="0" smtClean="0"/>
              <a:t>The test set has the opposite imbalance</a:t>
            </a:r>
          </a:p>
          <a:p>
            <a:pPr eaLnBrk="1" hangingPunct="1">
              <a:spcBef>
                <a:spcPct val="0"/>
              </a:spcBef>
            </a:pPr>
            <a:r>
              <a:rPr lang="en-US" altLang="en-US" sz="2000" dirty="0" smtClean="0"/>
              <a:t>So a classifier that’s more sensitive to colour will tend to guess wrongly for shape </a:t>
            </a:r>
            <a:endParaRPr lang="en-US" altLang="en-US" sz="2000" dirty="0"/>
          </a:p>
          <a:p>
            <a:pPr eaLnBrk="1" hangingPunct="1">
              <a:spcBef>
                <a:spcPct val="0"/>
              </a:spcBef>
            </a:pPr>
            <a:r>
              <a:rPr lang="en-US" altLang="en-US" sz="2000" dirty="0" smtClean="0"/>
              <a:t>Here the problem can be solved by choosing test sets (and therefore train sets) that are fully counterbalanced (e.g. test on runs 7 &amp; 8)</a:t>
            </a:r>
          </a:p>
        </p:txBody>
      </p:sp>
      <p:sp>
        <p:nvSpPr>
          <p:cNvPr id="44" name="Rectangle 10"/>
          <p:cNvSpPr>
            <a:spLocks noChangeArrowheads="1"/>
          </p:cNvSpPr>
          <p:nvPr/>
        </p:nvSpPr>
        <p:spPr bwMode="auto">
          <a:xfrm>
            <a:off x="334714" y="3452578"/>
            <a:ext cx="73279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smtClean="0"/>
              <a:t>Train</a:t>
            </a:r>
            <a:endParaRPr lang="en-US" altLang="en-US" sz="1800" dirty="0"/>
          </a:p>
        </p:txBody>
      </p:sp>
      <p:sp>
        <p:nvSpPr>
          <p:cNvPr id="45" name="Rectangle 10"/>
          <p:cNvSpPr>
            <a:spLocks noChangeArrowheads="1"/>
          </p:cNvSpPr>
          <p:nvPr/>
        </p:nvSpPr>
        <p:spPr bwMode="auto">
          <a:xfrm>
            <a:off x="7922510" y="3452578"/>
            <a:ext cx="5559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smtClean="0"/>
              <a:t>Test</a:t>
            </a:r>
            <a:endParaRPr lang="en-US" altLang="en-US" sz="1800" dirty="0"/>
          </a:p>
        </p:txBody>
      </p:sp>
      <p:sp>
        <p:nvSpPr>
          <p:cNvPr id="46" name="Rectangle 45"/>
          <p:cNvSpPr/>
          <p:nvPr/>
        </p:nvSpPr>
        <p:spPr>
          <a:xfrm>
            <a:off x="7710857" y="1075321"/>
            <a:ext cx="1034033" cy="2353679"/>
          </a:xfrm>
          <a:prstGeom prst="rect">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1" name="Title 1"/>
          <p:cNvSpPr txBox="1">
            <a:spLocks/>
          </p:cNvSpPr>
          <p:nvPr/>
        </p:nvSpPr>
        <p:spPr>
          <a:xfrm>
            <a:off x="0" y="1"/>
            <a:ext cx="9143999" cy="836712"/>
          </a:xfrm>
          <a:prstGeom prst="rect">
            <a:avLst/>
          </a:prstGeom>
        </p:spPr>
        <p:txBody>
          <a:bodyPr vert="horz" lIns="91440" tIns="45720" rIns="91440" bIns="45720" rtlCol="0" anchor="b">
            <a:normAutofit fontScale="975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fontAlgn="auto">
              <a:spcAft>
                <a:spcPts val="0"/>
              </a:spcAft>
            </a:pPr>
            <a:r>
              <a:rPr lang="en-GB" sz="2800" b="1" dirty="0" smtClean="0">
                <a:solidFill>
                  <a:srgbClr val="0070C0"/>
                </a:solidFill>
                <a:latin typeface="+mn-lt"/>
              </a:rPr>
              <a:t>The BLUE exercise: below-chance decoding</a:t>
            </a:r>
            <a:endParaRPr lang="en-GB" altLang="en-US" sz="2800" dirty="0" smtClean="0">
              <a:latin typeface="+mn-lt"/>
            </a:endParaRPr>
          </a:p>
        </p:txBody>
      </p:sp>
    </p:spTree>
    <p:extLst>
      <p:ext uri="{BB962C8B-B14F-4D97-AF65-F5344CB8AC3E}">
        <p14:creationId xmlns:p14="http://schemas.microsoft.com/office/powerpoint/2010/main" val="2299223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p:cNvSpPr>
            <a:spLocks noGrp="1"/>
          </p:cNvSpPr>
          <p:nvPr>
            <p:ph type="title"/>
          </p:nvPr>
        </p:nvSpPr>
        <p:spPr>
          <a:xfrm>
            <a:off x="457200" y="333375"/>
            <a:ext cx="8291513" cy="503337"/>
          </a:xfrm>
        </p:spPr>
        <p:txBody>
          <a:bodyPr/>
          <a:lstStyle/>
          <a:p>
            <a:pPr algn="l" eaLnBrk="1" hangingPunct="1"/>
            <a:r>
              <a:rPr lang="en-GB" altLang="en-US" sz="3600" b="1" dirty="0" smtClean="0"/>
              <a:t>Specific considerations for fMRI data</a:t>
            </a:r>
            <a:endParaRPr lang="en-GB" altLang="en-US" sz="2800" b="1" dirty="0" smtClean="0"/>
          </a:p>
        </p:txBody>
      </p:sp>
      <p:sp>
        <p:nvSpPr>
          <p:cNvPr id="15364" name="Title 1"/>
          <p:cNvSpPr txBox="1">
            <a:spLocks/>
          </p:cNvSpPr>
          <p:nvPr/>
        </p:nvSpPr>
        <p:spPr bwMode="auto">
          <a:xfrm>
            <a:off x="107950" y="1616075"/>
            <a:ext cx="9036050" cy="490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a:defRPr/>
            </a:pPr>
            <a:r>
              <a:rPr lang="en-US" altLang="en-US" sz="2800" dirty="0" smtClean="0"/>
              <a:t>Temporal autocorrelation:</a:t>
            </a:r>
          </a:p>
          <a:p>
            <a:pPr marL="1200150" lvl="1" indent="-457200">
              <a:defRPr/>
            </a:pPr>
            <a:r>
              <a:rPr lang="en-US" altLang="en-US" sz="2400" dirty="0" smtClean="0"/>
              <a:t>Dependencies between patterns within a run</a:t>
            </a:r>
          </a:p>
          <a:p>
            <a:pPr marL="1200150" lvl="1" indent="-457200">
              <a:defRPr/>
            </a:pPr>
            <a:r>
              <a:rPr lang="en-US" altLang="en-US" sz="2400" dirty="0" smtClean="0"/>
              <a:t>Safest for test/train patterns to come from different runs</a:t>
            </a:r>
          </a:p>
          <a:p>
            <a:pPr marL="457200" indent="-457200">
              <a:defRPr/>
            </a:pPr>
            <a:r>
              <a:rPr lang="en-US" altLang="en-US" sz="2800" dirty="0" smtClean="0"/>
              <a:t>Pre-processing:</a:t>
            </a:r>
          </a:p>
          <a:p>
            <a:pPr marL="1200150" lvl="1" indent="-457200">
              <a:defRPr/>
            </a:pPr>
            <a:r>
              <a:rPr lang="en-US" altLang="en-US" sz="2400" dirty="0" smtClean="0"/>
              <a:t>Similar </a:t>
            </a:r>
            <a:r>
              <a:rPr lang="en-US" altLang="en-US" sz="2400" dirty="0"/>
              <a:t>to standard univariate </a:t>
            </a:r>
            <a:r>
              <a:rPr lang="en-US" altLang="en-US" sz="2400" dirty="0" smtClean="0"/>
              <a:t>analysis</a:t>
            </a:r>
            <a:endParaRPr lang="en-US" altLang="en-US" sz="2400" dirty="0"/>
          </a:p>
          <a:p>
            <a:pPr marL="1346200" lvl="2" indent="-185738">
              <a:defRPr/>
            </a:pPr>
            <a:r>
              <a:rPr lang="en-US" altLang="en-US" sz="2000" dirty="0"/>
              <a:t>Probably:</a:t>
            </a:r>
          </a:p>
          <a:p>
            <a:pPr marL="1617663" lvl="4" indent="-185738">
              <a:defRPr/>
            </a:pPr>
            <a:r>
              <a:rPr lang="en-US" altLang="en-US" sz="1800" dirty="0"/>
              <a:t>motion-correction</a:t>
            </a:r>
          </a:p>
          <a:p>
            <a:pPr marL="1617663" lvl="4" indent="-185738">
              <a:defRPr/>
            </a:pPr>
            <a:r>
              <a:rPr lang="en-US" altLang="en-US" sz="1800" dirty="0" smtClean="0"/>
              <a:t>Slice-scan-time correction</a:t>
            </a:r>
            <a:endParaRPr lang="en-US" altLang="en-US" sz="2400" dirty="0"/>
          </a:p>
          <a:p>
            <a:pPr marL="1346200" lvl="2" indent="-185738">
              <a:defRPr/>
            </a:pPr>
            <a:r>
              <a:rPr lang="en-US" altLang="en-US" sz="2000" dirty="0"/>
              <a:t>Possibly:</a:t>
            </a:r>
          </a:p>
          <a:p>
            <a:pPr marL="1617663" lvl="4" indent="-185738">
              <a:defRPr/>
            </a:pPr>
            <a:r>
              <a:rPr lang="en-US" altLang="en-US" sz="1800" dirty="0" err="1"/>
              <a:t>normalisation</a:t>
            </a:r>
            <a:r>
              <a:rPr lang="en-US" altLang="en-US" sz="1800" dirty="0"/>
              <a:t> to </a:t>
            </a:r>
            <a:r>
              <a:rPr lang="en-US" altLang="en-US" sz="1800" dirty="0" smtClean="0"/>
              <a:t>template space </a:t>
            </a:r>
            <a:br>
              <a:rPr lang="en-US" altLang="en-US" sz="1800" dirty="0" smtClean="0"/>
            </a:br>
            <a:r>
              <a:rPr lang="en-US" altLang="en-US" sz="1500" dirty="0" smtClean="0"/>
              <a:t>(e.g. if </a:t>
            </a:r>
            <a:r>
              <a:rPr lang="en-US" altLang="en-US" sz="1500" dirty="0"/>
              <a:t>random-effects searchlight analysis across subjects; could </a:t>
            </a:r>
            <a:r>
              <a:rPr lang="en-US" altLang="en-US" sz="1500" dirty="0" smtClean="0"/>
              <a:t>come after classification)</a:t>
            </a:r>
            <a:endParaRPr lang="en-US" altLang="en-US" sz="1500" dirty="0"/>
          </a:p>
          <a:p>
            <a:pPr marL="1617663" lvl="4" indent="-185738">
              <a:defRPr/>
            </a:pPr>
            <a:r>
              <a:rPr lang="en-US" altLang="en-US" sz="1800" dirty="0"/>
              <a:t>Slight spatial smoothing </a:t>
            </a:r>
            <a:r>
              <a:rPr lang="en-US" altLang="en-US" sz="1600" dirty="0"/>
              <a:t/>
            </a:r>
            <a:br>
              <a:rPr lang="en-US" altLang="en-US" sz="1600" dirty="0"/>
            </a:br>
            <a:r>
              <a:rPr lang="en-US" altLang="en-US" sz="1500" dirty="0" smtClean="0"/>
              <a:t>(</a:t>
            </a:r>
            <a:r>
              <a:rPr lang="en-US" altLang="en-US" sz="1500" dirty="0"/>
              <a:t>could increase or decrease SNR, </a:t>
            </a:r>
            <a:r>
              <a:rPr lang="en-US" altLang="en-US" sz="1500" dirty="0" smtClean="0"/>
              <a:t>depending </a:t>
            </a:r>
            <a:r>
              <a:rPr lang="en-US" altLang="en-US" sz="1500" dirty="0"/>
              <a:t>on spatial scale of signal vs noise</a:t>
            </a:r>
            <a:r>
              <a:rPr lang="en-US" altLang="en-US" sz="1500" dirty="0" smtClean="0"/>
              <a:t>)</a:t>
            </a:r>
          </a:p>
          <a:p>
            <a:pPr lvl="1">
              <a:defRPr/>
            </a:pPr>
            <a:endParaRPr lang="en-US" altLang="en-US" sz="2400" dirty="0"/>
          </a:p>
          <a:p>
            <a:pPr>
              <a:defRPr/>
            </a:pPr>
            <a:endParaRPr lang="en-US" altLang="en-US" sz="2800" dirty="0"/>
          </a:p>
        </p:txBody>
      </p:sp>
    </p:spTree>
    <p:extLst>
      <p:ext uri="{BB962C8B-B14F-4D97-AF65-F5344CB8AC3E}">
        <p14:creationId xmlns:p14="http://schemas.microsoft.com/office/powerpoint/2010/main" val="402970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364">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64">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64">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364">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36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build="p" bldLvl="3"/>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457200" y="274638"/>
            <a:ext cx="8229600" cy="850106"/>
          </a:xfrm>
        </p:spPr>
        <p:txBody>
          <a:bodyPr/>
          <a:lstStyle/>
          <a:p>
            <a:r>
              <a:rPr lang="en-US" altLang="en-US" sz="3600" b="1" dirty="0" smtClean="0"/>
              <a:t>With many features, we need to choose,     which of them we want to use</a:t>
            </a:r>
            <a:endParaRPr lang="en-GB" altLang="en-US" sz="3600" dirty="0" smtClean="0"/>
          </a:p>
        </p:txBody>
      </p:sp>
      <p:sp>
        <p:nvSpPr>
          <p:cNvPr id="3" name="Content Placeholder 2"/>
          <p:cNvSpPr>
            <a:spLocks noGrp="1"/>
          </p:cNvSpPr>
          <p:nvPr>
            <p:ph idx="1"/>
          </p:nvPr>
        </p:nvSpPr>
        <p:spPr>
          <a:xfrm>
            <a:off x="457200" y="1484784"/>
            <a:ext cx="8686800" cy="5328592"/>
          </a:xfrm>
        </p:spPr>
        <p:txBody>
          <a:bodyPr/>
          <a:lstStyle/>
          <a:p>
            <a:pPr>
              <a:spcAft>
                <a:spcPts val="600"/>
              </a:spcAft>
            </a:pPr>
            <a:r>
              <a:rPr lang="en-US" altLang="en-US" sz="2000" dirty="0" smtClean="0"/>
              <a:t>Voxel selection must be based on data independent from test data set </a:t>
            </a:r>
            <a:br>
              <a:rPr lang="en-US" altLang="en-US" sz="2000" dirty="0" smtClean="0"/>
            </a:br>
            <a:r>
              <a:rPr lang="en-US" altLang="en-US" sz="1600" dirty="0" smtClean="0"/>
              <a:t>(not specific to MVPA!)</a:t>
            </a:r>
            <a:endParaRPr lang="en-US" altLang="en-US" sz="1600" dirty="0"/>
          </a:p>
          <a:p>
            <a:pPr>
              <a:spcAft>
                <a:spcPts val="600"/>
              </a:spcAft>
            </a:pPr>
            <a:r>
              <a:rPr lang="en-US" altLang="en-US" sz="2000" dirty="0" smtClean="0"/>
              <a:t>Choice of which features to use determines:</a:t>
            </a:r>
          </a:p>
          <a:p>
            <a:pPr lvl="1">
              <a:spcAft>
                <a:spcPts val="600"/>
              </a:spcAft>
            </a:pPr>
            <a:r>
              <a:rPr lang="en-US" altLang="en-US" sz="1800" dirty="0" smtClean="0"/>
              <a:t>inference that can be made; </a:t>
            </a:r>
          </a:p>
          <a:p>
            <a:pPr lvl="1">
              <a:spcAft>
                <a:spcPts val="600"/>
              </a:spcAft>
            </a:pPr>
            <a:r>
              <a:rPr lang="en-US" altLang="en-US" sz="1800" dirty="0" smtClean="0"/>
              <a:t>SNR/risk of overfitting</a:t>
            </a:r>
            <a:endParaRPr lang="en-US" altLang="en-US" sz="2000" dirty="0" smtClean="0"/>
          </a:p>
          <a:p>
            <a:pPr>
              <a:spcAft>
                <a:spcPts val="600"/>
              </a:spcAft>
            </a:pPr>
            <a:r>
              <a:rPr lang="en-US" altLang="en-US" sz="2000" dirty="0" smtClean="0"/>
              <a:t>Most common ways of voxel selection:</a:t>
            </a:r>
          </a:p>
          <a:p>
            <a:pPr lvl="1">
              <a:spcAft>
                <a:spcPts val="600"/>
              </a:spcAft>
            </a:pPr>
            <a:r>
              <a:rPr lang="en-US" altLang="en-US" sz="1800" dirty="0" smtClean="0"/>
              <a:t>structural ROI </a:t>
            </a:r>
            <a:r>
              <a:rPr lang="en-US" altLang="en-US" sz="1600" dirty="0" smtClean="0"/>
              <a:t>(anatomy; e.g. traced per subject, or from an atlas)</a:t>
            </a:r>
          </a:p>
          <a:p>
            <a:pPr lvl="1">
              <a:spcAft>
                <a:spcPts val="600"/>
              </a:spcAft>
            </a:pPr>
            <a:r>
              <a:rPr lang="en-US" altLang="en-US" sz="1800" dirty="0" smtClean="0"/>
              <a:t>functional ROI </a:t>
            </a:r>
            <a:r>
              <a:rPr lang="en-US" altLang="en-US" sz="1600" dirty="0" smtClean="0"/>
              <a:t>(activity; e.g. from per-subject localizer, or coordinates from literature)</a:t>
            </a:r>
          </a:p>
          <a:p>
            <a:pPr lvl="2">
              <a:spcAft>
                <a:spcPts val="600"/>
              </a:spcAft>
            </a:pPr>
            <a:r>
              <a:rPr lang="en-US" altLang="en-US" sz="1400" dirty="0" smtClean="0"/>
              <a:t>univariate (activation differences)</a:t>
            </a:r>
          </a:p>
          <a:p>
            <a:pPr lvl="2">
              <a:spcAft>
                <a:spcPts val="600"/>
              </a:spcAft>
            </a:pPr>
            <a:r>
              <a:rPr lang="en-US" altLang="en-US" sz="1400" dirty="0" smtClean="0"/>
              <a:t>multivariate (pattern differences)</a:t>
            </a:r>
          </a:p>
          <a:p>
            <a:pPr lvl="1">
              <a:spcAft>
                <a:spcPts val="600"/>
              </a:spcAft>
            </a:pPr>
            <a:r>
              <a:rPr lang="en-US" altLang="en-US" sz="1800" dirty="0" smtClean="0"/>
              <a:t>“Searchlight” </a:t>
            </a:r>
            <a:r>
              <a:rPr lang="en-US" altLang="en-US" sz="1400" dirty="0" smtClean="0"/>
              <a:t>(roving ROI; often local/contiguous, but needn’t be)</a:t>
            </a:r>
          </a:p>
          <a:p>
            <a:pPr lvl="1">
              <a:spcAft>
                <a:spcPts val="600"/>
              </a:spcAft>
            </a:pPr>
            <a:r>
              <a:rPr lang="en-US" altLang="en-US" sz="1800" dirty="0" smtClean="0"/>
              <a:t>“whole brain” </a:t>
            </a:r>
            <a:r>
              <a:rPr lang="en-US" altLang="en-US" sz="1400" dirty="0" smtClean="0"/>
              <a:t>(global ROI; more for prediction applications)</a:t>
            </a:r>
          </a:p>
          <a:p>
            <a:pPr>
              <a:spcAft>
                <a:spcPts val="600"/>
              </a:spcAft>
            </a:pPr>
            <a:r>
              <a:rPr lang="en-US" altLang="en-US" sz="1800" dirty="0" smtClean="0"/>
              <a:t>Could do this at same time as training the model, but would need nested-cross-validation </a:t>
            </a:r>
            <a:r>
              <a:rPr lang="en-US" altLang="en-US" sz="1600" dirty="0" smtClean="0"/>
              <a:t>(complicated, slow, and loss of training data may outweigh any benefits)</a:t>
            </a:r>
            <a:endParaRPr lang="en-US" altLang="en-US" sz="1800" dirty="0" smtClean="0"/>
          </a:p>
          <a:p>
            <a:endParaRPr lang="en-US" altLang="en-US" sz="2400" dirty="0" smtClean="0"/>
          </a:p>
          <a:p>
            <a:pPr>
              <a:buFont typeface="Arial" panose="020B0604020202020204" pitchFamily="34" charset="0"/>
              <a:buNone/>
            </a:pPr>
            <a:endParaRPr lang="en-GB" altLang="en-US" sz="2400" dirty="0" smtClean="0"/>
          </a:p>
        </p:txBody>
      </p:sp>
      <p:pic>
        <p:nvPicPr>
          <p:cNvPr id="4" name="Content Placeholder 3" descr="granada_multivariateSearchlight_3.tif"/>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76740" y="5038779"/>
            <a:ext cx="1231080" cy="92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7668344" y="5282044"/>
            <a:ext cx="15945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400" i="1" dirty="0" err="1"/>
              <a:t>Kriegeskorte</a:t>
            </a:r>
            <a:r>
              <a:rPr lang="en-US" altLang="en-US" sz="1400" i="1" dirty="0"/>
              <a:t> et </a:t>
            </a:r>
            <a:r>
              <a:rPr lang="en-US" altLang="en-US" sz="1400" i="1" dirty="0" smtClean="0"/>
              <a:t>al.</a:t>
            </a:r>
          </a:p>
          <a:p>
            <a:pPr eaLnBrk="1" hangingPunct="1">
              <a:spcBef>
                <a:spcPct val="0"/>
              </a:spcBef>
              <a:buFontTx/>
              <a:buNone/>
            </a:pPr>
            <a:r>
              <a:rPr lang="en-US" altLang="en-US" sz="1400" i="1" dirty="0" smtClean="0"/>
              <a:t>2006</a:t>
            </a:r>
            <a:endParaRPr lang="en-GB" altLang="en-US" sz="1400" i="1" dirty="0"/>
          </a:p>
        </p:txBody>
      </p:sp>
    </p:spTree>
    <p:extLst>
      <p:ext uri="{BB962C8B-B14F-4D97-AF65-F5344CB8AC3E}">
        <p14:creationId xmlns:p14="http://schemas.microsoft.com/office/powerpoint/2010/main" val="6234031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0898" name="Picture 3"/>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23850" y="188913"/>
            <a:ext cx="4103688" cy="6542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0899" name="TextBox 4"/>
          <p:cNvSpPr txBox="1">
            <a:spLocks noChangeArrowheads="1"/>
          </p:cNvSpPr>
          <p:nvPr/>
        </p:nvSpPr>
        <p:spPr bwMode="auto">
          <a:xfrm>
            <a:off x="5867400" y="6345238"/>
            <a:ext cx="3097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Kriegeskorte et al. 2006, 2007</a:t>
            </a:r>
            <a:endParaRPr lang="en-GB" altLang="en-US" sz="1800"/>
          </a:p>
        </p:txBody>
      </p:sp>
      <p:sp>
        <p:nvSpPr>
          <p:cNvPr id="80900" name="TextBox 5"/>
          <p:cNvSpPr txBox="1">
            <a:spLocks noChangeArrowheads="1"/>
          </p:cNvSpPr>
          <p:nvPr/>
        </p:nvSpPr>
        <p:spPr bwMode="auto">
          <a:xfrm>
            <a:off x="4894895" y="3933056"/>
            <a:ext cx="396113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eaLnBrk="1" hangingPunct="1">
              <a:spcBef>
                <a:spcPct val="0"/>
              </a:spcBef>
            </a:pPr>
            <a:r>
              <a:rPr lang="en-US" altLang="en-US" sz="2400" dirty="0" smtClean="0"/>
              <a:t>The first searchlight paper</a:t>
            </a:r>
          </a:p>
          <a:p>
            <a:pPr marL="457200" indent="-457200" eaLnBrk="1" hangingPunct="1">
              <a:spcBef>
                <a:spcPct val="0"/>
              </a:spcBef>
            </a:pPr>
            <a:r>
              <a:rPr lang="en-US" altLang="en-US" sz="2400" dirty="0" smtClean="0"/>
              <a:t>Example </a:t>
            </a:r>
            <a:r>
              <a:rPr lang="en-US" altLang="en-US" sz="2400" dirty="0"/>
              <a:t>comparison of activation-based and information-based mapping</a:t>
            </a:r>
            <a:endParaRPr lang="en-GB" altLang="en-US" sz="2400" dirty="0"/>
          </a:p>
        </p:txBody>
      </p:sp>
      <p:pic>
        <p:nvPicPr>
          <p:cNvPr id="80901"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16463" y="333375"/>
            <a:ext cx="2159000" cy="2808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61264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457200" y="274638"/>
            <a:ext cx="8229600" cy="706090"/>
          </a:xfrm>
        </p:spPr>
        <p:txBody>
          <a:bodyPr/>
          <a:lstStyle/>
          <a:p>
            <a:r>
              <a:rPr lang="en-US" altLang="en-US" sz="3600" b="1" dirty="0" smtClean="0"/>
              <a:t>Selecting voxels, continued</a:t>
            </a:r>
            <a:endParaRPr lang="en-GB" altLang="en-US" sz="3600" dirty="0" smtClean="0"/>
          </a:p>
        </p:txBody>
      </p:sp>
      <p:sp>
        <p:nvSpPr>
          <p:cNvPr id="3" name="Content Placeholder 2"/>
          <p:cNvSpPr>
            <a:spLocks noGrp="1"/>
          </p:cNvSpPr>
          <p:nvPr>
            <p:ph idx="1"/>
          </p:nvPr>
        </p:nvSpPr>
        <p:spPr>
          <a:xfrm>
            <a:off x="196931" y="1052736"/>
            <a:ext cx="8551533" cy="5688632"/>
          </a:xfrm>
        </p:spPr>
        <p:txBody>
          <a:bodyPr/>
          <a:lstStyle/>
          <a:p>
            <a:pPr>
              <a:spcAft>
                <a:spcPts val="300"/>
              </a:spcAft>
            </a:pPr>
            <a:r>
              <a:rPr lang="en-US" altLang="en-US" sz="2400" dirty="0" smtClean="0"/>
              <a:t>How many voxels?</a:t>
            </a:r>
          </a:p>
          <a:p>
            <a:pPr lvl="1">
              <a:spcAft>
                <a:spcPts val="300"/>
              </a:spcAft>
            </a:pPr>
            <a:r>
              <a:rPr lang="en-US" altLang="en-US" sz="2000" dirty="0" smtClean="0"/>
              <a:t>Depends on the expected spatial extent of effects, </a:t>
            </a:r>
            <a:br>
              <a:rPr lang="en-US" altLang="en-US" sz="2000" dirty="0" smtClean="0"/>
            </a:br>
            <a:r>
              <a:rPr lang="en-US" altLang="en-US" sz="2000" dirty="0" smtClean="0"/>
              <a:t>and the scientific question.</a:t>
            </a:r>
            <a:endParaRPr lang="en-US" altLang="en-US" sz="2400" dirty="0" smtClean="0"/>
          </a:p>
          <a:p>
            <a:pPr lvl="1">
              <a:spcAft>
                <a:spcPts val="300"/>
              </a:spcAft>
            </a:pPr>
            <a:r>
              <a:rPr lang="en-US" altLang="en-US" sz="2000" dirty="0" smtClean="0"/>
              <a:t>few </a:t>
            </a:r>
            <a:r>
              <a:rPr lang="en-US" altLang="en-US" sz="2000" dirty="0" smtClean="0">
                <a:sym typeface="Wingdings" panose="05000000000000000000" pitchFamily="2" charset="2"/>
              </a:rPr>
              <a:t></a:t>
            </a:r>
            <a:r>
              <a:rPr lang="en-US" altLang="en-US" sz="2000" dirty="0" smtClean="0"/>
              <a:t> risk of missing </a:t>
            </a:r>
            <a:r>
              <a:rPr lang="en-US" altLang="en-US" sz="2000" dirty="0" smtClean="0"/>
              <a:t>signal, but more spatially precise</a:t>
            </a:r>
            <a:endParaRPr lang="en-US" altLang="en-US" sz="2000" dirty="0" smtClean="0"/>
          </a:p>
          <a:p>
            <a:pPr lvl="1">
              <a:spcAft>
                <a:spcPts val="300"/>
              </a:spcAft>
            </a:pPr>
            <a:r>
              <a:rPr lang="en-US" altLang="en-US" sz="2000" dirty="0" smtClean="0"/>
              <a:t>many </a:t>
            </a:r>
            <a:r>
              <a:rPr lang="en-US" altLang="en-US" sz="2000" dirty="0" smtClean="0">
                <a:sym typeface="Wingdings" panose="05000000000000000000" pitchFamily="2" charset="2"/>
              </a:rPr>
              <a:t> </a:t>
            </a:r>
            <a:r>
              <a:rPr lang="en-US" altLang="en-US" sz="2000" dirty="0" smtClean="0">
                <a:sym typeface="Wingdings" panose="05000000000000000000" pitchFamily="2" charset="2"/>
              </a:rPr>
              <a:t>may be</a:t>
            </a:r>
            <a:r>
              <a:rPr lang="en-US" altLang="en-US" sz="2000" dirty="0" smtClean="0">
                <a:sym typeface="Wingdings" panose="05000000000000000000" pitchFamily="2" charset="2"/>
              </a:rPr>
              <a:t> more sensitive, but </a:t>
            </a:r>
            <a:r>
              <a:rPr lang="en-US" altLang="en-US" sz="2000" dirty="0" smtClean="0"/>
              <a:t>overfitting risk &amp; </a:t>
            </a:r>
            <a:r>
              <a:rPr lang="en-US" altLang="en-US" sz="2000" dirty="0" smtClean="0"/>
              <a:t>weaker localization</a:t>
            </a:r>
            <a:endParaRPr lang="en-US" altLang="en-US" sz="2400" dirty="0" smtClean="0"/>
          </a:p>
          <a:p>
            <a:pPr>
              <a:spcAft>
                <a:spcPts val="600"/>
              </a:spcAft>
            </a:pPr>
            <a:r>
              <a:rPr lang="en-US" altLang="en-US" sz="2400" dirty="0" smtClean="0"/>
              <a:t>Might information be distributed across </a:t>
            </a:r>
            <a:br>
              <a:rPr lang="en-US" altLang="en-US" sz="2400" dirty="0" smtClean="0"/>
            </a:br>
            <a:r>
              <a:rPr lang="en-US" altLang="en-US" sz="2400" dirty="0" smtClean="0"/>
              <a:t>non-contiguous regions?</a:t>
            </a:r>
          </a:p>
          <a:p>
            <a:pPr>
              <a:spcAft>
                <a:spcPts val="600"/>
              </a:spcAft>
            </a:pPr>
            <a:r>
              <a:rPr lang="en-US" altLang="en-US" sz="2400" dirty="0" smtClean="0"/>
              <a:t>Sometimes people select the same number of voxels in each subject, and for each region of interest.</a:t>
            </a:r>
          </a:p>
          <a:p>
            <a:pPr>
              <a:spcAft>
                <a:spcPts val="600"/>
              </a:spcAft>
            </a:pPr>
            <a:r>
              <a:rPr lang="en-US" altLang="en-US" sz="2400" dirty="0" smtClean="0"/>
              <a:t>But beware direct comparisons between regions!</a:t>
            </a:r>
            <a:br>
              <a:rPr lang="en-US" altLang="en-US" sz="2400" dirty="0" smtClean="0"/>
            </a:br>
            <a:r>
              <a:rPr lang="en-US" altLang="en-US" sz="1800" dirty="0" smtClean="0"/>
              <a:t>- </a:t>
            </a:r>
            <a:r>
              <a:rPr lang="en-US" altLang="en-US" sz="1800" dirty="0" smtClean="0"/>
              <a:t>Equating </a:t>
            </a:r>
            <a:r>
              <a:rPr lang="en-US" altLang="en-US" sz="1800" dirty="0" smtClean="0"/>
              <a:t>voxel number doesn’t make them equal; </a:t>
            </a:r>
            <a:r>
              <a:rPr lang="en-US" altLang="en-US" sz="1800" dirty="0"/>
              <a:t/>
            </a:r>
            <a:br>
              <a:rPr lang="en-US" altLang="en-US" sz="1800" dirty="0"/>
            </a:br>
            <a:r>
              <a:rPr lang="en-US" altLang="en-US" sz="1800" dirty="0" smtClean="0"/>
              <a:t>   e.g</a:t>
            </a:r>
            <a:r>
              <a:rPr lang="en-US" altLang="en-US" sz="1800" dirty="0" smtClean="0"/>
              <a:t>. MT neurons might encode </a:t>
            </a:r>
            <a:r>
              <a:rPr lang="en-US" altLang="en-US" sz="1800" dirty="0" smtClean="0"/>
              <a:t>motion direction </a:t>
            </a:r>
            <a:r>
              <a:rPr lang="en-US" altLang="en-US" sz="1800" dirty="0" smtClean="0"/>
              <a:t>more strongly </a:t>
            </a:r>
            <a:r>
              <a:rPr lang="en-US" altLang="en-US" sz="1800" dirty="0" smtClean="0"/>
              <a:t/>
            </a:r>
            <a:br>
              <a:rPr lang="en-US" altLang="en-US" sz="1800" dirty="0" smtClean="0"/>
            </a:br>
            <a:r>
              <a:rPr lang="en-US" altLang="en-US" sz="1800" dirty="0" smtClean="0"/>
              <a:t>   than V1, </a:t>
            </a:r>
            <a:r>
              <a:rPr lang="en-US" altLang="en-US" sz="1800" dirty="0" smtClean="0"/>
              <a:t>but decoding </a:t>
            </a:r>
            <a:r>
              <a:rPr lang="en-US" altLang="en-US" sz="1800" dirty="0" smtClean="0"/>
              <a:t>can be</a:t>
            </a:r>
            <a:r>
              <a:rPr lang="en-US" altLang="en-US" sz="1800" dirty="0" smtClean="0"/>
              <a:t> </a:t>
            </a:r>
            <a:r>
              <a:rPr lang="en-US" altLang="en-US" sz="1800" dirty="0" smtClean="0"/>
              <a:t>weaker </a:t>
            </a:r>
            <a:r>
              <a:rPr lang="en-US" altLang="en-US" sz="1800" dirty="0" smtClean="0"/>
              <a:t>if</a:t>
            </a:r>
            <a:r>
              <a:rPr lang="en-US" altLang="en-US" sz="1800" dirty="0" smtClean="0"/>
              <a:t> neurons </a:t>
            </a:r>
            <a:r>
              <a:rPr lang="en-US" altLang="en-US" sz="1800" dirty="0" smtClean="0"/>
              <a:t>are </a:t>
            </a:r>
            <a:r>
              <a:rPr lang="en-US" altLang="en-US" sz="1800" dirty="0" smtClean="0"/>
              <a:t>intermixed</a:t>
            </a:r>
            <a:r>
              <a:rPr lang="en-US" altLang="en-US" sz="1800" dirty="0" smtClean="0"/>
              <a:t>.</a:t>
            </a:r>
            <a:r>
              <a:rPr lang="en-US" altLang="en-US" sz="1800" dirty="0"/>
              <a:t/>
            </a:r>
            <a:br>
              <a:rPr lang="en-US" altLang="en-US" sz="1800" dirty="0"/>
            </a:br>
            <a:r>
              <a:rPr lang="en-US" altLang="en-US" sz="1800" dirty="0" smtClean="0"/>
              <a:t>- Often useful </a:t>
            </a:r>
            <a:r>
              <a:rPr lang="en-US" altLang="en-US" sz="1800" dirty="0" smtClean="0"/>
              <a:t>to consider interaction with condition</a:t>
            </a:r>
            <a:r>
              <a:rPr lang="en-US" altLang="en-US" sz="1800" dirty="0" smtClean="0"/>
              <a:t>.</a:t>
            </a:r>
            <a:endParaRPr lang="en-US" altLang="en-US" sz="1800" dirty="0" smtClean="0"/>
          </a:p>
          <a:p>
            <a:endParaRPr lang="en-GB" altLang="en-US" sz="2800" dirty="0" smtClean="0"/>
          </a:p>
        </p:txBody>
      </p:sp>
      <p:sp>
        <p:nvSpPr>
          <p:cNvPr id="4" name="Title 1"/>
          <p:cNvSpPr txBox="1">
            <a:spLocks/>
          </p:cNvSpPr>
          <p:nvPr/>
        </p:nvSpPr>
        <p:spPr bwMode="auto">
          <a:xfrm>
            <a:off x="6616939" y="6406051"/>
            <a:ext cx="2419557"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t>Back to demo!</a:t>
            </a:r>
            <a:endParaRPr lang="en-GB" altLang="en-US" sz="2800" b="1" dirty="0"/>
          </a:p>
        </p:txBody>
      </p:sp>
      <p:pic>
        <p:nvPicPr>
          <p:cNvPr id="2" name="Picture 1"/>
          <p:cNvPicPr>
            <a:picLocks noChangeAspect="1"/>
          </p:cNvPicPr>
          <p:nvPr/>
        </p:nvPicPr>
        <p:blipFill>
          <a:blip r:embed="rId3"/>
          <a:stretch>
            <a:fillRect/>
          </a:stretch>
        </p:blipFill>
        <p:spPr>
          <a:xfrm>
            <a:off x="6876257" y="4437112"/>
            <a:ext cx="1872208" cy="1931558"/>
          </a:xfrm>
          <a:prstGeom prst="rect">
            <a:avLst/>
          </a:prstGeom>
        </p:spPr>
      </p:pic>
    </p:spTree>
    <p:extLst>
      <p:ext uri="{BB962C8B-B14F-4D97-AF65-F5344CB8AC3E}">
        <p14:creationId xmlns:p14="http://schemas.microsoft.com/office/powerpoint/2010/main" val="14410418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a:xfrm>
            <a:off x="457200" y="274638"/>
            <a:ext cx="8229600" cy="562074"/>
          </a:xfrm>
        </p:spPr>
        <p:txBody>
          <a:bodyPr/>
          <a:lstStyle/>
          <a:p>
            <a:r>
              <a:rPr lang="en-US" altLang="en-US" sz="3600" b="1" dirty="0" smtClean="0"/>
              <a:t>Statistical inference</a:t>
            </a:r>
            <a:endParaRPr lang="en-GB" altLang="en-US" sz="3600" b="1" dirty="0" smtClean="0"/>
          </a:p>
        </p:txBody>
      </p:sp>
      <p:sp>
        <p:nvSpPr>
          <p:cNvPr id="3" name="Content Placeholder 2"/>
          <p:cNvSpPr>
            <a:spLocks noGrp="1"/>
          </p:cNvSpPr>
          <p:nvPr>
            <p:ph idx="1"/>
          </p:nvPr>
        </p:nvSpPr>
        <p:spPr>
          <a:xfrm>
            <a:off x="457200" y="1052736"/>
            <a:ext cx="8229600" cy="5544615"/>
          </a:xfrm>
        </p:spPr>
        <p:txBody>
          <a:bodyPr/>
          <a:lstStyle/>
          <a:p>
            <a:pPr>
              <a:buFont typeface="Arial" panose="020B0604020202020204" pitchFamily="34" charset="0"/>
              <a:buNone/>
            </a:pPr>
            <a:r>
              <a:rPr lang="en-US" altLang="en-US" sz="2000" dirty="0" smtClean="0"/>
              <a:t>Dominant in the </a:t>
            </a:r>
            <a:r>
              <a:rPr lang="en-US" altLang="en-US" sz="2000" dirty="0" smtClean="0"/>
              <a:t>literature: Random-effects </a:t>
            </a:r>
            <a:r>
              <a:rPr lang="en-US" altLang="en-US" sz="2000" dirty="0" smtClean="0"/>
              <a:t>analysis </a:t>
            </a:r>
            <a:r>
              <a:rPr lang="en-US" altLang="en-US" sz="2000" b="1" dirty="0" smtClean="0"/>
              <a:t>across </a:t>
            </a:r>
            <a:r>
              <a:rPr lang="en-US" altLang="en-US" sz="2000" b="1" dirty="0" smtClean="0"/>
              <a:t>subjects</a:t>
            </a:r>
            <a:r>
              <a:rPr lang="en-US" altLang="en-US" sz="2000" dirty="0" smtClean="0"/>
              <a:t>,</a:t>
            </a:r>
            <a:br>
              <a:rPr lang="en-US" altLang="en-US" sz="2000" dirty="0" smtClean="0"/>
            </a:br>
            <a:r>
              <a:rPr lang="en-US" altLang="en-US" sz="2000" dirty="0" smtClean="0"/>
              <a:t>- using standard, one-sample, right-sided </a:t>
            </a:r>
            <a:r>
              <a:rPr lang="en-US" altLang="en-US" sz="2000" i="1" dirty="0" smtClean="0"/>
              <a:t>t</a:t>
            </a:r>
            <a:r>
              <a:rPr lang="en-US" altLang="en-US" sz="2000" dirty="0" smtClean="0"/>
              <a:t>-test vs chance</a:t>
            </a:r>
            <a:endParaRPr lang="en-US" altLang="en-US" sz="2000" dirty="0" smtClean="0"/>
          </a:p>
          <a:p>
            <a:pPr>
              <a:buFont typeface="Arial" panose="020B0604020202020204" pitchFamily="34" charset="0"/>
              <a:buNone/>
            </a:pPr>
            <a:r>
              <a:rPr lang="en-US" altLang="en-US" sz="2000" dirty="0" smtClean="0"/>
              <a:t>	</a:t>
            </a:r>
            <a:r>
              <a:rPr lang="en-US" altLang="en-US" sz="2000" dirty="0" smtClean="0"/>
              <a:t>	H</a:t>
            </a:r>
            <a:r>
              <a:rPr lang="en-US" altLang="en-US" sz="2000" baseline="-25000" dirty="0" smtClean="0"/>
              <a:t>0</a:t>
            </a:r>
            <a:r>
              <a:rPr lang="en-US" altLang="en-US" sz="2000" dirty="0" smtClean="0"/>
              <a:t>: </a:t>
            </a:r>
            <a:r>
              <a:rPr lang="el-GR" altLang="en-US" sz="2000" dirty="0" smtClean="0"/>
              <a:t>μ</a:t>
            </a:r>
            <a:r>
              <a:rPr lang="en-US" altLang="en-US" sz="2000" dirty="0" smtClean="0"/>
              <a:t> = 50% (for balanced 2-class);     H</a:t>
            </a:r>
            <a:r>
              <a:rPr lang="en-US" altLang="en-US" sz="2000" baseline="-25000" dirty="0" smtClean="0"/>
              <a:t>a</a:t>
            </a:r>
            <a:r>
              <a:rPr lang="en-US" altLang="en-US" sz="2000" dirty="0" smtClean="0"/>
              <a:t>: </a:t>
            </a:r>
            <a:r>
              <a:rPr lang="el-GR" altLang="en-US" sz="2000" dirty="0" smtClean="0"/>
              <a:t>μ</a:t>
            </a:r>
            <a:r>
              <a:rPr lang="en-US" altLang="en-US" sz="2000" dirty="0" smtClean="0"/>
              <a:t> &gt; 50</a:t>
            </a:r>
            <a:r>
              <a:rPr lang="en-US" altLang="en-US" sz="2000" dirty="0" smtClean="0"/>
              <a:t>%</a:t>
            </a:r>
          </a:p>
          <a:p>
            <a:pPr>
              <a:buNone/>
            </a:pPr>
            <a:r>
              <a:rPr lang="en-US" altLang="en-US" sz="2000" dirty="0"/>
              <a:t>	</a:t>
            </a:r>
            <a:r>
              <a:rPr lang="en-US" altLang="en-US" sz="2000" dirty="0" smtClean="0"/>
              <a:t>- or </a:t>
            </a:r>
            <a:r>
              <a:rPr lang="en-US" altLang="en-US" sz="2000" dirty="0"/>
              <a:t>repeated measures ANOVA to compare </a:t>
            </a:r>
            <a:r>
              <a:rPr lang="en-US" altLang="en-US" sz="2000" dirty="0" smtClean="0"/>
              <a:t>conditions</a:t>
            </a:r>
            <a:endParaRPr lang="en-US" altLang="en-US" sz="2000" dirty="0" smtClean="0"/>
          </a:p>
          <a:p>
            <a:pPr>
              <a:buFont typeface="Arial" panose="020B0604020202020204" pitchFamily="34" charset="0"/>
              <a:buNone/>
            </a:pPr>
            <a:r>
              <a:rPr lang="en-US" altLang="en-US" sz="2000" dirty="0"/>
              <a:t>	</a:t>
            </a:r>
            <a:r>
              <a:rPr lang="en-US" altLang="en-US" sz="2000" dirty="0" smtClean="0"/>
              <a:t>- fast, simple, powerful</a:t>
            </a:r>
            <a:endParaRPr lang="en-US" altLang="en-US" sz="2000" dirty="0" smtClean="0"/>
          </a:p>
          <a:p>
            <a:pPr>
              <a:buFont typeface="Arial" panose="020B0604020202020204" pitchFamily="34" charset="0"/>
              <a:buNone/>
            </a:pPr>
            <a:endParaRPr lang="en-US" altLang="en-US" sz="2000" dirty="0" smtClean="0"/>
          </a:p>
          <a:p>
            <a:pPr>
              <a:buFont typeface="Arial" panose="020B0604020202020204" pitchFamily="34" charset="0"/>
              <a:buNone/>
            </a:pPr>
            <a:r>
              <a:rPr lang="en-US" altLang="en-US" sz="2000" dirty="0" smtClean="0"/>
              <a:t>Is this valid?</a:t>
            </a:r>
          </a:p>
          <a:p>
            <a:r>
              <a:rPr lang="en-US" altLang="en-US" sz="1800" dirty="0" smtClean="0"/>
              <a:t>observations (i.e. subjects) are independent</a:t>
            </a:r>
          </a:p>
          <a:p>
            <a:r>
              <a:rPr lang="en-US" altLang="en-US" sz="1800" dirty="0" smtClean="0"/>
              <a:t>reasonable to assume probability distribution of classification accuracy is identical across subjects </a:t>
            </a:r>
          </a:p>
          <a:p>
            <a:r>
              <a:rPr lang="en-US" altLang="en-US" sz="1800" dirty="0" smtClean="0"/>
              <a:t>number of subjects is large enough for the central limit theorem to apply </a:t>
            </a:r>
            <a:br>
              <a:rPr lang="en-US" altLang="en-US" sz="1800" dirty="0" smtClean="0"/>
            </a:br>
            <a:r>
              <a:rPr lang="en-US" altLang="en-US" sz="1800" dirty="0" smtClean="0"/>
              <a:t>(can assume sampling distribution </a:t>
            </a:r>
            <a:r>
              <a:rPr lang="en-US" altLang="en-US" sz="1800" dirty="0" smtClean="0"/>
              <a:t>of </a:t>
            </a:r>
            <a:r>
              <a:rPr lang="el-GR" altLang="en-US" sz="1800" dirty="0"/>
              <a:t>μ </a:t>
            </a:r>
            <a:r>
              <a:rPr lang="en-US" altLang="en-US" sz="1800" dirty="0" smtClean="0"/>
              <a:t>approaches </a:t>
            </a:r>
            <a:r>
              <a:rPr lang="en-US" altLang="en-US" sz="1800" dirty="0" smtClean="0"/>
              <a:t>a normal distribution) </a:t>
            </a:r>
          </a:p>
          <a:p>
            <a:r>
              <a:rPr lang="en-US" altLang="en-US" sz="1800" dirty="0" smtClean="0"/>
              <a:t>But, take care over chance level (especially for unbalanced classes)</a:t>
            </a:r>
          </a:p>
          <a:p>
            <a:r>
              <a:rPr lang="en-US" altLang="en-US" sz="1800" dirty="0" smtClean="0"/>
              <a:t>If any doubt, can use permutation test instead; wise to include negative control</a:t>
            </a:r>
          </a:p>
          <a:p>
            <a:r>
              <a:rPr lang="en-US" altLang="en-US" sz="1800" dirty="0" smtClean="0"/>
              <a:t>If true value of dependent measure cannot be negative, t-test only provides FFX inference (</a:t>
            </a:r>
            <a:r>
              <a:rPr lang="en-US" altLang="en-US" sz="1800" dirty="0" err="1" smtClean="0"/>
              <a:t>Allefeld</a:t>
            </a:r>
            <a:r>
              <a:rPr lang="en-US" altLang="en-US" sz="1800" dirty="0" smtClean="0"/>
              <a:t> et al. 2016)</a:t>
            </a:r>
          </a:p>
        </p:txBody>
      </p:sp>
    </p:spTree>
    <p:extLst>
      <p:ext uri="{BB962C8B-B14F-4D97-AF65-F5344CB8AC3E}">
        <p14:creationId xmlns:p14="http://schemas.microsoft.com/office/powerpoint/2010/main" val="34014631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lstStyle/>
          <a:p>
            <a:r>
              <a:rPr lang="en-US" altLang="en-US" sz="3600" b="1" smtClean="0"/>
              <a:t>Statistical inference</a:t>
            </a:r>
            <a:endParaRPr lang="en-GB" altLang="en-US" sz="3600" b="1" smtClean="0"/>
          </a:p>
        </p:txBody>
      </p:sp>
      <p:pic>
        <p:nvPicPr>
          <p:cNvPr id="86019" name="Content Placeholder 3" descr="granada_inference_RFX.tif"/>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a:xfrm>
            <a:off x="323528" y="1700808"/>
            <a:ext cx="7824788" cy="3167063"/>
          </a:xfrm>
        </p:spPr>
      </p:pic>
      <p:sp>
        <p:nvSpPr>
          <p:cNvPr id="6" name="Rectangle 5"/>
          <p:cNvSpPr/>
          <p:nvPr/>
        </p:nvSpPr>
        <p:spPr>
          <a:xfrm>
            <a:off x="4619302" y="2132112"/>
            <a:ext cx="3600649" cy="23042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8" name="TextBox 7"/>
          <p:cNvSpPr txBox="1">
            <a:spLocks noChangeArrowheads="1"/>
          </p:cNvSpPr>
          <p:nvPr/>
        </p:nvSpPr>
        <p:spPr bwMode="auto">
          <a:xfrm>
            <a:off x="874391" y="5057145"/>
            <a:ext cx="352913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dirty="0" smtClean="0"/>
              <a:t>Error variability </a:t>
            </a:r>
            <a:endParaRPr lang="en-US" altLang="en-US" sz="2000" dirty="0"/>
          </a:p>
          <a:p>
            <a:pPr eaLnBrk="1" hangingPunct="1">
              <a:spcBef>
                <a:spcPct val="0"/>
              </a:spcBef>
              <a:buFontTx/>
              <a:buNone/>
            </a:pPr>
            <a:r>
              <a:rPr lang="en-US" altLang="en-US" sz="2000" dirty="0"/>
              <a:t>across </a:t>
            </a:r>
            <a:r>
              <a:rPr lang="en-US" altLang="en-US" sz="2000" b="1" i="1" dirty="0" smtClean="0"/>
              <a:t>folds</a:t>
            </a:r>
            <a:r>
              <a:rPr lang="en-US" altLang="en-US" sz="2000" i="1" dirty="0" smtClean="0"/>
              <a:t> </a:t>
            </a:r>
            <a:br>
              <a:rPr lang="en-US" altLang="en-US" sz="2000" i="1" dirty="0" smtClean="0"/>
            </a:br>
            <a:r>
              <a:rPr lang="en-US" altLang="en-US" sz="2000" i="1" dirty="0" smtClean="0"/>
              <a:t>(</a:t>
            </a:r>
            <a:r>
              <a:rPr lang="en-US" altLang="en-US" sz="2000" b="1" i="1" dirty="0"/>
              <a:t>n</a:t>
            </a:r>
            <a:r>
              <a:rPr lang="en-US" altLang="en-US" sz="2000" b="1" i="1" dirty="0" smtClean="0"/>
              <a:t>on-independent</a:t>
            </a:r>
            <a:r>
              <a:rPr lang="en-US" altLang="en-US" sz="2000" i="1" dirty="0" smtClean="0"/>
              <a:t>)</a:t>
            </a:r>
            <a:endParaRPr lang="en-GB" altLang="en-US" sz="2000" i="1" dirty="0"/>
          </a:p>
        </p:txBody>
      </p:sp>
      <p:sp>
        <p:nvSpPr>
          <p:cNvPr id="9" name="TextBox 8"/>
          <p:cNvSpPr txBox="1">
            <a:spLocks noChangeArrowheads="1"/>
          </p:cNvSpPr>
          <p:nvPr/>
        </p:nvSpPr>
        <p:spPr bwMode="auto">
          <a:xfrm>
            <a:off x="6660232" y="5113933"/>
            <a:ext cx="216024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dirty="0" smtClean="0"/>
              <a:t>Error variability </a:t>
            </a:r>
            <a:endParaRPr lang="en-US" altLang="en-US" sz="2000" dirty="0"/>
          </a:p>
          <a:p>
            <a:pPr eaLnBrk="1" hangingPunct="1">
              <a:spcBef>
                <a:spcPct val="0"/>
              </a:spcBef>
              <a:buFontTx/>
              <a:buNone/>
            </a:pPr>
            <a:r>
              <a:rPr lang="en-US" altLang="en-US" sz="2000" dirty="0"/>
              <a:t>across </a:t>
            </a:r>
            <a:r>
              <a:rPr lang="en-US" altLang="en-US" sz="2000" b="1" i="1" dirty="0" smtClean="0"/>
              <a:t>subjects</a:t>
            </a:r>
            <a:r>
              <a:rPr lang="en-US" altLang="en-US" sz="2000" i="1" dirty="0" smtClean="0"/>
              <a:t> </a:t>
            </a:r>
            <a:br>
              <a:rPr lang="en-US" altLang="en-US" sz="2000" i="1" dirty="0" smtClean="0"/>
            </a:br>
            <a:r>
              <a:rPr lang="en-US" altLang="en-US" sz="2000" i="1" dirty="0" smtClean="0"/>
              <a:t>(</a:t>
            </a:r>
            <a:r>
              <a:rPr lang="en-US" altLang="en-US" sz="2000" b="1" i="1" dirty="0" smtClean="0"/>
              <a:t>independent</a:t>
            </a:r>
            <a:r>
              <a:rPr lang="en-US" altLang="en-US" sz="2000" i="1" dirty="0" smtClean="0"/>
              <a:t>)</a:t>
            </a:r>
            <a:endParaRPr lang="en-GB" altLang="en-US" sz="2000" i="1" dirty="0"/>
          </a:p>
        </p:txBody>
      </p:sp>
    </p:spTree>
    <p:extLst>
      <p:ext uri="{BB962C8B-B14F-4D97-AF65-F5344CB8AC3E}">
        <p14:creationId xmlns:p14="http://schemas.microsoft.com/office/powerpoint/2010/main" val="4045604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60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US" altLang="en-US" sz="3600" b="1" dirty="0" smtClean="0"/>
              <a:t>Statistical inference</a:t>
            </a:r>
            <a:endParaRPr lang="en-GB" altLang="en-US" sz="3600" b="1" dirty="0" smtClean="0"/>
          </a:p>
        </p:txBody>
      </p:sp>
      <p:pic>
        <p:nvPicPr>
          <p:cNvPr id="100355" name="Content Placeholder 3" descr="granada_inference_RFX.tif"/>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a:xfrm>
            <a:off x="-5365750" y="2060575"/>
            <a:ext cx="7289800" cy="2952750"/>
          </a:xfrm>
        </p:spPr>
      </p:pic>
      <p:pic>
        <p:nvPicPr>
          <p:cNvPr id="87044"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348038" y="3213100"/>
            <a:ext cx="1512887"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Picture 9" descr="granada_tDistribution.tif"/>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316538" y="2205038"/>
            <a:ext cx="3465512"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6373813" y="1628775"/>
            <a:ext cx="6769101" cy="4392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0359" name="TextBox 6"/>
          <p:cNvSpPr txBox="1">
            <a:spLocks noChangeArrowheads="1"/>
          </p:cNvSpPr>
          <p:nvPr/>
        </p:nvSpPr>
        <p:spPr bwMode="auto">
          <a:xfrm>
            <a:off x="969963" y="1773238"/>
            <a:ext cx="2665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subject-average</a:t>
            </a:r>
          </a:p>
          <a:p>
            <a:pPr eaLnBrk="1" hangingPunct="1">
              <a:spcBef>
                <a:spcPct val="0"/>
              </a:spcBef>
              <a:buFontTx/>
              <a:buNone/>
            </a:pPr>
            <a:r>
              <a:rPr lang="en-US" altLang="en-US" sz="2000" b="1"/>
              <a:t>classification accuracy</a:t>
            </a:r>
            <a:endParaRPr lang="en-GB" altLang="en-US" sz="2000" b="1"/>
          </a:p>
        </p:txBody>
      </p:sp>
      <p:sp>
        <p:nvSpPr>
          <p:cNvPr id="10" name="TextBox 9"/>
          <p:cNvSpPr txBox="1">
            <a:spLocks noChangeArrowheads="1"/>
          </p:cNvSpPr>
          <p:nvPr/>
        </p:nvSpPr>
        <p:spPr bwMode="auto">
          <a:xfrm>
            <a:off x="5076825" y="5373688"/>
            <a:ext cx="4067175"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If the computed t value falls within the top 5% (blue) of the t distribution </a:t>
            </a:r>
            <a:r>
              <a:rPr lang="en-US" altLang="en-US" sz="2000">
                <a:sym typeface="Wingdings" panose="05000000000000000000" pitchFamily="2" charset="2"/>
              </a:rPr>
              <a:t> </a:t>
            </a:r>
            <a:r>
              <a:rPr lang="en-US" altLang="en-US" sz="2000"/>
              <a:t>reject H</a:t>
            </a:r>
            <a:r>
              <a:rPr lang="en-US" altLang="en-US" sz="2000" baseline="-25000"/>
              <a:t>0</a:t>
            </a:r>
            <a:r>
              <a:rPr lang="en-US" altLang="en-US" sz="2000"/>
              <a:t>.</a:t>
            </a:r>
            <a:endParaRPr lang="en-GB" altLang="en-US" sz="2000"/>
          </a:p>
        </p:txBody>
      </p:sp>
    </p:spTree>
    <p:extLst>
      <p:ext uri="{BB962C8B-B14F-4D97-AF65-F5344CB8AC3E}">
        <p14:creationId xmlns:p14="http://schemas.microsoft.com/office/powerpoint/2010/main" val="584229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a:xfrm>
            <a:off x="457200" y="274638"/>
            <a:ext cx="8229600" cy="346050"/>
          </a:xfrm>
        </p:spPr>
        <p:txBody>
          <a:bodyPr/>
          <a:lstStyle/>
          <a:p>
            <a:r>
              <a:rPr lang="en-US" altLang="en-US" sz="3600" b="1" dirty="0" smtClean="0"/>
              <a:t>Statistical inference</a:t>
            </a:r>
            <a:endParaRPr lang="en-GB" altLang="en-US" sz="3600" b="1" dirty="0" smtClean="0"/>
          </a:p>
        </p:txBody>
      </p:sp>
      <p:sp>
        <p:nvSpPr>
          <p:cNvPr id="88067" name="Content Placeholder 2"/>
          <p:cNvSpPr>
            <a:spLocks noGrp="1"/>
          </p:cNvSpPr>
          <p:nvPr>
            <p:ph idx="1"/>
          </p:nvPr>
        </p:nvSpPr>
        <p:spPr>
          <a:xfrm>
            <a:off x="457200" y="908720"/>
            <a:ext cx="8229600" cy="5433467"/>
          </a:xfrm>
        </p:spPr>
        <p:txBody>
          <a:bodyPr/>
          <a:lstStyle/>
          <a:p>
            <a:pPr>
              <a:buFont typeface="Arial" panose="020B0604020202020204" pitchFamily="34" charset="0"/>
              <a:buNone/>
            </a:pPr>
            <a:r>
              <a:rPr lang="en-US" altLang="en-US" sz="2800" dirty="0" smtClean="0"/>
              <a:t>However:</a:t>
            </a:r>
          </a:p>
          <a:p>
            <a:r>
              <a:rPr lang="en-US" altLang="en-US" sz="2800" dirty="0" smtClean="0"/>
              <a:t>are we sure that the accuracy is 50% under H</a:t>
            </a:r>
            <a:r>
              <a:rPr lang="en-US" altLang="en-US" sz="2800" baseline="-25000" dirty="0" smtClean="0"/>
              <a:t>0</a:t>
            </a:r>
            <a:r>
              <a:rPr lang="en-US" altLang="en-US" sz="2800" dirty="0" smtClean="0"/>
              <a:t>?</a:t>
            </a:r>
          </a:p>
          <a:p>
            <a:r>
              <a:rPr lang="en-US" altLang="en-US" sz="2800" dirty="0" smtClean="0"/>
              <a:t>What about stats </a:t>
            </a:r>
            <a:r>
              <a:rPr lang="en-US" altLang="en-US" sz="2800" b="1" dirty="0" smtClean="0"/>
              <a:t>within a subject</a:t>
            </a:r>
            <a:r>
              <a:rPr lang="en-US" altLang="en-US" sz="2800" dirty="0" smtClean="0"/>
              <a:t>?</a:t>
            </a:r>
          </a:p>
          <a:p>
            <a:r>
              <a:rPr lang="en-US" altLang="en-US" sz="2800" dirty="0" smtClean="0"/>
              <a:t>	</a:t>
            </a:r>
            <a:r>
              <a:rPr lang="en-US" altLang="en-US" sz="2800" dirty="0" smtClean="0">
                <a:sym typeface="Wingdings" panose="05000000000000000000" pitchFamily="2" charset="2"/>
              </a:rPr>
              <a:t> use a </a:t>
            </a:r>
            <a:r>
              <a:rPr lang="en-US" altLang="en-US" sz="2800" dirty="0" smtClean="0"/>
              <a:t>permutation test: </a:t>
            </a:r>
            <a:endParaRPr lang="en-US" altLang="en-US" sz="2800" dirty="0"/>
          </a:p>
          <a:p>
            <a:pPr lvl="1"/>
            <a:r>
              <a:rPr lang="en-US" altLang="en-US" sz="2400" dirty="0" smtClean="0"/>
              <a:t>create null distribution by randomly shuffling condition labels many times (1000-10,000) before </a:t>
            </a:r>
            <a:r>
              <a:rPr lang="en-US" altLang="en-US" sz="2400" dirty="0" smtClean="0"/>
              <a:t>cross-validation</a:t>
            </a:r>
            <a:endParaRPr lang="en-US" altLang="en-US" sz="2400" dirty="0"/>
          </a:p>
          <a:p>
            <a:pPr lvl="1"/>
            <a:r>
              <a:rPr lang="en-US" altLang="en-US" sz="2400" dirty="0" smtClean="0"/>
              <a:t>remove relationship between labels and patterns</a:t>
            </a:r>
          </a:p>
          <a:p>
            <a:pPr lvl="1"/>
            <a:r>
              <a:rPr lang="en-US" altLang="en-US" sz="2400" dirty="0" smtClean="0"/>
              <a:t>assumes data are exchangeable </a:t>
            </a:r>
            <a:r>
              <a:rPr lang="en-US" altLang="en-US" sz="1400" dirty="0" smtClean="0"/>
              <a:t>(H</a:t>
            </a:r>
            <a:r>
              <a:rPr lang="en-US" altLang="en-US" sz="1400" baseline="-25000" dirty="0" smtClean="0"/>
              <a:t>0</a:t>
            </a:r>
            <a:r>
              <a:rPr lang="en-US" altLang="en-US" sz="1400" dirty="0" smtClean="0"/>
              <a:t>: all classes come from same distribution)</a:t>
            </a:r>
          </a:p>
          <a:p>
            <a:pPr lvl="1"/>
            <a:r>
              <a:rPr lang="en-US" altLang="en-US" sz="2400" dirty="0" smtClean="0"/>
              <a:t>But:</a:t>
            </a:r>
          </a:p>
          <a:p>
            <a:pPr lvl="2"/>
            <a:r>
              <a:rPr lang="en-US" altLang="en-US" sz="2000" dirty="0"/>
              <a:t>s</a:t>
            </a:r>
            <a:r>
              <a:rPr lang="en-US" altLang="en-US" sz="2000" dirty="0" smtClean="0"/>
              <a:t>low; </a:t>
            </a:r>
          </a:p>
          <a:p>
            <a:pPr lvl="2"/>
            <a:r>
              <a:rPr lang="en-US" altLang="en-US" sz="2000" dirty="0" smtClean="0"/>
              <a:t>permutations limited by number of samples/classes (insensitive)</a:t>
            </a:r>
          </a:p>
          <a:p>
            <a:pPr lvl="2"/>
            <a:r>
              <a:rPr lang="en-US" altLang="en-US" sz="2000" dirty="0" smtClean="0"/>
              <a:t>complicated: permutations must preserve </a:t>
            </a:r>
            <a:r>
              <a:rPr lang="en-US" altLang="en-US" sz="2000" dirty="0" smtClean="0"/>
              <a:t>any autocorrelation</a:t>
            </a:r>
            <a:endParaRPr lang="en-US" altLang="en-US" sz="2000" dirty="0"/>
          </a:p>
          <a:p>
            <a:pPr>
              <a:buFont typeface="Arial" panose="020B0604020202020204" pitchFamily="34" charset="0"/>
              <a:buNone/>
            </a:pPr>
            <a:endParaRPr lang="en-US" altLang="en-US" sz="2800" dirty="0" smtClean="0"/>
          </a:p>
        </p:txBody>
      </p:sp>
    </p:spTree>
    <p:extLst>
      <p:ext uri="{BB962C8B-B14F-4D97-AF65-F5344CB8AC3E}">
        <p14:creationId xmlns:p14="http://schemas.microsoft.com/office/powerpoint/2010/main" val="1980299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0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06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806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06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806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0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r>
              <a:rPr lang="en-US" altLang="en-US" sz="3600" b="1" smtClean="0"/>
              <a:t>Statistical inference</a:t>
            </a:r>
            <a:endParaRPr lang="en-GB" altLang="en-US" sz="3600" b="1" smtClean="0"/>
          </a:p>
        </p:txBody>
      </p:sp>
      <p:pic>
        <p:nvPicPr>
          <p:cNvPr id="107523" name="Content Placeholder 7" descr="granada_inference_FFX_permutation.tif"/>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143669" y="1268760"/>
            <a:ext cx="8856662" cy="4451350"/>
          </a:xfrm>
        </p:spPr>
      </p:pic>
      <p:sp>
        <p:nvSpPr>
          <p:cNvPr id="9" name="Rectangle 8"/>
          <p:cNvSpPr/>
          <p:nvPr/>
        </p:nvSpPr>
        <p:spPr>
          <a:xfrm>
            <a:off x="0" y="3127723"/>
            <a:ext cx="4859338"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 name="Rectangle 10"/>
          <p:cNvSpPr/>
          <p:nvPr/>
        </p:nvSpPr>
        <p:spPr>
          <a:xfrm>
            <a:off x="6142038" y="3248373"/>
            <a:ext cx="2808287"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2" name="Rectangle 11"/>
          <p:cNvSpPr/>
          <p:nvPr/>
        </p:nvSpPr>
        <p:spPr>
          <a:xfrm>
            <a:off x="0" y="4927948"/>
            <a:ext cx="755650" cy="9350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 name="Rectangle 12"/>
          <p:cNvSpPr/>
          <p:nvPr/>
        </p:nvSpPr>
        <p:spPr>
          <a:xfrm>
            <a:off x="4716463" y="3630960"/>
            <a:ext cx="863600" cy="936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 name="Rectangle 13"/>
          <p:cNvSpPr/>
          <p:nvPr/>
        </p:nvSpPr>
        <p:spPr>
          <a:xfrm>
            <a:off x="6659563" y="2335560"/>
            <a:ext cx="2016125" cy="7921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5" name="Rectangle 14"/>
          <p:cNvSpPr/>
          <p:nvPr/>
        </p:nvSpPr>
        <p:spPr>
          <a:xfrm>
            <a:off x="4787900" y="2406998"/>
            <a:ext cx="863600" cy="936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 name="Rectangle 15"/>
          <p:cNvSpPr/>
          <p:nvPr/>
        </p:nvSpPr>
        <p:spPr>
          <a:xfrm>
            <a:off x="7740650" y="4997798"/>
            <a:ext cx="144463" cy="44450"/>
          </a:xfrm>
          <a:prstGeom prst="rect">
            <a:avLst/>
          </a:prstGeom>
          <a:solidFill>
            <a:schemeClr val="bg1">
              <a:lumMod val="50000"/>
            </a:schemeClr>
          </a:solidFill>
          <a:ln w="127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 name="Rectangle 16"/>
          <p:cNvSpPr/>
          <p:nvPr/>
        </p:nvSpPr>
        <p:spPr>
          <a:xfrm>
            <a:off x="8316913" y="4999385"/>
            <a:ext cx="142875" cy="46038"/>
          </a:xfrm>
          <a:prstGeom prst="rect">
            <a:avLst/>
          </a:prstGeom>
          <a:solidFill>
            <a:schemeClr val="bg1">
              <a:lumMod val="50000"/>
            </a:schemeClr>
          </a:solidFill>
          <a:ln w="127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8" name="Rectangle 17"/>
          <p:cNvSpPr/>
          <p:nvPr/>
        </p:nvSpPr>
        <p:spPr>
          <a:xfrm>
            <a:off x="5508625" y="3270598"/>
            <a:ext cx="3635375" cy="237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pic>
        <p:nvPicPr>
          <p:cNvPr id="2" name="Picture 1"/>
          <p:cNvPicPr>
            <a:picLocks noChangeAspect="1"/>
          </p:cNvPicPr>
          <p:nvPr/>
        </p:nvPicPr>
        <p:blipFill>
          <a:blip r:embed="rId3">
            <a:duotone>
              <a:schemeClr val="accent5">
                <a:shade val="45000"/>
                <a:satMod val="135000"/>
              </a:schemeClr>
              <a:prstClr val="white"/>
            </a:duotone>
          </a:blip>
          <a:stretch>
            <a:fillRect/>
          </a:stretch>
        </p:blipFill>
        <p:spPr>
          <a:xfrm>
            <a:off x="6253882" y="5260152"/>
            <a:ext cx="2205906" cy="1427930"/>
          </a:xfrm>
          <a:prstGeom prst="rect">
            <a:avLst/>
          </a:prstGeom>
        </p:spPr>
      </p:pic>
      <p:sp>
        <p:nvSpPr>
          <p:cNvPr id="19" name="TextBox 18"/>
          <p:cNvSpPr txBox="1">
            <a:spLocks noChangeArrowheads="1"/>
          </p:cNvSpPr>
          <p:nvPr/>
        </p:nvSpPr>
        <p:spPr bwMode="auto">
          <a:xfrm>
            <a:off x="3425775" y="5518923"/>
            <a:ext cx="25813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smtClean="0">
                <a:latin typeface="Arial" panose="020B0604020202020204" pitchFamily="34" charset="0"/>
                <a:cs typeface="Arial" panose="020B0604020202020204" pitchFamily="34" charset="0"/>
              </a:rPr>
              <a:t>Null distribution of </a:t>
            </a:r>
            <a:br>
              <a:rPr lang="en-US" altLang="en-US" sz="1600" dirty="0" smtClean="0">
                <a:latin typeface="Arial" panose="020B0604020202020204" pitchFamily="34" charset="0"/>
                <a:cs typeface="Arial" panose="020B0604020202020204" pitchFamily="34" charset="0"/>
              </a:rPr>
            </a:br>
            <a:r>
              <a:rPr lang="en-US" altLang="en-US" sz="1600" dirty="0" smtClean="0">
                <a:latin typeface="Arial" panose="020B0604020202020204" pitchFamily="34" charset="0"/>
                <a:cs typeface="Arial" panose="020B0604020202020204" pitchFamily="34" charset="0"/>
              </a:rPr>
              <a:t>subject-n </a:t>
            </a:r>
            <a:br>
              <a:rPr lang="en-US" altLang="en-US" sz="1600" dirty="0" smtClean="0">
                <a:latin typeface="Arial" panose="020B0604020202020204" pitchFamily="34" charset="0"/>
                <a:cs typeface="Arial" panose="020B0604020202020204" pitchFamily="34" charset="0"/>
              </a:rPr>
            </a:br>
            <a:r>
              <a:rPr lang="en-US" altLang="en-US" sz="1600" dirty="0" smtClean="0">
                <a:latin typeface="Arial" panose="020B0604020202020204" pitchFamily="34" charset="0"/>
                <a:cs typeface="Arial" panose="020B0604020202020204" pitchFamily="34" charset="0"/>
              </a:rPr>
              <a:t>classification accuracy</a:t>
            </a:r>
            <a:endParaRPr lang="en-GB" altLang="en-US" sz="1600" dirty="0">
              <a:latin typeface="Arial" panose="020B0604020202020204" pitchFamily="34" charset="0"/>
              <a:cs typeface="Arial" panose="020B0604020202020204" pitchFamily="34" charset="0"/>
            </a:endParaRPr>
          </a:p>
        </p:txBody>
      </p:sp>
      <p:grpSp>
        <p:nvGrpSpPr>
          <p:cNvPr id="8" name="Group 7"/>
          <p:cNvGrpSpPr/>
          <p:nvPr/>
        </p:nvGrpSpPr>
        <p:grpSpPr>
          <a:xfrm>
            <a:off x="2339752" y="5048598"/>
            <a:ext cx="1008112" cy="832276"/>
            <a:chOff x="1516806" y="5048598"/>
            <a:chExt cx="1831058" cy="832276"/>
          </a:xfrm>
        </p:grpSpPr>
        <p:cxnSp>
          <p:nvCxnSpPr>
            <p:cNvPr id="4" name="Straight Connector 3"/>
            <p:cNvCxnSpPr/>
            <p:nvPr/>
          </p:nvCxnSpPr>
          <p:spPr>
            <a:xfrm>
              <a:off x="1516806" y="5048598"/>
              <a:ext cx="0" cy="832276"/>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1516806" y="5880874"/>
              <a:ext cx="1831058" cy="0"/>
            </a:xfrm>
            <a:prstGeom prst="line">
              <a:avLst/>
            </a:prstGeom>
            <a:ln w="19050">
              <a:tailEnd type="triangl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623570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7"/>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4" grpId="0" animBg="1"/>
      <p:bldP spid="15" grpId="0" animBg="1"/>
      <p:bldP spid="16" grpId="0" animBg="1"/>
      <p:bldP spid="16" grpId="1" animBg="1"/>
      <p:bldP spid="17" grpId="0" animBg="1"/>
      <p:bldP spid="17" grpId="1" animBg="1"/>
      <p:bldP spid="18" grpId="0" animBg="1"/>
      <p:bldP spid="1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r>
              <a:rPr lang="en-US" altLang="en-US" sz="3600" b="1" smtClean="0"/>
              <a:t>Statistical inference</a:t>
            </a:r>
            <a:endParaRPr lang="en-GB" altLang="en-US" sz="3600" b="1" smtClean="0"/>
          </a:p>
        </p:txBody>
      </p:sp>
      <p:pic>
        <p:nvPicPr>
          <p:cNvPr id="109572" name="Content Placeholder 5" descr="granada_inference_FFX_permutation_2.tif"/>
          <p:cNvPicPr>
            <a:picLocks noGrp="1" noChangeAspect="1"/>
          </p:cNvPicPr>
          <p:nvPr>
            <p:ph idx="1"/>
          </p:nvPr>
        </p:nvPicPr>
        <p:blipFill rotWithShape="1">
          <a:blip r:embed="rId3" cstate="screen">
            <a:extLst>
              <a:ext uri="{28A0092B-C50C-407E-A947-70E740481C1C}">
                <a14:useLocalDpi xmlns:a14="http://schemas.microsoft.com/office/drawing/2010/main"/>
              </a:ext>
            </a:extLst>
          </a:blip>
          <a:srcRect t="-2647" b="-1"/>
          <a:stretch/>
        </p:blipFill>
        <p:spPr>
          <a:xfrm>
            <a:off x="1979712" y="1446733"/>
            <a:ext cx="4468812" cy="3710459"/>
          </a:xfrm>
        </p:spPr>
      </p:pic>
      <p:sp>
        <p:nvSpPr>
          <p:cNvPr id="8" name="TextBox 7"/>
          <p:cNvSpPr txBox="1">
            <a:spLocks noChangeArrowheads="1"/>
          </p:cNvSpPr>
          <p:nvPr/>
        </p:nvSpPr>
        <p:spPr bwMode="auto">
          <a:xfrm>
            <a:off x="1979513" y="5445224"/>
            <a:ext cx="51847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dirty="0"/>
              <a:t>If the actual </a:t>
            </a:r>
            <a:r>
              <a:rPr lang="en-US" altLang="en-US" sz="2200" dirty="0" smtClean="0"/>
              <a:t>classification </a:t>
            </a:r>
            <a:r>
              <a:rPr lang="en-US" altLang="en-US" sz="2200" dirty="0"/>
              <a:t>accuracy falls within the top 5% (blue) of the null distribution </a:t>
            </a:r>
            <a:r>
              <a:rPr lang="en-US" altLang="en-US" sz="2200" dirty="0">
                <a:sym typeface="Wingdings" panose="05000000000000000000" pitchFamily="2" charset="2"/>
              </a:rPr>
              <a:t> </a:t>
            </a:r>
            <a:r>
              <a:rPr lang="en-US" altLang="en-US" sz="2200" dirty="0"/>
              <a:t>reject H</a:t>
            </a:r>
            <a:r>
              <a:rPr lang="en-US" altLang="en-US" sz="2200" baseline="-25000" dirty="0"/>
              <a:t>0</a:t>
            </a:r>
            <a:r>
              <a:rPr lang="en-US" altLang="en-US" sz="2200" dirty="0"/>
              <a:t>.</a:t>
            </a:r>
            <a:endParaRPr lang="en-GB" altLang="en-US" sz="2200" dirty="0"/>
          </a:p>
        </p:txBody>
      </p:sp>
      <p:sp>
        <p:nvSpPr>
          <p:cNvPr id="9" name="Oval 8"/>
          <p:cNvSpPr/>
          <p:nvPr/>
        </p:nvSpPr>
        <p:spPr>
          <a:xfrm>
            <a:off x="6227862" y="4796830"/>
            <a:ext cx="144462" cy="14446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 name="Title 1"/>
          <p:cNvSpPr txBox="1">
            <a:spLocks/>
          </p:cNvSpPr>
          <p:nvPr/>
        </p:nvSpPr>
        <p:spPr bwMode="auto">
          <a:xfrm>
            <a:off x="6616939" y="6406051"/>
            <a:ext cx="2419557" cy="3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2800" b="1" dirty="0" smtClean="0"/>
              <a:t>Back to demo!</a:t>
            </a:r>
            <a:endParaRPr lang="en-GB" altLang="en-US" sz="2800" b="1" dirty="0"/>
          </a:p>
        </p:txBody>
      </p:sp>
    </p:spTree>
    <p:extLst>
      <p:ext uri="{BB962C8B-B14F-4D97-AF65-F5344CB8AC3E}">
        <p14:creationId xmlns:p14="http://schemas.microsoft.com/office/powerpoint/2010/main" val="5053139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ctrTitle"/>
          </p:nvPr>
        </p:nvSpPr>
        <p:spPr>
          <a:xfrm>
            <a:off x="250825" y="188912"/>
            <a:ext cx="8569325" cy="6336431"/>
          </a:xfrm>
        </p:spPr>
        <p:txBody>
          <a:bodyPr/>
          <a:lstStyle/>
          <a:p>
            <a:pPr eaLnBrk="1" hangingPunct="1"/>
            <a:r>
              <a:rPr lang="en-GB" altLang="en-US" dirty="0" smtClean="0"/>
              <a:t>Lunch time!</a:t>
            </a:r>
          </a:p>
        </p:txBody>
      </p:sp>
    </p:spTree>
    <p:extLst>
      <p:ext uri="{BB962C8B-B14F-4D97-AF65-F5344CB8AC3E}">
        <p14:creationId xmlns:p14="http://schemas.microsoft.com/office/powerpoint/2010/main" val="2619039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618" name="Title 1"/>
          <p:cNvSpPr>
            <a:spLocks noGrp="1"/>
          </p:cNvSpPr>
          <p:nvPr>
            <p:ph type="title"/>
          </p:nvPr>
        </p:nvSpPr>
        <p:spPr>
          <a:xfrm>
            <a:off x="755576" y="0"/>
            <a:ext cx="7560840" cy="6858000"/>
          </a:xfrm>
        </p:spPr>
        <p:txBody>
          <a:bodyPr/>
          <a:lstStyle/>
          <a:p>
            <a:pPr eaLnBrk="1" hangingPunct="1"/>
            <a:r>
              <a:rPr lang="en-GB" altLang="en-US" sz="3600" b="1" dirty="0" smtClean="0"/>
              <a:t>A small selection of influential/interesting papers</a:t>
            </a:r>
            <a:br>
              <a:rPr lang="en-GB" altLang="en-US" sz="3600" b="1" dirty="0" smtClean="0"/>
            </a:br>
            <a:r>
              <a:rPr lang="en-GB" altLang="en-US" sz="3600" b="1" dirty="0" smtClean="0"/>
              <a:t>and example applications…</a:t>
            </a:r>
          </a:p>
        </p:txBody>
      </p:sp>
    </p:spTree>
    <p:extLst>
      <p:ext uri="{BB962C8B-B14F-4D97-AF65-F5344CB8AC3E}">
        <p14:creationId xmlns:p14="http://schemas.microsoft.com/office/powerpoint/2010/main" val="41544634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5288" y="409575"/>
            <a:ext cx="4105275"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3"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8313" y="2997200"/>
            <a:ext cx="4600575"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44"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448300" y="115888"/>
            <a:ext cx="2940050" cy="6538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6185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366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875213" y="166688"/>
            <a:ext cx="4305300" cy="2855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6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0338" y="188913"/>
            <a:ext cx="4916487" cy="86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68"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227763" y="4068763"/>
            <a:ext cx="2736850"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69" name="Picture 6"/>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68275" y="3213100"/>
            <a:ext cx="5399088" cy="86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3670" name="Picture 7"/>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503613" y="3859213"/>
            <a:ext cx="272415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50472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469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61938" y="2565400"/>
            <a:ext cx="3095625" cy="260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4691"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0825" y="333375"/>
            <a:ext cx="480060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4692"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635375" y="1412875"/>
            <a:ext cx="4244975" cy="453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9099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492500" y="1196975"/>
            <a:ext cx="5808663"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5" name="Content Placeholder 3" descr="ScreenShot321.bmp"/>
          <p:cNvPicPr>
            <a:picLocks noGrp="1" noChangeAspect="1"/>
          </p:cNvPicPr>
          <p:nvPr>
            <p:ph idx="1"/>
          </p:nvPr>
        </p:nvPicPr>
        <p:blipFill>
          <a:blip r:embed="rId3">
            <a:extLst>
              <a:ext uri="{28A0092B-C50C-407E-A947-70E740481C1C}">
                <a14:useLocalDpi xmlns:a14="http://schemas.microsoft.com/office/drawing/2010/main"/>
              </a:ext>
            </a:extLst>
          </a:blip>
          <a:srcRect/>
          <a:stretch>
            <a:fillRect/>
          </a:stretch>
        </p:blipFill>
        <p:spPr>
          <a:xfrm>
            <a:off x="0" y="31750"/>
            <a:ext cx="9145588" cy="1584325"/>
          </a:xfrm>
        </p:spPr>
      </p:pic>
      <p:pic>
        <p:nvPicPr>
          <p:cNvPr id="115716"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79388" y="1700213"/>
            <a:ext cx="404495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7"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356100" y="4076700"/>
            <a:ext cx="268287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1757460"/>
      </p:ext>
    </p:extLst>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6738"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79388" y="115888"/>
            <a:ext cx="7993062" cy="173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739"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79388" y="2017713"/>
            <a:ext cx="3519487" cy="2101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740"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771900" y="2017713"/>
            <a:ext cx="5372100" cy="177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741" name="Picture 5"/>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79388" y="4797425"/>
            <a:ext cx="3511550" cy="151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742" name="Picture 6"/>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924300" y="4079875"/>
            <a:ext cx="4905375"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5462252"/>
      </p:ext>
    </p:extLst>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628775" y="1916113"/>
            <a:ext cx="5967413" cy="4678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7763"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3850" y="384175"/>
            <a:ext cx="8496300" cy="1316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9581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8786" name="Picture 2" descr="fpsyg-04-00493-g001.jpg (454×49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371850" y="1052513"/>
            <a:ext cx="5140325" cy="55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7950" y="115888"/>
            <a:ext cx="6527800" cy="93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6981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981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23850" y="3030538"/>
            <a:ext cx="4629150" cy="363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9811"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387975" y="3198813"/>
            <a:ext cx="3514725" cy="338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9812" name="Picture 5"/>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79388" y="260350"/>
            <a:ext cx="5761037" cy="1192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9813" name="Picture 4"/>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56325" y="379413"/>
            <a:ext cx="2638425" cy="2544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29276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0835"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51520" y="3284984"/>
            <a:ext cx="87312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395536" y="332656"/>
            <a:ext cx="4073595" cy="2592288"/>
          </a:xfrm>
          <a:prstGeom prst="rect">
            <a:avLst/>
          </a:prstGeom>
        </p:spPr>
      </p:pic>
    </p:spTree>
    <p:extLst>
      <p:ext uri="{BB962C8B-B14F-4D97-AF65-F5344CB8AC3E}">
        <p14:creationId xmlns:p14="http://schemas.microsoft.com/office/powerpoint/2010/main" val="1789235159"/>
      </p:ext>
    </p:extLst>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2338"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492250" y="764704"/>
            <a:ext cx="765175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2340"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9672" y="2924944"/>
            <a:ext cx="532765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867400" y="6019800"/>
            <a:ext cx="1873250" cy="5318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2973937497"/>
      </p:ext>
    </p:extLst>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6" name="Title 1"/>
          <p:cNvSpPr>
            <a:spLocks noGrp="1"/>
          </p:cNvSpPr>
          <p:nvPr>
            <p:ph type="title"/>
          </p:nvPr>
        </p:nvSpPr>
        <p:spPr>
          <a:xfrm>
            <a:off x="457200" y="115888"/>
            <a:ext cx="8229600" cy="504825"/>
          </a:xfrm>
        </p:spPr>
        <p:txBody>
          <a:bodyPr/>
          <a:lstStyle/>
          <a:p>
            <a:pPr eaLnBrk="1" hangingPunct="1"/>
            <a:r>
              <a:rPr lang="en-US" altLang="en-US" sz="3600" b="1" dirty="0" smtClean="0"/>
              <a:t>References (a selective list)</a:t>
            </a:r>
            <a:endParaRPr lang="en-GB" altLang="en-US" sz="3600" dirty="0" smtClean="0"/>
          </a:p>
        </p:txBody>
      </p:sp>
      <p:sp>
        <p:nvSpPr>
          <p:cNvPr id="4" name="Content Placeholder 3"/>
          <p:cNvSpPr>
            <a:spLocks noGrp="1"/>
          </p:cNvSpPr>
          <p:nvPr>
            <p:ph idx="1"/>
          </p:nvPr>
        </p:nvSpPr>
        <p:spPr>
          <a:xfrm>
            <a:off x="457200" y="836613"/>
            <a:ext cx="8507413" cy="5472112"/>
          </a:xfrm>
        </p:spPr>
        <p:txBody>
          <a:bodyPr/>
          <a:lstStyle/>
          <a:p>
            <a:pPr>
              <a:buFont typeface="Arial" charset="0"/>
              <a:buNone/>
              <a:defRPr/>
            </a:pPr>
            <a:r>
              <a:rPr lang="en-US" sz="1900" b="1" dirty="0" smtClean="0"/>
              <a:t>Linear classification tutorials</a:t>
            </a:r>
            <a:endParaRPr lang="en-US" sz="1900" dirty="0" smtClean="0"/>
          </a:p>
          <a:p>
            <a:pPr>
              <a:buFont typeface="Arial" charset="0"/>
              <a:buNone/>
              <a:defRPr/>
            </a:pPr>
            <a:r>
              <a:rPr lang="en-US" sz="1900" dirty="0" smtClean="0"/>
              <a:t>Mur M et al. (2009) </a:t>
            </a:r>
            <a:r>
              <a:rPr lang="fr-FR" sz="1900" i="1" dirty="0" smtClean="0"/>
              <a:t>Soc </a:t>
            </a:r>
            <a:r>
              <a:rPr lang="fr-FR" sz="1900" i="1" dirty="0" err="1" smtClean="0"/>
              <a:t>Cogn</a:t>
            </a:r>
            <a:r>
              <a:rPr lang="fr-FR" sz="1900" i="1" dirty="0" smtClean="0"/>
              <a:t> Affect </a:t>
            </a:r>
            <a:r>
              <a:rPr lang="fr-FR" sz="1900" i="1" dirty="0" err="1" smtClean="0"/>
              <a:t>Neurosci</a:t>
            </a:r>
            <a:r>
              <a:rPr lang="fr-FR" sz="1900" dirty="0" smtClean="0"/>
              <a:t> </a:t>
            </a:r>
            <a:r>
              <a:rPr lang="fr-FR" sz="1900" i="1" dirty="0" smtClean="0"/>
              <a:t>4</a:t>
            </a:r>
            <a:r>
              <a:rPr lang="fr-FR" sz="1900" dirty="0" smtClean="0"/>
              <a:t>: 101-109.</a:t>
            </a:r>
            <a:r>
              <a:rPr lang="en-US" sz="1900" dirty="0" smtClean="0">
                <a:solidFill>
                  <a:schemeClr val="tx1">
                    <a:lumMod val="50000"/>
                    <a:lumOff val="50000"/>
                  </a:schemeClr>
                </a:solidFill>
              </a:rPr>
              <a:t> [conceptual introduction]</a:t>
            </a:r>
          </a:p>
          <a:p>
            <a:pPr>
              <a:buFont typeface="Arial" charset="0"/>
              <a:buNone/>
              <a:defRPr/>
            </a:pPr>
            <a:r>
              <a:rPr lang="en-US" sz="1900" dirty="0" smtClean="0"/>
              <a:t>Pereira F et al. (2009) </a:t>
            </a:r>
            <a:r>
              <a:rPr lang="en-US" sz="1900" i="1" dirty="0" err="1" smtClean="0"/>
              <a:t>Neuroimage</a:t>
            </a:r>
            <a:r>
              <a:rPr lang="en-US" sz="1900" i="1" dirty="0" smtClean="0"/>
              <a:t> 45</a:t>
            </a:r>
            <a:r>
              <a:rPr lang="en-US" sz="1900" dirty="0" smtClean="0"/>
              <a:t>(1 </a:t>
            </a:r>
            <a:r>
              <a:rPr lang="en-US" sz="1900" dirty="0" err="1" smtClean="0"/>
              <a:t>Suppl</a:t>
            </a:r>
            <a:r>
              <a:rPr lang="en-US" sz="1900" dirty="0" smtClean="0"/>
              <a:t>): S199-S209. </a:t>
            </a:r>
            <a:r>
              <a:rPr lang="en-US" sz="1900" dirty="0" smtClean="0">
                <a:solidFill>
                  <a:schemeClr val="tx1">
                    <a:lumMod val="50000"/>
                    <a:lumOff val="50000"/>
                  </a:schemeClr>
                </a:solidFill>
              </a:rPr>
              <a:t>[introduction]</a:t>
            </a:r>
            <a:endParaRPr lang="en-US" sz="1900" dirty="0" smtClean="0"/>
          </a:p>
          <a:p>
            <a:pPr>
              <a:buFont typeface="Arial" charset="0"/>
              <a:buNone/>
              <a:defRPr/>
            </a:pPr>
            <a:r>
              <a:rPr lang="en-US" sz="1900" dirty="0" smtClean="0"/>
              <a:t>Schreiber K, </a:t>
            </a:r>
            <a:r>
              <a:rPr lang="en-US" sz="1900" dirty="0" err="1" smtClean="0"/>
              <a:t>Krekelberg</a:t>
            </a:r>
            <a:r>
              <a:rPr lang="en-US" sz="1900" dirty="0" smtClean="0"/>
              <a:t> B (2013) </a:t>
            </a:r>
            <a:r>
              <a:rPr lang="en-US" sz="1900" i="1" dirty="0" err="1" smtClean="0"/>
              <a:t>PLoS</a:t>
            </a:r>
            <a:r>
              <a:rPr lang="en-US" sz="1900" i="1" dirty="0" smtClean="0"/>
              <a:t> ONE 8</a:t>
            </a:r>
            <a:r>
              <a:rPr lang="en-US" sz="1900" dirty="0" smtClean="0"/>
              <a:t>(7): e69328. </a:t>
            </a:r>
            <a:r>
              <a:rPr lang="en-US" sz="1900" dirty="0" smtClean="0">
                <a:solidFill>
                  <a:schemeClr val="tx1">
                    <a:lumMod val="50000"/>
                    <a:lumOff val="50000"/>
                  </a:schemeClr>
                </a:solidFill>
              </a:rPr>
              <a:t>[cautionary comments on statistical inference]</a:t>
            </a:r>
          </a:p>
          <a:p>
            <a:pPr>
              <a:buFont typeface="Arial" charset="0"/>
              <a:buNone/>
              <a:defRPr/>
            </a:pPr>
            <a:r>
              <a:rPr lang="en-US" sz="1900" dirty="0" err="1" smtClean="0"/>
              <a:t>Kriegeskorte</a:t>
            </a:r>
            <a:r>
              <a:rPr lang="en-US" sz="1900" dirty="0" smtClean="0"/>
              <a:t> N et al. (2006) PNAS 103(10): 3863-3868. </a:t>
            </a:r>
            <a:r>
              <a:rPr lang="en-US" sz="1900" dirty="0" smtClean="0">
                <a:solidFill>
                  <a:schemeClr val="tx1">
                    <a:lumMod val="50000"/>
                    <a:lumOff val="50000"/>
                  </a:schemeClr>
                </a:solidFill>
              </a:rPr>
              <a:t>[multivariate searchlight]</a:t>
            </a:r>
          </a:p>
          <a:p>
            <a:pPr>
              <a:buFont typeface="Arial" charset="0"/>
              <a:buNone/>
              <a:defRPr/>
            </a:pPr>
            <a:endParaRPr lang="en-US" sz="1900" dirty="0" smtClean="0"/>
          </a:p>
          <a:p>
            <a:pPr>
              <a:buFont typeface="Arial" charset="0"/>
              <a:buNone/>
              <a:defRPr/>
            </a:pPr>
            <a:r>
              <a:rPr lang="en-US" sz="1900" b="1" dirty="0" smtClean="0"/>
              <a:t>Linear classification reviews</a:t>
            </a:r>
          </a:p>
          <a:p>
            <a:pPr>
              <a:buFont typeface="Arial" charset="0"/>
              <a:buNone/>
              <a:defRPr/>
            </a:pPr>
            <a:r>
              <a:rPr lang="en-US" sz="1900" dirty="0" smtClean="0"/>
              <a:t>Norman KA et al. (2006) </a:t>
            </a:r>
            <a:r>
              <a:rPr lang="en-US" sz="1900" i="1" dirty="0" smtClean="0"/>
              <a:t>Trends </a:t>
            </a:r>
            <a:r>
              <a:rPr lang="en-US" sz="1900" i="1" dirty="0" err="1" smtClean="0"/>
              <a:t>Cogn</a:t>
            </a:r>
            <a:r>
              <a:rPr lang="en-US" sz="1900" i="1" dirty="0" smtClean="0"/>
              <a:t> </a:t>
            </a:r>
            <a:r>
              <a:rPr lang="en-US" sz="1900" i="1" dirty="0" err="1" smtClean="0"/>
              <a:t>Sci</a:t>
            </a:r>
            <a:r>
              <a:rPr lang="en-US" sz="1900" i="1" dirty="0" smtClean="0"/>
              <a:t> 10</a:t>
            </a:r>
            <a:r>
              <a:rPr lang="en-US" sz="1900" dirty="0" smtClean="0"/>
              <a:t>(9): 424-430.</a:t>
            </a:r>
          </a:p>
          <a:p>
            <a:pPr>
              <a:buFont typeface="Arial" charset="0"/>
              <a:buNone/>
              <a:defRPr/>
            </a:pPr>
            <a:r>
              <a:rPr lang="en-US" sz="1900" dirty="0" smtClean="0"/>
              <a:t>Haynes JD, Rees G (2006) </a:t>
            </a:r>
            <a:r>
              <a:rPr lang="en-US" sz="1900" i="1" dirty="0" smtClean="0"/>
              <a:t>Nat Rev </a:t>
            </a:r>
            <a:r>
              <a:rPr lang="en-US" sz="1900" i="1" dirty="0" err="1" smtClean="0"/>
              <a:t>Neurosci</a:t>
            </a:r>
            <a:r>
              <a:rPr lang="en-US" sz="1900" i="1" dirty="0" smtClean="0"/>
              <a:t> 7</a:t>
            </a:r>
            <a:r>
              <a:rPr lang="en-US" sz="1900" dirty="0" smtClean="0"/>
              <a:t>: 523-534.</a:t>
            </a:r>
          </a:p>
          <a:p>
            <a:pPr>
              <a:buFont typeface="Arial" charset="0"/>
              <a:buNone/>
              <a:defRPr/>
            </a:pPr>
            <a:endParaRPr lang="en-US" sz="1900" dirty="0" smtClean="0"/>
          </a:p>
          <a:p>
            <a:pPr>
              <a:buFont typeface="Arial" charset="0"/>
              <a:buNone/>
              <a:defRPr/>
            </a:pPr>
            <a:r>
              <a:rPr lang="en-US" sz="1900" b="1" dirty="0" smtClean="0"/>
              <a:t>Linear classification: a few example applications in neuroscience</a:t>
            </a:r>
          </a:p>
          <a:p>
            <a:pPr>
              <a:buFont typeface="Arial" charset="0"/>
              <a:buNone/>
              <a:defRPr/>
            </a:pPr>
            <a:r>
              <a:rPr lang="en-US" sz="1900" dirty="0" err="1" smtClean="0"/>
              <a:t>Kamitani</a:t>
            </a:r>
            <a:r>
              <a:rPr lang="en-US" sz="1900" dirty="0" smtClean="0"/>
              <a:t> Y, Tong F (2005) </a:t>
            </a:r>
            <a:r>
              <a:rPr lang="en-US" sz="1900" i="1" dirty="0" smtClean="0"/>
              <a:t>Nat </a:t>
            </a:r>
            <a:r>
              <a:rPr lang="en-US" sz="1900" i="1" dirty="0" err="1" smtClean="0"/>
              <a:t>Neurosci</a:t>
            </a:r>
            <a:r>
              <a:rPr lang="en-US" sz="1900" i="1" dirty="0" smtClean="0"/>
              <a:t> 8</a:t>
            </a:r>
            <a:r>
              <a:rPr lang="en-US" sz="1900" dirty="0" smtClean="0"/>
              <a:t>(5): 679-685.</a:t>
            </a:r>
            <a:r>
              <a:rPr lang="en-US" sz="1900" dirty="0" smtClean="0">
                <a:solidFill>
                  <a:schemeClr val="tx1">
                    <a:lumMod val="50000"/>
                    <a:lumOff val="50000"/>
                  </a:schemeClr>
                </a:solidFill>
              </a:rPr>
              <a:t> [vision: classify orientations]</a:t>
            </a:r>
          </a:p>
          <a:p>
            <a:pPr>
              <a:buFont typeface="Arial" charset="0"/>
              <a:buNone/>
              <a:defRPr/>
            </a:pPr>
            <a:r>
              <a:rPr lang="en-US" sz="1900" dirty="0" err="1" smtClean="0"/>
              <a:t>Formisano</a:t>
            </a:r>
            <a:r>
              <a:rPr lang="en-US" sz="1900" dirty="0" smtClean="0"/>
              <a:t> E et al. (2008</a:t>
            </a:r>
            <a:r>
              <a:rPr lang="en-US" sz="1900" i="1" dirty="0" smtClean="0"/>
              <a:t>) Science 322</a:t>
            </a:r>
            <a:r>
              <a:rPr lang="en-US" sz="1900" dirty="0" smtClean="0"/>
              <a:t>: 970-973. </a:t>
            </a:r>
            <a:r>
              <a:rPr lang="en-US" sz="1900" dirty="0" smtClean="0">
                <a:solidFill>
                  <a:schemeClr val="tx1">
                    <a:lumMod val="50000"/>
                    <a:lumOff val="50000"/>
                  </a:schemeClr>
                </a:solidFill>
              </a:rPr>
              <a:t>[voices: classify speakers &amp; vowels]</a:t>
            </a:r>
          </a:p>
          <a:p>
            <a:pPr>
              <a:buFont typeface="Arial" charset="0"/>
              <a:buNone/>
              <a:defRPr/>
            </a:pPr>
            <a:r>
              <a:rPr lang="en-US" sz="1900" dirty="0" smtClean="0"/>
              <a:t>Haynes JD et al. (2007) </a:t>
            </a:r>
            <a:r>
              <a:rPr lang="en-US" sz="1900" i="1" dirty="0" err="1" smtClean="0"/>
              <a:t>Curr</a:t>
            </a:r>
            <a:r>
              <a:rPr lang="en-US" sz="1900" i="1" dirty="0" smtClean="0"/>
              <a:t> </a:t>
            </a:r>
            <a:r>
              <a:rPr lang="en-US" sz="1900" i="1" dirty="0" err="1" smtClean="0"/>
              <a:t>Biol</a:t>
            </a:r>
            <a:r>
              <a:rPr lang="en-US" sz="1900" i="1" dirty="0" smtClean="0"/>
              <a:t> 17</a:t>
            </a:r>
            <a:r>
              <a:rPr lang="en-US" sz="1900" dirty="0" smtClean="0"/>
              <a:t>(4): 323-328. </a:t>
            </a:r>
            <a:r>
              <a:rPr lang="en-US" sz="1900" dirty="0" smtClean="0">
                <a:solidFill>
                  <a:schemeClr val="tx1">
                    <a:lumMod val="50000"/>
                    <a:lumOff val="50000"/>
                  </a:schemeClr>
                </a:solidFill>
              </a:rPr>
              <a:t>[cognitive control: task preparation]</a:t>
            </a:r>
          </a:p>
          <a:p>
            <a:pPr>
              <a:buFont typeface="Arial" charset="0"/>
              <a:buNone/>
              <a:defRPr/>
            </a:pPr>
            <a:r>
              <a:rPr lang="en-US" sz="1900" dirty="0" err="1" smtClean="0"/>
              <a:t>Emrich</a:t>
            </a:r>
            <a:r>
              <a:rPr lang="en-US" sz="1900" dirty="0" smtClean="0"/>
              <a:t> et al. </a:t>
            </a:r>
            <a:r>
              <a:rPr lang="en-US" sz="1900" dirty="0"/>
              <a:t>(2013) </a:t>
            </a:r>
            <a:r>
              <a:rPr lang="en-US" sz="1900" i="1" dirty="0" err="1"/>
              <a:t>J.Neurosci</a:t>
            </a:r>
            <a:r>
              <a:rPr lang="en-US" sz="1900" i="1" dirty="0" smtClean="0"/>
              <a:t>.</a:t>
            </a:r>
            <a:r>
              <a:rPr lang="en-US" sz="1900" dirty="0" smtClean="0">
                <a:solidFill>
                  <a:schemeClr val="tx1">
                    <a:lumMod val="50000"/>
                    <a:lumOff val="50000"/>
                  </a:schemeClr>
                </a:solidFill>
              </a:rPr>
              <a:t> </a:t>
            </a:r>
            <a:r>
              <a:rPr lang="en-US" sz="1900" dirty="0" smtClean="0"/>
              <a:t>33(15</a:t>
            </a:r>
            <a:r>
              <a:rPr lang="en-US" sz="1900" dirty="0"/>
              <a:t>):</a:t>
            </a:r>
            <a:r>
              <a:rPr lang="en-US" sz="1900" dirty="0" smtClean="0"/>
              <a:t>6516–6523 </a:t>
            </a:r>
            <a:r>
              <a:rPr lang="en-US" sz="1900" dirty="0">
                <a:solidFill>
                  <a:schemeClr val="tx1">
                    <a:lumMod val="50000"/>
                    <a:lumOff val="50000"/>
                  </a:schemeClr>
                </a:solidFill>
              </a:rPr>
              <a:t>[visual working memory]</a:t>
            </a:r>
          </a:p>
          <a:p>
            <a:pPr>
              <a:buFont typeface="Arial" charset="0"/>
              <a:buNone/>
              <a:defRPr/>
            </a:pPr>
            <a:endParaRPr lang="en-US" sz="1900" dirty="0" smtClean="0"/>
          </a:p>
          <a:p>
            <a:pPr>
              <a:buFont typeface="Arial" charset="0"/>
              <a:buNone/>
              <a:defRPr/>
            </a:pPr>
            <a:endParaRPr lang="en-US" sz="1900" dirty="0" smtClean="0"/>
          </a:p>
          <a:p>
            <a:pPr>
              <a:buFont typeface="Arial" charset="0"/>
              <a:buNone/>
              <a:defRPr/>
            </a:pPr>
            <a:endParaRPr lang="en-GB" sz="1900" dirty="0"/>
          </a:p>
        </p:txBody>
      </p:sp>
    </p:spTree>
    <p:extLst>
      <p:ext uri="{BB962C8B-B14F-4D97-AF65-F5344CB8AC3E}">
        <p14:creationId xmlns:p14="http://schemas.microsoft.com/office/powerpoint/2010/main" val="208790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954" name="Title 1"/>
          <p:cNvSpPr>
            <a:spLocks noGrp="1"/>
          </p:cNvSpPr>
          <p:nvPr>
            <p:ph type="title"/>
          </p:nvPr>
        </p:nvSpPr>
        <p:spPr>
          <a:xfrm>
            <a:off x="457200" y="0"/>
            <a:ext cx="8229600" cy="620713"/>
          </a:xfrm>
        </p:spPr>
        <p:txBody>
          <a:bodyPr/>
          <a:lstStyle/>
          <a:p>
            <a:pPr eaLnBrk="1" hangingPunct="1"/>
            <a:r>
              <a:rPr lang="en-US" altLang="en-US" sz="3200" b="1" smtClean="0"/>
              <a:t>References (a selective list)</a:t>
            </a:r>
            <a:endParaRPr lang="en-GB" altLang="en-US" sz="3200" smtClean="0"/>
          </a:p>
        </p:txBody>
      </p:sp>
      <p:sp>
        <p:nvSpPr>
          <p:cNvPr id="4" name="Content Placeholder 3"/>
          <p:cNvSpPr>
            <a:spLocks noGrp="1"/>
          </p:cNvSpPr>
          <p:nvPr>
            <p:ph idx="1"/>
          </p:nvPr>
        </p:nvSpPr>
        <p:spPr>
          <a:xfrm>
            <a:off x="439738" y="692697"/>
            <a:ext cx="8686800" cy="6165304"/>
          </a:xfrm>
        </p:spPr>
        <p:txBody>
          <a:bodyPr/>
          <a:lstStyle/>
          <a:p>
            <a:pPr>
              <a:buFont typeface="Arial" charset="0"/>
              <a:buNone/>
              <a:defRPr/>
            </a:pPr>
            <a:r>
              <a:rPr lang="en-US" sz="1800" b="1" dirty="0" smtClean="0"/>
              <a:t>Recursive feature elimination (RFE)</a:t>
            </a:r>
          </a:p>
          <a:p>
            <a:pPr>
              <a:buFont typeface="Arial" charset="0"/>
              <a:buNone/>
              <a:defRPr/>
            </a:pPr>
            <a:r>
              <a:rPr lang="en-US" sz="1800" dirty="0" smtClean="0"/>
              <a:t>De Martino F et al. (2008) </a:t>
            </a:r>
            <a:r>
              <a:rPr lang="en-US" sz="1800" i="1" dirty="0" err="1" smtClean="0"/>
              <a:t>Neuroimage</a:t>
            </a:r>
            <a:r>
              <a:rPr lang="en-US" sz="1800" i="1" dirty="0" smtClean="0"/>
              <a:t> 43</a:t>
            </a:r>
            <a:r>
              <a:rPr lang="en-US" sz="1800" dirty="0" smtClean="0"/>
              <a:t>: 44-58.  </a:t>
            </a:r>
          </a:p>
          <a:p>
            <a:pPr>
              <a:buFont typeface="Arial" charset="0"/>
              <a:buNone/>
              <a:defRPr/>
            </a:pPr>
            <a:endParaRPr lang="en-US" sz="1800" dirty="0" smtClean="0"/>
          </a:p>
          <a:p>
            <a:pPr>
              <a:buFont typeface="Arial" charset="0"/>
              <a:buNone/>
              <a:defRPr/>
            </a:pPr>
            <a:r>
              <a:rPr lang="en-US" sz="1800" b="1" dirty="0" smtClean="0"/>
              <a:t>Thoughts on choice of classifier &amp; preprocessing options</a:t>
            </a:r>
            <a:r>
              <a:rPr lang="en-US" sz="1800" dirty="0" smtClean="0"/>
              <a:t> </a:t>
            </a:r>
          </a:p>
          <a:p>
            <a:pPr>
              <a:buFont typeface="Arial" charset="0"/>
              <a:buNone/>
              <a:defRPr/>
            </a:pPr>
            <a:r>
              <a:rPr lang="en-US" sz="1800" dirty="0" err="1" smtClean="0"/>
              <a:t>Mourao</a:t>
            </a:r>
            <a:r>
              <a:rPr lang="en-US" sz="1800" dirty="0" smtClean="0"/>
              <a:t>-Miranda J et al. (2005) </a:t>
            </a:r>
            <a:r>
              <a:rPr lang="en-US" sz="1800" i="1" dirty="0" err="1" smtClean="0"/>
              <a:t>Neuroimage</a:t>
            </a:r>
            <a:r>
              <a:rPr lang="en-US" sz="1800" i="1" dirty="0" smtClean="0"/>
              <a:t> 28</a:t>
            </a:r>
            <a:r>
              <a:rPr lang="en-US" sz="1800" dirty="0" smtClean="0"/>
              <a:t>:  980-995. </a:t>
            </a:r>
            <a:r>
              <a:rPr lang="en-US" sz="1800" dirty="0" smtClean="0">
                <a:solidFill>
                  <a:schemeClr val="tx1">
                    <a:lumMod val="50000"/>
                    <a:lumOff val="50000"/>
                  </a:schemeClr>
                </a:solidFill>
              </a:rPr>
              <a:t>[SVM </a:t>
            </a:r>
            <a:r>
              <a:rPr lang="en-US" sz="1800" dirty="0" err="1" smtClean="0">
                <a:solidFill>
                  <a:schemeClr val="tx1">
                    <a:lumMod val="50000"/>
                    <a:lumOff val="50000"/>
                  </a:schemeClr>
                </a:solidFill>
              </a:rPr>
              <a:t>vs</a:t>
            </a:r>
            <a:r>
              <a:rPr lang="en-US" sz="1800" dirty="0" smtClean="0">
                <a:solidFill>
                  <a:schemeClr val="tx1">
                    <a:lumMod val="50000"/>
                    <a:lumOff val="50000"/>
                  </a:schemeClr>
                </a:solidFill>
              </a:rPr>
              <a:t> FLDA] </a:t>
            </a:r>
          </a:p>
          <a:p>
            <a:pPr>
              <a:buFont typeface="Arial" charset="0"/>
              <a:buNone/>
              <a:defRPr/>
            </a:pPr>
            <a:r>
              <a:rPr lang="en-US" sz="1800" dirty="0" err="1" smtClean="0"/>
              <a:t>Kriegeskorte</a:t>
            </a:r>
            <a:r>
              <a:rPr lang="en-US" sz="1800" dirty="0" smtClean="0"/>
              <a:t> et al. (2009) </a:t>
            </a:r>
            <a:r>
              <a:rPr lang="en-US" sz="1800" i="1" dirty="0" smtClean="0"/>
              <a:t>Nat </a:t>
            </a:r>
            <a:r>
              <a:rPr lang="en-US" sz="1800" i="1" dirty="0" err="1" smtClean="0"/>
              <a:t>Neurosci</a:t>
            </a:r>
            <a:r>
              <a:rPr lang="en-US" sz="1800" i="1" dirty="0" smtClean="0"/>
              <a:t> 12</a:t>
            </a:r>
            <a:r>
              <a:rPr lang="en-US" sz="1800" dirty="0" smtClean="0"/>
              <a:t>(5):  535-540. </a:t>
            </a:r>
            <a:r>
              <a:rPr lang="en-US" sz="1800" dirty="0" smtClean="0">
                <a:solidFill>
                  <a:schemeClr val="tx1">
                    <a:lumMod val="50000"/>
                    <a:lumOff val="50000"/>
                  </a:schemeClr>
                </a:solidFill>
              </a:rPr>
              <a:t>[how to prevent selection bias]</a:t>
            </a:r>
          </a:p>
          <a:p>
            <a:pPr>
              <a:buFont typeface="Arial" charset="0"/>
              <a:buNone/>
              <a:defRPr/>
            </a:pPr>
            <a:r>
              <a:rPr lang="en-US" sz="1800" dirty="0" err="1" smtClean="0"/>
              <a:t>Misaki</a:t>
            </a:r>
            <a:r>
              <a:rPr lang="en-US" sz="1800" dirty="0" smtClean="0"/>
              <a:t> M et al. (2010) </a:t>
            </a:r>
            <a:r>
              <a:rPr lang="en-US" sz="1800" i="1" dirty="0" err="1" smtClean="0"/>
              <a:t>Neuroimage</a:t>
            </a:r>
            <a:r>
              <a:rPr lang="en-US" sz="1800" i="1" dirty="0" smtClean="0"/>
              <a:t> 53</a:t>
            </a:r>
            <a:r>
              <a:rPr lang="en-US" sz="1800" dirty="0" smtClean="0"/>
              <a:t>: 103-118. </a:t>
            </a:r>
            <a:r>
              <a:rPr lang="en-US" sz="1800" dirty="0" smtClean="0">
                <a:solidFill>
                  <a:schemeClr val="tx1">
                    <a:lumMod val="50000"/>
                    <a:lumOff val="50000"/>
                  </a:schemeClr>
                </a:solidFill>
              </a:rPr>
              <a:t>[compares 6 different classifiers]</a:t>
            </a:r>
          </a:p>
          <a:p>
            <a:pPr>
              <a:buFont typeface="Arial" charset="0"/>
              <a:buNone/>
              <a:defRPr/>
            </a:pPr>
            <a:r>
              <a:rPr lang="en-US" sz="1800" dirty="0" err="1" smtClean="0"/>
              <a:t>Garrido</a:t>
            </a:r>
            <a:r>
              <a:rPr lang="en-US" sz="1800" dirty="0" smtClean="0"/>
              <a:t> L et al. (2013) </a:t>
            </a:r>
            <a:r>
              <a:rPr lang="en-US" sz="1800" i="1" dirty="0" smtClean="0"/>
              <a:t>Front </a:t>
            </a:r>
            <a:r>
              <a:rPr lang="en-US" sz="1800" i="1" dirty="0" err="1" smtClean="0"/>
              <a:t>Neurosci</a:t>
            </a:r>
            <a:r>
              <a:rPr lang="en-US" sz="1800" i="1" dirty="0" smtClean="0"/>
              <a:t> 7</a:t>
            </a:r>
            <a:r>
              <a:rPr lang="en-US" sz="1800" dirty="0" smtClean="0"/>
              <a:t>(174):  1-4. </a:t>
            </a:r>
            <a:r>
              <a:rPr lang="en-US" sz="1800" dirty="0" smtClean="0">
                <a:solidFill>
                  <a:schemeClr val="tx1">
                    <a:lumMod val="50000"/>
                    <a:lumOff val="50000"/>
                  </a:schemeClr>
                </a:solidFill>
              </a:rPr>
              <a:t>[subtract the mean pattern?]</a:t>
            </a:r>
          </a:p>
          <a:p>
            <a:pPr>
              <a:buFont typeface="Arial" charset="0"/>
              <a:buNone/>
              <a:defRPr/>
            </a:pPr>
            <a:endParaRPr lang="en-US" sz="1800" dirty="0" smtClean="0"/>
          </a:p>
          <a:p>
            <a:pPr>
              <a:buFont typeface="Arial" charset="0"/>
              <a:buNone/>
              <a:defRPr/>
            </a:pPr>
            <a:r>
              <a:rPr lang="en-US" sz="1800" b="1" dirty="0" smtClean="0"/>
              <a:t>Relationships between classification (decoding), encoding, and RSA</a:t>
            </a:r>
          </a:p>
          <a:p>
            <a:pPr>
              <a:buFont typeface="Arial" charset="0"/>
              <a:buNone/>
              <a:defRPr/>
            </a:pPr>
            <a:r>
              <a:rPr lang="en-US" sz="1800" dirty="0" err="1" smtClean="0"/>
              <a:t>Naselaris</a:t>
            </a:r>
            <a:r>
              <a:rPr lang="en-US" sz="1800" dirty="0" smtClean="0"/>
              <a:t> T et al. (2011) </a:t>
            </a:r>
            <a:r>
              <a:rPr lang="en-US" sz="1800" i="1" dirty="0" err="1" smtClean="0"/>
              <a:t>Neuroimage</a:t>
            </a:r>
            <a:r>
              <a:rPr lang="en-US" sz="1800" i="1" dirty="0" smtClean="0"/>
              <a:t> 56</a:t>
            </a:r>
            <a:r>
              <a:rPr lang="en-US" sz="1800" dirty="0" smtClean="0"/>
              <a:t>: 400-410.</a:t>
            </a:r>
          </a:p>
          <a:p>
            <a:pPr>
              <a:buFont typeface="Arial" charset="0"/>
              <a:buNone/>
              <a:defRPr/>
            </a:pPr>
            <a:r>
              <a:rPr lang="en-US" sz="1800" dirty="0" smtClean="0"/>
              <a:t>Kriegeskorte N (2011) </a:t>
            </a:r>
            <a:r>
              <a:rPr lang="en-US" sz="1800" i="1" dirty="0" err="1" smtClean="0"/>
              <a:t>Neuroimage</a:t>
            </a:r>
            <a:r>
              <a:rPr lang="en-US" sz="1800" i="1" dirty="0" smtClean="0"/>
              <a:t> 56</a:t>
            </a:r>
            <a:r>
              <a:rPr lang="en-US" sz="1800" dirty="0" smtClean="0"/>
              <a:t>: 411-421.</a:t>
            </a:r>
          </a:p>
          <a:p>
            <a:pPr>
              <a:buFont typeface="Arial" charset="0"/>
              <a:buNone/>
              <a:defRPr/>
            </a:pPr>
            <a:r>
              <a:rPr lang="en-US" sz="1800" dirty="0" err="1" smtClean="0"/>
              <a:t>Kriegeskorte</a:t>
            </a:r>
            <a:r>
              <a:rPr lang="en-US" sz="1800" dirty="0" smtClean="0"/>
              <a:t> &amp; Douglas (2019) </a:t>
            </a:r>
            <a:r>
              <a:rPr lang="en-US" sz="1800" i="1" dirty="0" err="1"/>
              <a:t>C</a:t>
            </a:r>
            <a:r>
              <a:rPr lang="en-US" sz="1800" i="1" dirty="0" err="1" smtClean="0"/>
              <a:t>urr</a:t>
            </a:r>
            <a:r>
              <a:rPr lang="en-US" sz="1800" i="1" dirty="0" smtClean="0"/>
              <a:t> </a:t>
            </a:r>
            <a:r>
              <a:rPr lang="en-US" sz="1800" i="1" dirty="0" err="1" smtClean="0"/>
              <a:t>Opin</a:t>
            </a:r>
            <a:r>
              <a:rPr lang="en-US" sz="1800" i="1" dirty="0" smtClean="0"/>
              <a:t> </a:t>
            </a:r>
            <a:r>
              <a:rPr lang="en-US" sz="1800" i="1" dirty="0" err="1" smtClean="0"/>
              <a:t>Neurobiol</a:t>
            </a:r>
            <a:r>
              <a:rPr lang="en-US" sz="1800" i="1" dirty="0" smtClean="0"/>
              <a:t> </a:t>
            </a:r>
            <a:r>
              <a:rPr lang="en-US" sz="1800" dirty="0" smtClean="0"/>
              <a:t>55:167-79</a:t>
            </a:r>
            <a:endParaRPr lang="en-US" sz="1800" dirty="0"/>
          </a:p>
          <a:p>
            <a:pPr>
              <a:buFont typeface="Arial" charset="0"/>
              <a:buNone/>
              <a:defRPr/>
            </a:pPr>
            <a:r>
              <a:rPr lang="en-US" sz="1800" b="1" dirty="0" smtClean="0"/>
              <a:t>Comparison with classical univariate approach </a:t>
            </a:r>
          </a:p>
          <a:p>
            <a:pPr>
              <a:buNone/>
              <a:defRPr/>
            </a:pPr>
            <a:r>
              <a:rPr lang="en-US" sz="1800" dirty="0" smtClean="0"/>
              <a:t>Hebart MN &amp; Baker CI (2018) </a:t>
            </a:r>
            <a:r>
              <a:rPr lang="en-US" sz="1800" i="1" dirty="0" err="1"/>
              <a:t>Neuroimage</a:t>
            </a:r>
            <a:r>
              <a:rPr lang="en-US" sz="1800" i="1" dirty="0"/>
              <a:t> </a:t>
            </a:r>
            <a:r>
              <a:rPr lang="en-US" sz="1800" i="1" dirty="0" smtClean="0"/>
              <a:t>180</a:t>
            </a:r>
            <a:r>
              <a:rPr lang="en-US" sz="1800" dirty="0" smtClean="0"/>
              <a:t>: 4-18.</a:t>
            </a:r>
          </a:p>
          <a:p>
            <a:pPr>
              <a:buFont typeface="Arial" charset="0"/>
              <a:buNone/>
              <a:defRPr/>
            </a:pPr>
            <a:endParaRPr lang="en-US" sz="1800" dirty="0"/>
          </a:p>
          <a:p>
            <a:pPr>
              <a:buFont typeface="Arial" charset="0"/>
              <a:buNone/>
              <a:defRPr/>
            </a:pPr>
            <a:r>
              <a:rPr lang="en-US" sz="1800" b="1" dirty="0"/>
              <a:t>Source of data for </a:t>
            </a:r>
            <a:r>
              <a:rPr lang="en-US" sz="1800" b="1" dirty="0" smtClean="0"/>
              <a:t>extra ‘hands </a:t>
            </a:r>
            <a:r>
              <a:rPr lang="en-US" sz="1800" b="1" dirty="0"/>
              <a:t>on’ </a:t>
            </a:r>
            <a:r>
              <a:rPr lang="en-US" sz="1800" b="1" dirty="0" smtClean="0"/>
              <a:t>example</a:t>
            </a:r>
            <a:endParaRPr lang="en-US" sz="1800" b="1" dirty="0"/>
          </a:p>
          <a:p>
            <a:pPr>
              <a:buFont typeface="Arial" charset="0"/>
              <a:buNone/>
              <a:defRPr/>
            </a:pPr>
            <a:r>
              <a:rPr lang="en-US" sz="1800" dirty="0" smtClean="0"/>
              <a:t>Mitchell &amp; Cusack (2016</a:t>
            </a:r>
            <a:r>
              <a:rPr lang="en-US" sz="1800" dirty="0"/>
              <a:t>) </a:t>
            </a:r>
            <a:r>
              <a:rPr lang="en-US" sz="1800" i="1" dirty="0"/>
              <a:t>Scientific Reports  </a:t>
            </a:r>
            <a:r>
              <a:rPr lang="en-US" sz="1800" dirty="0" smtClean="0"/>
              <a:t>6:20232; </a:t>
            </a:r>
            <a:r>
              <a:rPr lang="en-US" sz="1800" dirty="0"/>
              <a:t>DOI: 10.1038/srep20232</a:t>
            </a:r>
          </a:p>
          <a:p>
            <a:pPr>
              <a:buFont typeface="Arial" charset="0"/>
              <a:buNone/>
              <a:defRPr/>
            </a:pPr>
            <a:endParaRPr lang="en-US" sz="1800" dirty="0" smtClean="0"/>
          </a:p>
          <a:p>
            <a:pPr>
              <a:buFont typeface="Arial" charset="0"/>
              <a:buNone/>
              <a:defRPr/>
            </a:pPr>
            <a:endParaRPr lang="en-US" sz="1800" dirty="0" smtClean="0"/>
          </a:p>
          <a:p>
            <a:pPr>
              <a:buFont typeface="Arial" charset="0"/>
              <a:buNone/>
              <a:defRPr/>
            </a:pPr>
            <a:endParaRPr lang="en-US" sz="1800" dirty="0" smtClean="0"/>
          </a:p>
          <a:p>
            <a:pPr>
              <a:buFont typeface="Arial" charset="0"/>
              <a:buNone/>
              <a:defRPr/>
            </a:pPr>
            <a:endParaRPr lang="en-GB" sz="1800" dirty="0"/>
          </a:p>
        </p:txBody>
      </p:sp>
    </p:spTree>
    <p:extLst>
      <p:ext uri="{BB962C8B-B14F-4D97-AF65-F5344CB8AC3E}">
        <p14:creationId xmlns:p14="http://schemas.microsoft.com/office/powerpoint/2010/main" val="22037294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400244" y="1041348"/>
            <a:ext cx="6512074" cy="1653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0051" name="Picture 1"/>
          <p:cNvPicPr>
            <a:picLocks noChangeAspect="1" noChangeArrowheads="1"/>
          </p:cNvPicPr>
          <p:nvPr/>
        </p:nvPicPr>
        <p:blipFill>
          <a:blip r:embed="rId4" cstate="screen">
            <a:extLst>
              <a:ext uri="{28A0092B-C50C-407E-A947-70E740481C1C}">
                <a14:useLocalDpi xmlns:a14="http://schemas.microsoft.com/office/drawing/2010/main" val="0"/>
              </a:ext>
            </a:extLst>
          </a:blip>
          <a:srcRect t="71878" r="67398"/>
          <a:stretch>
            <a:fillRect/>
          </a:stretch>
        </p:blipFill>
        <p:spPr bwMode="auto">
          <a:xfrm>
            <a:off x="6426200" y="5373688"/>
            <a:ext cx="2373313"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385922" y="2880802"/>
            <a:ext cx="2604338" cy="230351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Picture 3"/>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026165" y="2882389"/>
            <a:ext cx="2620108" cy="230957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Picture 173"/>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945062" y="4688761"/>
            <a:ext cx="435422" cy="325682"/>
          </a:xfrm>
          <a:prstGeom prst="cloudCallout">
            <a:avLst/>
          </a:prstGeom>
          <a:noFill/>
          <a:ln w="12700" cap="flat" cmpd="sng" algn="ctr">
            <a:solidFill>
              <a:schemeClr val="bg1"/>
            </a:solidFill>
            <a:prstDash val="solid"/>
            <a:miter lim="800000"/>
            <a:headEnd/>
            <a:tailEnd/>
          </a:ln>
          <a:effectLst>
            <a:glow rad="101600">
              <a:schemeClr val="tx1">
                <a:alpha val="60000"/>
              </a:schemeClr>
            </a:glow>
          </a:effectLst>
        </p:spPr>
      </p:pic>
      <p:pic>
        <p:nvPicPr>
          <p:cNvPr id="59" name="Picture 171"/>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7623571" y="4676909"/>
            <a:ext cx="435422" cy="325682"/>
          </a:xfrm>
          <a:prstGeom prst="cloudCallout">
            <a:avLst/>
          </a:prstGeom>
          <a:noFill/>
          <a:ln w="12700" cap="flat" cmpd="sng" algn="ctr">
            <a:solidFill>
              <a:schemeClr val="bg1"/>
            </a:solidFill>
            <a:prstDash val="solid"/>
            <a:miter lim="800000"/>
            <a:headEnd/>
            <a:tailEnd/>
          </a:ln>
          <a:effectLst>
            <a:glow rad="101600">
              <a:schemeClr val="tx1">
                <a:alpha val="60000"/>
              </a:schemeClr>
            </a:glow>
          </a:effectLst>
        </p:spPr>
      </p:pic>
      <p:sp>
        <p:nvSpPr>
          <p:cNvPr id="130056" name="Rectangle 167"/>
          <p:cNvSpPr>
            <a:spLocks noChangeArrowheads="1"/>
          </p:cNvSpPr>
          <p:nvPr/>
        </p:nvSpPr>
        <p:spPr bwMode="auto">
          <a:xfrm>
            <a:off x="493713" y="5373688"/>
            <a:ext cx="580707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2100" dirty="0">
                <a:solidFill>
                  <a:srgbClr val="000000"/>
                </a:solidFill>
                <a:latin typeface="Arial" panose="020B0604020202020204" pitchFamily="34" charset="0"/>
                <a:cs typeface="Arial" panose="020B0604020202020204" pitchFamily="34" charset="0"/>
              </a:rPr>
              <a:t>200 objects, presented one each per condition</a:t>
            </a:r>
          </a:p>
          <a:p>
            <a:pPr eaLnBrk="1" hangingPunct="1">
              <a:spcBef>
                <a:spcPct val="0"/>
              </a:spcBef>
            </a:pPr>
            <a:r>
              <a:rPr lang="en-US" altLang="en-US" sz="2100" dirty="0">
                <a:solidFill>
                  <a:srgbClr val="000000"/>
                </a:solidFill>
                <a:latin typeface="Arial" panose="020B0604020202020204" pitchFamily="34" charset="0"/>
                <a:cs typeface="Arial" panose="020B0604020202020204" pitchFamily="34" charset="0"/>
              </a:rPr>
              <a:t>2 conditions (occasional cues to imagine knives or dolphin)</a:t>
            </a:r>
          </a:p>
          <a:p>
            <a:pPr eaLnBrk="1" hangingPunct="1">
              <a:spcBef>
                <a:spcPct val="0"/>
              </a:spcBef>
            </a:pPr>
            <a:r>
              <a:rPr lang="en-US" altLang="en-US" sz="2100" dirty="0" smtClean="0">
                <a:solidFill>
                  <a:srgbClr val="000000"/>
                </a:solidFill>
                <a:latin typeface="Arial" panose="020B0604020202020204" pitchFamily="34" charset="0"/>
                <a:cs typeface="Arial" panose="020B0604020202020204" pitchFamily="34" charset="0"/>
              </a:rPr>
              <a:t>Tutorial data </a:t>
            </a:r>
            <a:r>
              <a:rPr lang="en-US" altLang="en-US" sz="2100" dirty="0">
                <a:solidFill>
                  <a:srgbClr val="000000"/>
                </a:solidFill>
                <a:latin typeface="Arial" panose="020B0604020202020204" pitchFamily="34" charset="0"/>
                <a:cs typeface="Arial" panose="020B0604020202020204" pitchFamily="34" charset="0"/>
              </a:rPr>
              <a:t>combined over subjects</a:t>
            </a:r>
            <a:endParaRPr lang="en-US" altLang="en-US" sz="1800" dirty="0">
              <a:solidFill>
                <a:srgbClr val="000000"/>
              </a:solidFill>
              <a:latin typeface="Arial" panose="020B0604020202020204" pitchFamily="34" charset="0"/>
              <a:cs typeface="Arial" panose="020B0604020202020204" pitchFamily="34" charset="0"/>
            </a:endParaRPr>
          </a:p>
        </p:txBody>
      </p:sp>
      <p:sp>
        <p:nvSpPr>
          <p:cNvPr id="130057" name="Rectangle 1"/>
          <p:cNvSpPr>
            <a:spLocks noChangeArrowheads="1"/>
          </p:cNvSpPr>
          <p:nvPr/>
        </p:nvSpPr>
        <p:spPr bwMode="auto">
          <a:xfrm>
            <a:off x="1400244" y="2393620"/>
            <a:ext cx="4537075" cy="349250"/>
          </a:xfrm>
          <a:prstGeom prst="rect">
            <a:avLst/>
          </a:prstGeom>
          <a:solidFill>
            <a:schemeClr val="bg1"/>
          </a:solidFill>
          <a:ln>
            <a:noFill/>
          </a:ln>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None/>
            </a:pPr>
            <a:r>
              <a:rPr lang="en-US" altLang="en-US" sz="1600" dirty="0"/>
              <a:t>Mitchell &amp; Cusack (2016) </a:t>
            </a:r>
            <a:r>
              <a:rPr lang="en-US" altLang="en-US" sz="1600" i="1" dirty="0"/>
              <a:t>Scientific Reports  </a:t>
            </a:r>
            <a:r>
              <a:rPr lang="en-US" altLang="en-US" sz="1600" dirty="0"/>
              <a:t>6:20232</a:t>
            </a:r>
          </a:p>
        </p:txBody>
      </p:sp>
      <p:sp>
        <p:nvSpPr>
          <p:cNvPr id="10" name="Title 1"/>
          <p:cNvSpPr>
            <a:spLocks noGrp="1"/>
          </p:cNvSpPr>
          <p:nvPr>
            <p:ph type="title"/>
          </p:nvPr>
        </p:nvSpPr>
        <p:spPr>
          <a:xfrm>
            <a:off x="0" y="115888"/>
            <a:ext cx="9144000" cy="504825"/>
          </a:xfrm>
        </p:spPr>
        <p:txBody>
          <a:bodyPr/>
          <a:lstStyle/>
          <a:p>
            <a:pPr eaLnBrk="1" hangingPunct="1"/>
            <a:r>
              <a:rPr lang="en-US" altLang="en-US" sz="3600" b="1" dirty="0" smtClean="0"/>
              <a:t>Extra demo data if time?</a:t>
            </a:r>
            <a:endParaRPr lang="en-GB" altLang="en-US" sz="3600" b="1" dirty="0" smtClean="0"/>
          </a:p>
        </p:txBody>
      </p:sp>
    </p:spTree>
    <p:extLst>
      <p:ext uri="{BB962C8B-B14F-4D97-AF65-F5344CB8AC3E}">
        <p14:creationId xmlns:p14="http://schemas.microsoft.com/office/powerpoint/2010/main" val="1039117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6452</Words>
  <Application>Microsoft Office PowerPoint</Application>
  <PresentationFormat>On-screen Show (4:3)</PresentationFormat>
  <Paragraphs>855</Paragraphs>
  <Slides>76</Slides>
  <Notes>42</Notes>
  <HiddenSlides>22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Albertus Medium</vt:lpstr>
      <vt:lpstr>Arial</vt:lpstr>
      <vt:lpstr>Calibri</vt:lpstr>
      <vt:lpstr>Cambria Math</vt:lpstr>
      <vt:lpstr>Consolas</vt:lpstr>
      <vt:lpstr>Symbol</vt:lpstr>
      <vt:lpstr>Times New Roman</vt:lpstr>
      <vt:lpstr>Wingdings</vt:lpstr>
      <vt:lpstr>Office Theme</vt:lpstr>
      <vt:lpstr>An introduction to Multi-Variate Pattern Analysis (MVPA) in Python, using  scikit-learn &amp; nilearn and The RSA Toolbox</vt:lpstr>
      <vt:lpstr>PowerPoint Presentation</vt:lpstr>
      <vt:lpstr>PowerPoint Presentation</vt:lpstr>
      <vt:lpstr>PowerPoint Presentation</vt:lpstr>
      <vt:lpstr>Per voxel (univariate) General Linear Model (GLM)…</vt:lpstr>
      <vt:lpstr>Activation-based (univariate) analysis</vt:lpstr>
      <vt:lpstr>PowerPoint Presentation</vt:lpstr>
      <vt:lpstr>PowerPoint Presentation</vt:lpstr>
      <vt:lpstr>PowerPoint Presentation</vt:lpstr>
      <vt:lpstr>Play with SVMs…</vt:lpstr>
      <vt:lpstr>PowerPoint Presentation</vt:lpstr>
      <vt:lpstr>PowerPoint Presentation</vt:lpstr>
      <vt:lpstr>Many MVPA toolboxes are available…</vt:lpstr>
      <vt:lpstr>PowerPoint Presentation</vt:lpstr>
      <vt:lpstr>PowerPoint Presentation</vt:lpstr>
      <vt:lpstr>PowerPoint Presentation</vt:lpstr>
      <vt:lpstr>PowerPoint Presentation</vt:lpstr>
      <vt:lpstr>PowerPoint Presentation</vt:lpstr>
      <vt:lpstr>PowerPoint Presentation</vt:lpstr>
      <vt:lpstr>Basic “data set” structure:</vt:lpstr>
      <vt:lpstr>PowerPoint Presentation</vt:lpstr>
      <vt:lpstr>PowerPoint Presentation</vt:lpstr>
      <vt:lpstr>PowerPoint Presentation</vt:lpstr>
      <vt:lpstr>Boundary placement: some linear classifiers</vt:lpstr>
      <vt:lpstr>Which classifier is best?</vt:lpstr>
      <vt:lpstr>Here is the SVM classifier from before, fit to the training data It has made two mistakes Can we do better?</vt:lpstr>
      <vt:lpstr>PowerPoint Presentation</vt:lpstr>
      <vt:lpstr>Some non-linear classifiers</vt:lpstr>
      <vt:lpstr>In a sense we can do better... ...but can you see a problem?</vt:lpstr>
      <vt:lpstr>Each pattern = signal + noise</vt:lpstr>
      <vt:lpstr>Each pattern = signal + noise</vt:lpstr>
      <vt:lpstr>Each pattern = signal + noise</vt:lpstr>
      <vt:lpstr>Each pattern = signal + noise</vt:lpstr>
      <vt:lpstr>Each pattern = signal + noise</vt:lpstr>
      <vt:lpstr>Overfitting</vt:lpstr>
      <vt:lpstr>Overfitting &amp; cross-validation</vt:lpstr>
      <vt:lpstr>Performance measures</vt:lpstr>
      <vt:lpstr>Signal detection theory, and ROCs</vt:lpstr>
      <vt:lpstr>Data splitting/partitioning</vt:lpstr>
      <vt:lpstr>Data splitting/partitioning</vt:lpstr>
      <vt:lpstr>PowerPoint Presentation</vt:lpstr>
      <vt:lpstr>Some different ways to partition samples:</vt:lpstr>
      <vt:lpstr>Partitions that “cross-generalise”</vt:lpstr>
      <vt:lpstr>The RED exercise: No true pattern difference, but high classification performance</vt:lpstr>
      <vt:lpstr>Unbalanced samples</vt:lpstr>
      <vt:lpstr>The RED exercise - Unbalanced samples; no true signal</vt:lpstr>
      <vt:lpstr>The ORANGE exercise - Unbalanced samples; true signal</vt:lpstr>
      <vt:lpstr>The GREEN exercise – patterns with same mean, but different variance</vt:lpstr>
      <vt:lpstr>Summary of some related principles:</vt:lpstr>
      <vt:lpstr>PowerPoint Presentation</vt:lpstr>
      <vt:lpstr>PowerPoint Presentation</vt:lpstr>
      <vt:lpstr>Specific considerations for fMRI data</vt:lpstr>
      <vt:lpstr>With many features, we need to choose,     which of them we want to use</vt:lpstr>
      <vt:lpstr>PowerPoint Presentation</vt:lpstr>
      <vt:lpstr>Selecting voxels, continued</vt:lpstr>
      <vt:lpstr>Statistical inference</vt:lpstr>
      <vt:lpstr>Statistical inference</vt:lpstr>
      <vt:lpstr>Statistical inference</vt:lpstr>
      <vt:lpstr>Statistical inference</vt:lpstr>
      <vt:lpstr>Statistical inference</vt:lpstr>
      <vt:lpstr>Statistical inference</vt:lpstr>
      <vt:lpstr>Lunch time!</vt:lpstr>
      <vt:lpstr>A small selection of influential/interesting papers and example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(a selective list)</vt:lpstr>
      <vt:lpstr>References (a selective list)</vt:lpstr>
      <vt:lpstr>Extra demo data if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2017-05-22T11:52:36Z</dcterms:created>
  <dcterms:modified xsi:type="dcterms:W3CDTF">2026-09-23T09:20:35Z</dcterms:modified>
</cp:coreProperties>
</file>