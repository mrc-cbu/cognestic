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" ContentType="image/tif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97" r:id="rId2"/>
    <p:sldId id="383" r:id="rId3"/>
    <p:sldId id="384" r:id="rId4"/>
    <p:sldId id="487" r:id="rId5"/>
    <p:sldId id="458" r:id="rId6"/>
    <p:sldId id="468" r:id="rId7"/>
    <p:sldId id="469" r:id="rId8"/>
    <p:sldId id="470" r:id="rId9"/>
    <p:sldId id="471" r:id="rId10"/>
    <p:sldId id="475" r:id="rId11"/>
    <p:sldId id="472" r:id="rId12"/>
    <p:sldId id="473" r:id="rId13"/>
    <p:sldId id="474" r:id="rId14"/>
    <p:sldId id="481" r:id="rId15"/>
    <p:sldId id="486" r:id="rId16"/>
    <p:sldId id="485" r:id="rId17"/>
    <p:sldId id="447" r:id="rId18"/>
    <p:sldId id="452" r:id="rId19"/>
    <p:sldId id="449" r:id="rId20"/>
    <p:sldId id="476" r:id="rId21"/>
    <p:sldId id="477" r:id="rId22"/>
    <p:sldId id="478" r:id="rId23"/>
    <p:sldId id="479" r:id="rId24"/>
    <p:sldId id="480" r:id="rId25"/>
    <p:sldId id="462" r:id="rId26"/>
    <p:sldId id="429" r:id="rId27"/>
    <p:sldId id="457" r:id="rId28"/>
    <p:sldId id="398" r:id="rId29"/>
    <p:sldId id="430" r:id="rId30"/>
    <p:sldId id="388" r:id="rId31"/>
    <p:sldId id="389" r:id="rId32"/>
    <p:sldId id="394" r:id="rId33"/>
    <p:sldId id="395" r:id="rId34"/>
    <p:sldId id="453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432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92" autoAdjust="0"/>
    <p:restoredTop sz="94590" autoAdjust="0"/>
  </p:normalViewPr>
  <p:slideViewPr>
    <p:cSldViewPr snapToObjects="1" showGuides="1">
      <p:cViewPr varScale="1">
        <p:scale>
          <a:sx n="105" d="100"/>
          <a:sy n="105" d="100"/>
        </p:scale>
        <p:origin x="174" y="558"/>
      </p:cViewPr>
      <p:guideLst>
        <p:guide orient="horz" pos="2432"/>
        <p:guide pos="38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20D6A83-016E-4A9C-AF83-3568BA3C27F8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1B57401-0CA5-41EC-8CB3-3C28DA3856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367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4A46F58-BEF7-46AE-AA55-EA69A636886F}" type="slidenum">
              <a:rPr lang="en-GB" altLang="en-US" smtClean="0"/>
              <a:pPr eaLnBrk="1" hangingPunct="1"/>
              <a:t>2</a:t>
            </a:fld>
            <a:endParaRPr lang="en-GB" alt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CDFA3E18-EB95-4AE5-A271-0B12F9AEF279}" type="slidenum">
              <a:rPr lang="en-GB" altLang="en-US" smtClean="0"/>
              <a:pPr eaLnBrk="1" hangingPunct="1"/>
              <a:t>3</a:t>
            </a:fld>
            <a:endParaRPr lang="en-GB" altLang="en-US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1149184-CD2B-4DE5-B73E-FCBCC6B47F4B}" type="slidenum">
              <a:rPr lang="en-GB" altLang="en-US" smtClean="0"/>
              <a:pPr eaLnBrk="1" hangingPunct="1"/>
              <a:t>4</a:t>
            </a:fld>
            <a:endParaRPr lang="en-GB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904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F26464-037E-4544-B04A-3770F6C1C55D}" type="slidenum">
              <a:rPr lang="en-GB" altLang="en-US" smtClean="0"/>
              <a:pPr eaLnBrk="1" hangingPunct="1"/>
              <a:t>5</a:t>
            </a:fld>
            <a:endParaRPr lang="en-GB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552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F26464-037E-4544-B04A-3770F6C1C55D}" type="slidenum">
              <a:rPr lang="en-GB" altLang="en-US" smtClean="0"/>
              <a:pPr eaLnBrk="1" hangingPunct="1"/>
              <a:t>8</a:t>
            </a:fld>
            <a:endParaRPr lang="en-GB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904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F26464-037E-4544-B04A-3770F6C1C55D}" type="slidenum">
              <a:rPr lang="en-GB" altLang="en-US" smtClean="0"/>
              <a:pPr eaLnBrk="1" hangingPunct="1"/>
              <a:t>10</a:t>
            </a:fld>
            <a:endParaRPr lang="en-GB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411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F26464-037E-4544-B04A-3770F6C1C55D}" type="slidenum">
              <a:rPr lang="en-GB" altLang="en-US" smtClean="0"/>
              <a:pPr eaLnBrk="1" hangingPunct="1"/>
              <a:t>13</a:t>
            </a:fld>
            <a:endParaRPr lang="en-GB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8993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F26464-037E-4544-B04A-3770F6C1C55D}" type="slidenum">
              <a:rPr lang="en-GB" altLang="en-US" smtClean="0"/>
              <a:pPr eaLnBrk="1" hangingPunct="1"/>
              <a:t>14</a:t>
            </a:fld>
            <a:endParaRPr lang="en-GB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228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F26464-037E-4544-B04A-3770F6C1C55D}" type="slidenum">
              <a:rPr lang="en-GB" altLang="en-US" smtClean="0"/>
              <a:pPr eaLnBrk="1" hangingPunct="1"/>
              <a:t>15</a:t>
            </a:fld>
            <a:endParaRPr lang="en-GB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2859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F26464-037E-4544-B04A-3770F6C1C55D}" type="slidenum">
              <a:rPr lang="en-GB" altLang="en-US" smtClean="0"/>
              <a:pPr eaLnBrk="1" hangingPunct="1"/>
              <a:t>16</a:t>
            </a:fld>
            <a:endParaRPr lang="en-GB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4414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F26464-037E-4544-B04A-3770F6C1C55D}" type="slidenum">
              <a:rPr lang="en-GB" altLang="en-US" smtClean="0"/>
              <a:pPr eaLnBrk="1" hangingPunct="1"/>
              <a:t>20</a:t>
            </a:fld>
            <a:endParaRPr lang="en-GB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813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F26464-037E-4544-B04A-3770F6C1C55D}" type="slidenum">
              <a:rPr lang="en-GB" altLang="en-US" smtClean="0"/>
              <a:pPr eaLnBrk="1" hangingPunct="1"/>
              <a:t>21</a:t>
            </a:fld>
            <a:endParaRPr lang="en-GB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0948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312ADED-879B-4476-B1FC-20A9C5FFD56F}" type="slidenum">
              <a:rPr lang="en-GB" altLang="en-US" smtClean="0"/>
              <a:pPr eaLnBrk="1" hangingPunct="1"/>
              <a:t>25</a:t>
            </a:fld>
            <a:endParaRPr lang="en-GB" altLang="en-US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500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312ADED-879B-4476-B1FC-20A9C5FFD56F}" type="slidenum">
              <a:rPr lang="en-GB" altLang="en-US" smtClean="0"/>
              <a:pPr eaLnBrk="1" hangingPunct="1"/>
              <a:t>26</a:t>
            </a:fld>
            <a:endParaRPr lang="en-GB" altLang="en-US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1149184-CD2B-4DE5-B73E-FCBCC6B47F4B}" type="slidenum">
              <a:rPr lang="en-GB" altLang="en-US" smtClean="0"/>
              <a:pPr eaLnBrk="1" hangingPunct="1"/>
              <a:t>27</a:t>
            </a:fld>
            <a:endParaRPr lang="en-GB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44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CCA0625-AC95-4ED1-9906-B0154AD1C0F0}" type="slidenum">
              <a:rPr lang="en-GB" altLang="en-US" smtClean="0"/>
              <a:pPr eaLnBrk="1" hangingPunct="1"/>
              <a:t>28</a:t>
            </a:fld>
            <a:endParaRPr lang="en-GB" altLang="en-US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312ADED-879B-4476-B1FC-20A9C5FFD56F}" type="slidenum">
              <a:rPr lang="en-GB" altLang="en-US" smtClean="0"/>
              <a:pPr eaLnBrk="1" hangingPunct="1"/>
              <a:t>29</a:t>
            </a:fld>
            <a:endParaRPr lang="en-GB" altLang="en-US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0AF43B1-B7BE-4705-AB75-75BBC59F2F66}" type="slidenum">
              <a:rPr lang="en-GB" altLang="en-US" smtClean="0"/>
              <a:pPr eaLnBrk="1" hangingPunct="1"/>
              <a:t>30</a:t>
            </a:fld>
            <a:endParaRPr lang="en-GB" alt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CFF87BB-BDAF-42B7-AF2E-347D023EDEB8}" type="slidenum">
              <a:rPr lang="en-GB" altLang="en-US" smtClean="0"/>
              <a:pPr eaLnBrk="1" hangingPunct="1"/>
              <a:t>31</a:t>
            </a:fld>
            <a:endParaRPr lang="en-GB" altLang="en-US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50021A5-7CFF-4FA9-A53C-DA9F4D0FD2F6}" type="slidenum">
              <a:rPr lang="en-GB" altLang="en-US" smtClean="0"/>
              <a:pPr eaLnBrk="1" hangingPunct="1"/>
              <a:t>32</a:t>
            </a:fld>
            <a:endParaRPr lang="en-GB" altLang="en-US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9DB22AE-3006-48EF-A323-CE7130C2482A}" type="slidenum">
              <a:rPr lang="en-GB" altLang="en-US" smtClean="0"/>
              <a:pPr eaLnBrk="1" hangingPunct="1"/>
              <a:t>33</a:t>
            </a:fld>
            <a:endParaRPr lang="en-GB" altLang="en-US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FF26464-037E-4544-B04A-3770F6C1C55D}" type="slidenum">
              <a:rPr lang="en-GB" altLang="en-US" smtClean="0"/>
              <a:pPr eaLnBrk="1" hangingPunct="1"/>
              <a:t>34</a:t>
            </a:fld>
            <a:endParaRPr lang="en-GB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Notes Placeholder 4"/>
          <p:cNvSpPr>
            <a:spLocks noGrp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04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F254F-C429-4A09-9EA8-D047242F527B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68CB8-1E48-46E4-A2A5-8EB73528FB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684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58B04A-3D39-4242-888F-4E1EB138D529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EFF91-77E9-4402-BA99-C64F5731DA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45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7BC46-0F58-4AD6-84C7-26CC1BF5C75F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A0314-DB41-4CAD-9ACD-E5ABBC01C2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15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55828-AD04-4765-829F-C16D4893C9EE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9D9D10-387D-449F-B935-DD92648777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41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DD26E-52B4-4531-BD33-DD9D66ED0F19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4F90C-DB02-4A83-93A2-EA1C4CDAB9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55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AE7A6-1E2C-4E6B-8251-4B9D2C331086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B2E6C-F97E-4431-9D1D-1B5ECBD8DB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63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C8514-8DBD-4E4D-B98C-7D486A1F2C79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C3DDA-6AD7-422D-8846-D28AC7D207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262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4EFB15-ACD7-4612-A823-9235D45B3AA0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644B7-E7D3-47F5-8B42-4D3A3E71EC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619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0877A-F114-4EDA-A0F1-297FE1109D55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CDEC2-F458-42AC-8368-1D0F7D5411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13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CBEE7-38FA-4536-A349-5E327F297103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BC2098-9FCD-40A4-AD09-23D39B71C3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60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5888B-FE7B-43CA-9AF0-D6BAB2FDD402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C37C7-2F4E-4EC7-A2BB-A46947C674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593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GB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F8978-D55C-435C-BA22-F3634A2475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66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1275" y="63833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A946815-EF39-44AF-A4B7-37F2E531DA66}" type="datetimeFigureOut">
              <a:rPr lang="en-GB"/>
              <a:pPr>
                <a:defRPr/>
              </a:pPr>
              <a:t>28/07/2026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D516EF-0A70-4206-A9CD-86ACC2D853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pic>
        <p:nvPicPr>
          <p:cNvPr id="1028" name="Picture 14" descr="mrc_powerpoint_logo_warm_gray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597650"/>
            <a:ext cx="1728788" cy="15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4214"/>
            <a:ext cx="4392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54" r:id="rId7"/>
    <p:sldLayoutId id="2147483761" r:id="rId8"/>
    <p:sldLayoutId id="2147483762" r:id="rId9"/>
    <p:sldLayoutId id="2147483763" r:id="rId10"/>
    <p:sldLayoutId id="2147483764" r:id="rId11"/>
    <p:sldLayoutId id="2147483765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6.png"/><Relationship Id="rId7" Type="http://schemas.openxmlformats.org/officeDocument/2006/relationships/image" Target="../media/image8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sl.fmrib.ox.ac.uk/fsl/fslwiki/MELODIC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conn-toolbox.org/" TargetMode="External"/><Relationship Id="rId2" Type="http://schemas.openxmlformats.org/officeDocument/2006/relationships/hyperlink" Target="https://www.tnu.ethz.ch/en/software/tapas/documentations/physio-toolbo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neuroimage.2016.11.052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2003-024-07088-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tiff"/><Relationship Id="rId3" Type="http://schemas.openxmlformats.org/officeDocument/2006/relationships/image" Target="../media/image200.png"/><Relationship Id="rId7" Type="http://schemas.openxmlformats.org/officeDocument/2006/relationships/image" Target="../media/image22.tiff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tiff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4.tif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neuroimage.2020.117179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mc.ncbi.nlm.nih.gov/articles/PMC380758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/>
          <p:cNvSpPr txBox="1">
            <a:spLocks noChangeArrowheads="1"/>
          </p:cNvSpPr>
          <p:nvPr/>
        </p:nvSpPr>
        <p:spPr bwMode="auto">
          <a:xfrm>
            <a:off x="323850" y="1843088"/>
            <a:ext cx="8640763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200" dirty="0" smtClean="0">
                <a:solidFill>
                  <a:srgbClr val="9A044B"/>
                </a:solidFill>
                <a:latin typeface="Arial" charset="0"/>
              </a:rPr>
              <a:t>Functional/Effective Connectivity for fMRI</a:t>
            </a:r>
            <a:endParaRPr lang="en-GB" sz="3200" dirty="0">
              <a:solidFill>
                <a:srgbClr val="9A044B"/>
              </a:solidFill>
              <a:latin typeface="Arial" charset="0"/>
            </a:endParaRPr>
          </a:p>
          <a:p>
            <a:pPr eaLnBrk="1" hangingPunct="1">
              <a:spcBef>
                <a:spcPct val="50000"/>
              </a:spcBef>
            </a:pPr>
            <a:endParaRPr lang="en-US" sz="3200" dirty="0">
              <a:solidFill>
                <a:srgbClr val="9A044B"/>
              </a:solidFill>
              <a:latin typeface="Arial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2400" dirty="0" err="1">
                <a:latin typeface="Arial" charset="0"/>
              </a:rPr>
              <a:t>Rik</a:t>
            </a:r>
            <a:r>
              <a:rPr lang="en-US" sz="2400" dirty="0">
                <a:latin typeface="Arial" charset="0"/>
              </a:rPr>
              <a:t> Henson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 dirty="0">
                <a:latin typeface="Arial" charset="0"/>
              </a:rPr>
              <a:t>MRC CBU, Cambridge</a:t>
            </a:r>
          </a:p>
          <a:p>
            <a:pPr eaLnBrk="1" hangingPunct="1">
              <a:spcBef>
                <a:spcPct val="50000"/>
              </a:spcBef>
            </a:pPr>
            <a:endParaRPr lang="en-US" sz="2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7186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 descr="600px-Fig_b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48"/>
          <a:stretch>
            <a:fillRect/>
          </a:stretch>
        </p:blipFill>
        <p:spPr bwMode="auto">
          <a:xfrm>
            <a:off x="179388" y="937704"/>
            <a:ext cx="8964612" cy="25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-252536" y="80628"/>
            <a:ext cx="4788532" cy="1143000"/>
          </a:xfrm>
        </p:spPr>
        <p:txBody>
          <a:bodyPr/>
          <a:lstStyle/>
          <a:p>
            <a:pPr eaLnBrk="1" hangingPunct="1"/>
            <a:r>
              <a:rPr lang="de-CH" altLang="en-US" sz="2800" b="1" dirty="0" smtClean="0">
                <a:latin typeface="Arial Unicode MS" pitchFamily="34" charset="-128"/>
              </a:rPr>
              <a:t>Structural, functional &amp; effective connectivity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3426482"/>
            <a:ext cx="8686800" cy="299085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b="1" dirty="0" smtClean="0">
                <a:latin typeface="Arial Unicode MS" pitchFamily="34" charset="-128"/>
              </a:rPr>
              <a:t>Structural/anatomical connectivity</a:t>
            </a:r>
            <a:br>
              <a:rPr lang="de-CH" altLang="en-US" sz="2000" b="1" dirty="0" smtClean="0">
                <a:latin typeface="Arial Unicode MS" pitchFamily="34" charset="-128"/>
              </a:rPr>
            </a:br>
            <a:r>
              <a:rPr lang="de-CH" altLang="en-US" sz="2000" dirty="0" smtClean="0">
                <a:latin typeface="Arial Unicode MS" pitchFamily="34" charset="-128"/>
              </a:rPr>
              <a:t>= presence of axonal connections / white matter tracks (eg, DWI)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b="1" dirty="0" smtClean="0">
                <a:latin typeface="Arial Unicode MS" pitchFamily="34" charset="-128"/>
              </a:rPr>
              <a:t>Functional connectivity </a:t>
            </a:r>
            <a:br>
              <a:rPr lang="de-CH" altLang="en-US" sz="2000" b="1" dirty="0" smtClean="0">
                <a:latin typeface="Arial Unicode MS" pitchFamily="34" charset="-128"/>
              </a:rPr>
            </a:br>
            <a:r>
              <a:rPr lang="de-CH" altLang="en-US" sz="2000" dirty="0" smtClean="0">
                <a:latin typeface="Arial Unicode MS" pitchFamily="34" charset="-128"/>
              </a:rPr>
              <a:t>= statistical dependencies between regional time series (eg, ICA)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b="1" dirty="0" smtClean="0">
                <a:latin typeface="Arial Unicode MS" pitchFamily="34" charset="-128"/>
              </a:rPr>
              <a:t>Effective connectivity</a:t>
            </a:r>
            <a:br>
              <a:rPr lang="de-CH" altLang="en-US" sz="2000" b="1" dirty="0" smtClean="0">
                <a:latin typeface="Arial Unicode MS" pitchFamily="34" charset="-128"/>
              </a:rPr>
            </a:br>
            <a:r>
              <a:rPr lang="de-CH" altLang="en-US" sz="2000" dirty="0" smtClean="0">
                <a:latin typeface="Arial Unicode MS" pitchFamily="34" charset="-128"/>
              </a:rPr>
              <a:t>= causal (direct/directed) interactions between populations (eg, DCM) 	(based on explicit network models)</a:t>
            </a:r>
            <a:endParaRPr lang="en-US" altLang="en-US" sz="2000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764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4392612" cy="5149850"/>
          </a:xfrm>
          <a:solidFill>
            <a:schemeClr val="bg1"/>
          </a:solidFill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 smtClean="0">
                <a:latin typeface="Arial Unicode MS" pitchFamily="34" charset="-128"/>
              </a:rPr>
              <a:t> Tracing studies</a:t>
            </a: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</a:pPr>
            <a:endParaRPr lang="de-CH" altLang="en-US" dirty="0" smtClean="0">
              <a:latin typeface="Arial Unicode MS" pitchFamily="34" charset="-128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 smtClean="0">
                <a:latin typeface="Arial Unicode MS" pitchFamily="34" charset="-128"/>
              </a:rPr>
              <a:t> Tractography from DWI</a:t>
            </a: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</a:pPr>
            <a:endParaRPr lang="de-CH" altLang="en-US" sz="2000" dirty="0" smtClean="0">
              <a:latin typeface="Arial Unicode MS" pitchFamily="34" charset="-128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  <a:buFontTx/>
              <a:buNone/>
            </a:pPr>
            <a:r>
              <a:rPr lang="de-CH" altLang="en-US" sz="2000" dirty="0" smtClean="0">
                <a:latin typeface="Arial Unicode MS" pitchFamily="34" charset="-128"/>
              </a:rPr>
              <a:t>But functionally, effect of one neuron on another can depend on:</a:t>
            </a:r>
          </a:p>
          <a:p>
            <a:pPr lvl="1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1800" dirty="0" smtClean="0">
                <a:latin typeface="Arial Unicode MS" pitchFamily="34" charset="-128"/>
              </a:rPr>
              <a:t>Activity of a third (gating)</a:t>
            </a:r>
          </a:p>
          <a:p>
            <a:pPr lvl="1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1800" dirty="0" smtClean="0">
                <a:latin typeface="Arial Unicode MS" pitchFamily="34" charset="-128"/>
              </a:rPr>
              <a:t>Rapid changes in plasticity</a:t>
            </a:r>
            <a:endParaRPr lang="en-US" altLang="en-US" sz="1800" dirty="0" smtClean="0">
              <a:latin typeface="Arial Unicode MS" pitchFamily="34" charset="-128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4284600" cy="1143000"/>
          </a:xfrm>
        </p:spPr>
        <p:txBody>
          <a:bodyPr/>
          <a:lstStyle/>
          <a:p>
            <a:pPr eaLnBrk="1" hangingPunct="1"/>
            <a:r>
              <a:rPr lang="de-CH" altLang="en-US" sz="2800" b="1" dirty="0" smtClean="0">
                <a:latin typeface="Arial Unicode MS" pitchFamily="34" charset="-128"/>
              </a:rPr>
              <a:t>Structural vs Functional connectivity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  <p:pic>
        <p:nvPicPr>
          <p:cNvPr id="2970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08050"/>
            <a:ext cx="381635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66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4292600"/>
            <a:ext cx="180657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693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0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27038" y="1587500"/>
            <a:ext cx="4041774" cy="215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GB" altLang="en-US" sz="2000" dirty="0"/>
              <a:t>No connection between B and C,</a:t>
            </a:r>
          </a:p>
          <a:p>
            <a:r>
              <a:rPr lang="en-GB" altLang="en-US" sz="2000" dirty="0"/>
              <a:t>yet B and C correlated because of common input from A, </a:t>
            </a:r>
            <a:r>
              <a:rPr lang="en-GB" altLang="en-US" sz="2000" dirty="0" err="1"/>
              <a:t>eg</a:t>
            </a:r>
            <a:r>
              <a:rPr lang="en-GB" altLang="en-US" sz="2000" dirty="0"/>
              <a:t>:</a:t>
            </a:r>
          </a:p>
          <a:p>
            <a:endParaRPr lang="en-GB" altLang="en-US" sz="2000" dirty="0"/>
          </a:p>
          <a:p>
            <a:r>
              <a:rPr lang="en-US" altLang="en-US" dirty="0"/>
              <a:t>A = V1 fMRI time-series</a:t>
            </a:r>
          </a:p>
          <a:p>
            <a:r>
              <a:rPr lang="en-US" altLang="en-US" dirty="0"/>
              <a:t>B = 0.5 * A + e1</a:t>
            </a:r>
          </a:p>
          <a:p>
            <a:r>
              <a:rPr lang="en-US" altLang="en-US" dirty="0"/>
              <a:t>C = 0.3 * A + e2</a:t>
            </a: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6873875" y="1514475"/>
            <a:ext cx="23368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2000">
                <a:latin typeface="Arial Rounded MT Bold" pitchFamily="34" charset="0"/>
              </a:rPr>
              <a:t>Correlations: </a:t>
            </a:r>
          </a:p>
          <a:p>
            <a:endParaRPr lang="en-US" altLang="en-US" sz="2000">
              <a:latin typeface="Arial Rounded MT Bold" pitchFamily="34" charset="0"/>
            </a:endParaRPr>
          </a:p>
          <a:p>
            <a:r>
              <a:rPr lang="en-US" altLang="en-US" sz="2000">
                <a:latin typeface="Arial Rounded MT Bold" pitchFamily="34" charset="0"/>
              </a:rPr>
              <a:t>A	B	C</a:t>
            </a:r>
          </a:p>
          <a:p>
            <a:r>
              <a:rPr lang="en-US" altLang="en-US" sz="2000">
                <a:latin typeface="Arial Rounded MT Bold" pitchFamily="34" charset="0"/>
              </a:rPr>
              <a:t>1	</a:t>
            </a:r>
          </a:p>
          <a:p>
            <a:r>
              <a:rPr lang="en-US" altLang="en-US" sz="2000">
                <a:latin typeface="Arial Rounded MT Bold" pitchFamily="34" charset="0"/>
              </a:rPr>
              <a:t>0.49	1</a:t>
            </a:r>
          </a:p>
          <a:p>
            <a:r>
              <a:rPr lang="en-US" altLang="en-US" sz="2000">
                <a:latin typeface="Arial Rounded MT Bold" pitchFamily="34" charset="0"/>
              </a:rPr>
              <a:t>0.30	0.12	1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562225" y="3124200"/>
            <a:ext cx="3803650" cy="3111500"/>
            <a:chOff x="1614" y="1968"/>
            <a:chExt cx="2396" cy="1960"/>
          </a:xfrm>
        </p:grpSpPr>
        <p:grpSp>
          <p:nvGrpSpPr>
            <p:cNvPr id="30740" name="Group 8"/>
            <p:cNvGrpSpPr>
              <a:grpSpLocks/>
            </p:cNvGrpSpPr>
            <p:nvPr/>
          </p:nvGrpSpPr>
          <p:grpSpPr bwMode="auto">
            <a:xfrm>
              <a:off x="1614" y="2528"/>
              <a:ext cx="732" cy="560"/>
              <a:chOff x="128" y="2744"/>
              <a:chExt cx="760" cy="560"/>
            </a:xfrm>
          </p:grpSpPr>
          <p:sp>
            <p:nvSpPr>
              <p:cNvPr id="30751" name="Oval 9"/>
              <p:cNvSpPr>
                <a:spLocks noChangeArrowheads="1"/>
              </p:cNvSpPr>
              <p:nvPr/>
            </p:nvSpPr>
            <p:spPr bwMode="auto">
              <a:xfrm>
                <a:off x="128" y="2744"/>
                <a:ext cx="760" cy="560"/>
              </a:xfrm>
              <a:prstGeom prst="ellipse">
                <a:avLst/>
              </a:prstGeom>
              <a:gradFill rotWithShape="0">
                <a:gsLst>
                  <a:gs pos="0">
                    <a:srgbClr val="00DFCA"/>
                  </a:gs>
                  <a:gs pos="100000">
                    <a:srgbClr val="002D28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2" name="Rectangle 10"/>
              <p:cNvSpPr>
                <a:spLocks noChangeArrowheads="1"/>
              </p:cNvSpPr>
              <p:nvPr/>
            </p:nvSpPr>
            <p:spPr bwMode="auto">
              <a:xfrm>
                <a:off x="344" y="2819"/>
                <a:ext cx="318" cy="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r>
                  <a:rPr lang="en-US" altLang="en-US" sz="3600">
                    <a:solidFill>
                      <a:srgbClr val="FAFD00"/>
                    </a:solidFill>
                  </a:rPr>
                  <a:t>A</a:t>
                </a:r>
              </a:p>
            </p:txBody>
          </p:sp>
        </p:grpSp>
        <p:grpSp>
          <p:nvGrpSpPr>
            <p:cNvPr id="30741" name="Group 11"/>
            <p:cNvGrpSpPr>
              <a:grpSpLocks/>
            </p:cNvGrpSpPr>
            <p:nvPr/>
          </p:nvGrpSpPr>
          <p:grpSpPr bwMode="auto">
            <a:xfrm>
              <a:off x="3278" y="1968"/>
              <a:ext cx="732" cy="560"/>
              <a:chOff x="1856" y="2184"/>
              <a:chExt cx="760" cy="560"/>
            </a:xfrm>
          </p:grpSpPr>
          <p:sp>
            <p:nvSpPr>
              <p:cNvPr id="30749" name="Oval 12"/>
              <p:cNvSpPr>
                <a:spLocks noChangeArrowheads="1"/>
              </p:cNvSpPr>
              <p:nvPr/>
            </p:nvSpPr>
            <p:spPr bwMode="auto">
              <a:xfrm>
                <a:off x="1856" y="2184"/>
                <a:ext cx="760" cy="560"/>
              </a:xfrm>
              <a:prstGeom prst="ellipse">
                <a:avLst/>
              </a:prstGeom>
              <a:gradFill rotWithShape="0">
                <a:gsLst>
                  <a:gs pos="0">
                    <a:srgbClr val="00DFCA"/>
                  </a:gs>
                  <a:gs pos="100000">
                    <a:srgbClr val="002D28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0" name="Rectangle 13"/>
              <p:cNvSpPr>
                <a:spLocks noChangeArrowheads="1"/>
              </p:cNvSpPr>
              <p:nvPr/>
            </p:nvSpPr>
            <p:spPr bwMode="auto">
              <a:xfrm>
                <a:off x="2072" y="2259"/>
                <a:ext cx="318" cy="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r>
                  <a:rPr lang="en-US" altLang="en-US" sz="3600">
                    <a:solidFill>
                      <a:srgbClr val="FAFD00"/>
                    </a:solidFill>
                  </a:rPr>
                  <a:t>B</a:t>
                </a:r>
              </a:p>
            </p:txBody>
          </p:sp>
        </p:grpSp>
        <p:grpSp>
          <p:nvGrpSpPr>
            <p:cNvPr id="30742" name="Group 14"/>
            <p:cNvGrpSpPr>
              <a:grpSpLocks/>
            </p:cNvGrpSpPr>
            <p:nvPr/>
          </p:nvGrpSpPr>
          <p:grpSpPr bwMode="auto">
            <a:xfrm>
              <a:off x="2731" y="3368"/>
              <a:ext cx="732" cy="560"/>
              <a:chOff x="1288" y="3584"/>
              <a:chExt cx="760" cy="560"/>
            </a:xfrm>
          </p:grpSpPr>
          <p:sp>
            <p:nvSpPr>
              <p:cNvPr id="30747" name="Oval 15"/>
              <p:cNvSpPr>
                <a:spLocks noChangeArrowheads="1"/>
              </p:cNvSpPr>
              <p:nvPr/>
            </p:nvSpPr>
            <p:spPr bwMode="auto">
              <a:xfrm>
                <a:off x="1288" y="3584"/>
                <a:ext cx="760" cy="560"/>
              </a:xfrm>
              <a:prstGeom prst="ellipse">
                <a:avLst/>
              </a:prstGeom>
              <a:gradFill rotWithShape="0">
                <a:gsLst>
                  <a:gs pos="0">
                    <a:srgbClr val="00DFCA"/>
                  </a:gs>
                  <a:gs pos="100000">
                    <a:srgbClr val="002D28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48" name="Rectangle 16"/>
              <p:cNvSpPr>
                <a:spLocks noChangeArrowheads="1"/>
              </p:cNvSpPr>
              <p:nvPr/>
            </p:nvSpPr>
            <p:spPr bwMode="auto">
              <a:xfrm>
                <a:off x="1504" y="3659"/>
                <a:ext cx="338" cy="4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r>
                  <a:rPr lang="en-US" altLang="en-US" sz="3600">
                    <a:solidFill>
                      <a:srgbClr val="FAFD00"/>
                    </a:solidFill>
                  </a:rPr>
                  <a:t>C</a:t>
                </a:r>
              </a:p>
            </p:txBody>
          </p:sp>
        </p:grpSp>
        <p:sp>
          <p:nvSpPr>
            <p:cNvPr id="30743" name="Line 17"/>
            <p:cNvSpPr>
              <a:spLocks noChangeShapeType="1"/>
            </p:cNvSpPr>
            <p:nvPr/>
          </p:nvSpPr>
          <p:spPr bwMode="auto">
            <a:xfrm flipV="1">
              <a:off x="2454" y="2352"/>
              <a:ext cx="693" cy="296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44" name="Line 18"/>
            <p:cNvSpPr>
              <a:spLocks noChangeShapeType="1"/>
            </p:cNvSpPr>
            <p:nvPr/>
          </p:nvSpPr>
          <p:spPr bwMode="auto">
            <a:xfrm>
              <a:off x="2346" y="3048"/>
              <a:ext cx="331" cy="376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45" name="Rectangle 19"/>
            <p:cNvSpPr>
              <a:spLocks noChangeArrowheads="1"/>
            </p:cNvSpPr>
            <p:nvPr/>
          </p:nvSpPr>
          <p:spPr bwMode="auto">
            <a:xfrm>
              <a:off x="2426" y="2200"/>
              <a:ext cx="4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r>
                <a:rPr lang="en-US" altLang="en-US" sz="2000"/>
                <a:t>0.49</a:t>
              </a:r>
            </a:p>
          </p:txBody>
        </p:sp>
        <p:sp>
          <p:nvSpPr>
            <p:cNvPr id="30746" name="Rectangle 20"/>
            <p:cNvSpPr>
              <a:spLocks noChangeArrowheads="1"/>
            </p:cNvSpPr>
            <p:nvPr/>
          </p:nvSpPr>
          <p:spPr bwMode="auto">
            <a:xfrm>
              <a:off x="2010" y="3312"/>
              <a:ext cx="4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r>
                <a:rPr lang="en-US" altLang="en-US" sz="2000"/>
                <a:t>0.31</a:t>
              </a:r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5276852" y="4292600"/>
            <a:ext cx="1163638" cy="1039813"/>
            <a:chOff x="3324" y="2704"/>
            <a:chExt cx="733" cy="655"/>
          </a:xfrm>
        </p:grpSpPr>
        <p:sp>
          <p:nvSpPr>
            <p:cNvPr id="30737" name="Line 22"/>
            <p:cNvSpPr>
              <a:spLocks noChangeShapeType="1"/>
            </p:cNvSpPr>
            <p:nvPr/>
          </p:nvSpPr>
          <p:spPr bwMode="auto">
            <a:xfrm flipH="1">
              <a:off x="3324" y="2704"/>
              <a:ext cx="270" cy="520"/>
            </a:xfrm>
            <a:prstGeom prst="line">
              <a:avLst/>
            </a:prstGeom>
            <a:noFill/>
            <a:ln w="50800">
              <a:solidFill>
                <a:srgbClr val="C1CE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38" name="Rectangle 23"/>
            <p:cNvSpPr>
              <a:spLocks noChangeArrowheads="1"/>
            </p:cNvSpPr>
            <p:nvPr/>
          </p:nvSpPr>
          <p:spPr bwMode="auto">
            <a:xfrm>
              <a:off x="3443" y="2888"/>
              <a:ext cx="4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C1CEFF"/>
                  </a:solidFill>
                </a:rPr>
                <a:t>-0.02</a:t>
              </a:r>
            </a:p>
          </p:txBody>
        </p:sp>
        <p:sp>
          <p:nvSpPr>
            <p:cNvPr id="30739" name="Rectangle 24"/>
            <p:cNvSpPr>
              <a:spLocks noChangeArrowheads="1"/>
            </p:cNvSpPr>
            <p:nvPr/>
          </p:nvSpPr>
          <p:spPr bwMode="auto">
            <a:xfrm>
              <a:off x="3458" y="3186"/>
              <a:ext cx="59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r>
                <a:rPr lang="en-US" altLang="en-US" sz="1200">
                  <a:solidFill>
                    <a:srgbClr val="C1CEFF"/>
                  </a:solidFill>
                </a:rPr>
                <a:t></a:t>
              </a:r>
              <a:r>
                <a:rPr lang="en-US" altLang="en-US" sz="1200" baseline="30000">
                  <a:solidFill>
                    <a:srgbClr val="C1CEFF"/>
                  </a:solidFill>
                </a:rPr>
                <a:t>2</a:t>
              </a:r>
              <a:r>
                <a:rPr lang="en-US" altLang="en-US" sz="1200">
                  <a:solidFill>
                    <a:srgbClr val="C1CEFF"/>
                  </a:solidFill>
                </a:rPr>
                <a:t>=0.5, ns.</a:t>
              </a:r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5481638" y="3025775"/>
            <a:ext cx="3203575" cy="2759075"/>
            <a:chOff x="3453" y="1906"/>
            <a:chExt cx="2018" cy="1738"/>
          </a:xfrm>
        </p:grpSpPr>
        <p:sp>
          <p:nvSpPr>
            <p:cNvPr id="30733" name="Oval 26"/>
            <p:cNvSpPr>
              <a:spLocks noChangeArrowheads="1"/>
            </p:cNvSpPr>
            <p:nvPr/>
          </p:nvSpPr>
          <p:spPr bwMode="auto">
            <a:xfrm>
              <a:off x="4881" y="1906"/>
              <a:ext cx="478" cy="296"/>
            </a:xfrm>
            <a:prstGeom prst="ellips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734" name="Arc 27"/>
            <p:cNvSpPr>
              <a:spLocks/>
            </p:cNvSpPr>
            <p:nvPr/>
          </p:nvSpPr>
          <p:spPr bwMode="auto">
            <a:xfrm rot="-6660000">
              <a:off x="3447" y="2734"/>
              <a:ext cx="916" cy="904"/>
            </a:xfrm>
            <a:custGeom>
              <a:avLst/>
              <a:gdLst>
                <a:gd name="T0" fmla="*/ 2 w 21600"/>
                <a:gd name="T1" fmla="*/ 2 h 21600"/>
                <a:gd name="T2" fmla="*/ 0 w 21600"/>
                <a:gd name="T3" fmla="*/ 0 h 21600"/>
                <a:gd name="T4" fmla="*/ 2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9050">
              <a:solidFill>
                <a:schemeClr val="hlink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532" name="Rectangle 28"/>
            <p:cNvSpPr>
              <a:spLocks noChangeArrowheads="1"/>
            </p:cNvSpPr>
            <p:nvPr/>
          </p:nvSpPr>
          <p:spPr bwMode="auto">
            <a:xfrm>
              <a:off x="4093" y="2979"/>
              <a:ext cx="1378" cy="52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defRPr/>
              </a:pPr>
              <a:r>
                <a:rPr lang="en-US" sz="2400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Functional connectivity</a:t>
              </a:r>
            </a:p>
          </p:txBody>
        </p:sp>
        <p:sp>
          <p:nvSpPr>
            <p:cNvPr id="30736" name="Arc 29"/>
            <p:cNvSpPr>
              <a:spLocks/>
            </p:cNvSpPr>
            <p:nvPr/>
          </p:nvSpPr>
          <p:spPr bwMode="auto">
            <a:xfrm rot="-6660000">
              <a:off x="4593" y="2215"/>
              <a:ext cx="585" cy="1105"/>
            </a:xfrm>
            <a:custGeom>
              <a:avLst/>
              <a:gdLst>
                <a:gd name="T0" fmla="*/ 1 w 16088"/>
                <a:gd name="T1" fmla="*/ 3 h 21600"/>
                <a:gd name="T2" fmla="*/ 0 w 16088"/>
                <a:gd name="T3" fmla="*/ 2 h 21600"/>
                <a:gd name="T4" fmla="*/ 1 w 16088"/>
                <a:gd name="T5" fmla="*/ 0 h 21600"/>
                <a:gd name="T6" fmla="*/ 0 60000 65536"/>
                <a:gd name="T7" fmla="*/ 0 60000 65536"/>
                <a:gd name="T8" fmla="*/ 0 60000 65536"/>
                <a:gd name="T9" fmla="*/ 0 w 16088"/>
                <a:gd name="T10" fmla="*/ 0 h 21600"/>
                <a:gd name="T11" fmla="*/ 16088 w 160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088" h="21600" fill="none" extrusionOk="0">
                  <a:moveTo>
                    <a:pt x="16088" y="21600"/>
                  </a:moveTo>
                  <a:cubicBezTo>
                    <a:pt x="9947" y="21600"/>
                    <a:pt x="4097" y="18986"/>
                    <a:pt x="-1" y="14413"/>
                  </a:cubicBezTo>
                </a:path>
                <a:path w="16088" h="21600" stroke="0" extrusionOk="0">
                  <a:moveTo>
                    <a:pt x="16088" y="21600"/>
                  </a:moveTo>
                  <a:cubicBezTo>
                    <a:pt x="9947" y="21600"/>
                    <a:pt x="4097" y="18986"/>
                    <a:pt x="-1" y="14413"/>
                  </a:cubicBezTo>
                  <a:lnTo>
                    <a:pt x="16088" y="0"/>
                  </a:lnTo>
                  <a:close/>
                </a:path>
              </a:pathLst>
            </a:custGeom>
            <a:noFill/>
            <a:ln w="19050">
              <a:solidFill>
                <a:schemeClr val="hlink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520700" y="4108451"/>
            <a:ext cx="3705225" cy="2238376"/>
            <a:chOff x="328" y="2588"/>
            <a:chExt cx="2334" cy="1410"/>
          </a:xfrm>
        </p:grpSpPr>
        <p:sp>
          <p:nvSpPr>
            <p:cNvPr id="149535" name="Rectangle 31"/>
            <p:cNvSpPr>
              <a:spLocks noChangeArrowheads="1"/>
            </p:cNvSpPr>
            <p:nvPr/>
          </p:nvSpPr>
          <p:spPr bwMode="auto">
            <a:xfrm>
              <a:off x="328" y="3709"/>
              <a:ext cx="1926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sz="2400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Effective connectivity</a:t>
              </a:r>
            </a:p>
          </p:txBody>
        </p:sp>
        <p:sp>
          <p:nvSpPr>
            <p:cNvPr id="30731" name="Line 32"/>
            <p:cNvSpPr>
              <a:spLocks noChangeShapeType="1"/>
            </p:cNvSpPr>
            <p:nvPr/>
          </p:nvSpPr>
          <p:spPr bwMode="auto">
            <a:xfrm flipV="1">
              <a:off x="1663" y="2588"/>
              <a:ext cx="999" cy="1146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32" name="Line 33"/>
            <p:cNvSpPr>
              <a:spLocks noChangeShapeType="1"/>
            </p:cNvSpPr>
            <p:nvPr/>
          </p:nvSpPr>
          <p:spPr bwMode="auto">
            <a:xfrm flipV="1">
              <a:off x="1655" y="3236"/>
              <a:ext cx="861" cy="506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107504" y="116632"/>
            <a:ext cx="4284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de-CH" altLang="en-US" sz="2800" b="1" dirty="0" smtClean="0">
                <a:latin typeface="Arial Unicode MS" pitchFamily="34" charset="-128"/>
              </a:rPr>
              <a:t>Functional vs Effective connectivity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6365875" y="6120735"/>
            <a:ext cx="2707344" cy="705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GB" altLang="en-US" sz="2000" i="1" dirty="0" smtClean="0">
                <a:solidFill>
                  <a:srgbClr val="FF0000"/>
                </a:solidFill>
              </a:rPr>
              <a:t>Partial</a:t>
            </a:r>
            <a:r>
              <a:rPr lang="en-GB" altLang="en-US" sz="2000" dirty="0" smtClean="0">
                <a:solidFill>
                  <a:srgbClr val="FF0000"/>
                </a:solidFill>
              </a:rPr>
              <a:t> Correlation is approximate way</a:t>
            </a:r>
            <a:endParaRPr lang="en-US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32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9" grpId="0" autoUpdateAnimBg="0"/>
      <p:bldP spid="149510" grpId="0" autoUpdateAnimBg="0"/>
      <p:bldP spid="3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2611" y="1520788"/>
            <a:ext cx="8856663" cy="4896544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>
                <a:latin typeface="Arial Unicode MS" pitchFamily="34" charset="-128"/>
              </a:rPr>
              <a:t>State-based </a:t>
            </a:r>
            <a:r>
              <a:rPr lang="de-CH" altLang="en-US" sz="2000" dirty="0" smtClean="0">
                <a:latin typeface="Arial Unicode MS" pitchFamily="34" charset="-128"/>
              </a:rPr>
              <a:t>connectivity</a:t>
            </a:r>
          </a:p>
          <a:p>
            <a:pPr lvl="1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1600" dirty="0" smtClean="0">
                <a:latin typeface="Arial Unicode MS" pitchFamily="34" charset="-128"/>
              </a:rPr>
              <a:t>Time-Series Correlation (TSC), eg resting-state/movie, though </a:t>
            </a:r>
            <a:r>
              <a:rPr lang="de-CH" altLang="en-US" sz="1600" dirty="0">
                <a:latin typeface="Arial Unicode MS" pitchFamily="34" charset="-128"/>
              </a:rPr>
              <a:t>could be spurious, e.g, cardio/respiratory; motion confounds..., or just reflection of structural connectivity...)</a:t>
            </a:r>
          </a:p>
          <a:p>
            <a:pPr lvl="2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1600" dirty="0" smtClean="0">
                <a:latin typeface="Arial Unicode MS" pitchFamily="34" charset="-128"/>
              </a:rPr>
              <a:t>Multivariate </a:t>
            </a:r>
            <a:r>
              <a:rPr lang="de-CH" altLang="en-US" sz="1600" dirty="0">
                <a:latin typeface="Arial Unicode MS" pitchFamily="34" charset="-128"/>
              </a:rPr>
              <a:t>(</a:t>
            </a:r>
            <a:r>
              <a:rPr lang="de-CH" altLang="en-US" sz="1600" dirty="0" smtClean="0">
                <a:latin typeface="Arial Unicode MS" pitchFamily="34" charset="-128"/>
              </a:rPr>
              <a:t>whole-brain, voxel-wise) </a:t>
            </a:r>
            <a:r>
              <a:rPr lang="de-CH" altLang="en-US" sz="1600" dirty="0">
                <a:latin typeface="Arial Unicode MS" pitchFamily="34" charset="-128"/>
              </a:rPr>
              <a:t>decomposition, </a:t>
            </a:r>
            <a:r>
              <a:rPr lang="de-CH" altLang="en-US" sz="1600" dirty="0" smtClean="0">
                <a:latin typeface="Arial Unicode MS" pitchFamily="34" charset="-128"/>
              </a:rPr>
              <a:t>eg PCA, ICA</a:t>
            </a:r>
          </a:p>
          <a:p>
            <a:pPr lvl="2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1600" dirty="0" smtClean="0">
                <a:latin typeface="Arial Unicode MS" pitchFamily="34" charset="-128"/>
              </a:rPr>
              <a:t>ROI(parcel)-based</a:t>
            </a:r>
            <a:r>
              <a:rPr lang="de-CH" altLang="en-US" sz="1600" dirty="0">
                <a:latin typeface="Arial Unicode MS" pitchFamily="34" charset="-128"/>
              </a:rPr>
              <a:t>, pairwise connectivity </a:t>
            </a:r>
            <a:endParaRPr lang="de-CH" altLang="en-US" sz="1600" dirty="0" smtClean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 smtClean="0">
                <a:latin typeface="Arial Unicode MS" pitchFamily="34" charset="-128"/>
              </a:rPr>
              <a:t>Task-Based connectivity</a:t>
            </a:r>
            <a:endParaRPr lang="de-CH" altLang="en-US" sz="2000" dirty="0">
              <a:latin typeface="Arial Unicode MS" pitchFamily="34" charset="-128"/>
            </a:endParaRPr>
          </a:p>
          <a:p>
            <a:pPr lvl="1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1600" dirty="0" smtClean="0">
                <a:latin typeface="Arial Unicode MS" pitchFamily="34" charset="-128"/>
              </a:rPr>
              <a:t>Beta-Series Regression (BSR) or Psycho-Physiological Interactions (PPI)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 smtClean="0">
                <a:latin typeface="Arial Unicode MS" pitchFamily="34" charset="-128"/>
              </a:rPr>
              <a:t>Network-based models</a:t>
            </a:r>
            <a:endParaRPr lang="de-CH" altLang="en-US" sz="2000" dirty="0">
              <a:latin typeface="Arial Unicode MS" pitchFamily="34" charset="-128"/>
            </a:endParaRPr>
          </a:p>
          <a:p>
            <a:pPr lvl="1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1600" dirty="0" smtClean="0">
                <a:latin typeface="Arial Unicode MS" pitchFamily="34" charset="-128"/>
              </a:rPr>
              <a:t>Dynamic Causal Modelling (DCM) (effective connectivity; not covered in notebooks)</a:t>
            </a:r>
          </a:p>
          <a:p>
            <a:pPr lvl="1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1600" dirty="0" smtClean="0">
                <a:latin typeface="Arial Unicode MS" pitchFamily="34" charset="-128"/>
              </a:rPr>
              <a:t>Graph-theory </a:t>
            </a:r>
            <a:r>
              <a:rPr lang="de-CH" altLang="en-US" sz="1600" dirty="0">
                <a:latin typeface="Arial Unicode MS" pitchFamily="34" charset="-128"/>
              </a:rPr>
              <a:t>summaries of functional </a:t>
            </a:r>
            <a:r>
              <a:rPr lang="de-CH" altLang="en-US" sz="1600" dirty="0" smtClean="0">
                <a:latin typeface="Arial Unicode MS" pitchFamily="34" charset="-128"/>
              </a:rPr>
              <a:t>networks</a:t>
            </a:r>
            <a:endParaRPr lang="de-CH" altLang="en-US" sz="1600" dirty="0">
              <a:latin typeface="Arial Unicode MS" pitchFamily="34" charset="-128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4248472" cy="954360"/>
          </a:xfrm>
        </p:spPr>
        <p:txBody>
          <a:bodyPr/>
          <a:lstStyle/>
          <a:p>
            <a:pPr eaLnBrk="1" hangingPunct="1"/>
            <a:r>
              <a:rPr lang="de-CH" altLang="en-US" sz="3200" b="1" dirty="0" smtClean="0">
                <a:latin typeface="Arial Unicode MS" pitchFamily="34" charset="-128"/>
              </a:rPr>
              <a:t>Functional Connectivity</a:t>
            </a:r>
            <a:br>
              <a:rPr lang="de-CH" altLang="en-US" sz="3200" b="1" dirty="0" smtClean="0">
                <a:latin typeface="Arial Unicode MS" pitchFamily="34" charset="-128"/>
              </a:rPr>
            </a:br>
            <a:r>
              <a:rPr lang="de-CH" altLang="en-US" sz="3200" b="1" dirty="0" smtClean="0">
                <a:latin typeface="Arial Unicode MS" pitchFamily="34" charset="-128"/>
              </a:rPr>
              <a:t>(in fMRI)</a:t>
            </a:r>
            <a:endParaRPr lang="en-US" altLang="en-US" sz="32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971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/>
          <p:cNvSpPr txBox="1">
            <a:spLocks noChangeArrowheads="1"/>
          </p:cNvSpPr>
          <p:nvPr/>
        </p:nvSpPr>
        <p:spPr bwMode="auto">
          <a:xfrm>
            <a:off x="323849" y="65806"/>
            <a:ext cx="392411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3200" dirty="0" smtClean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Matrix Factorisation (</a:t>
            </a:r>
            <a:r>
              <a:rPr lang="en-GB" sz="3200" dirty="0" err="1" smtClean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eg</a:t>
            </a:r>
            <a:r>
              <a:rPr lang="en-GB" sz="3200" dirty="0" smtClean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, SVD)</a:t>
            </a:r>
            <a:endParaRPr lang="en-US" sz="3200" dirty="0">
              <a:solidFill>
                <a:srgbClr val="9A044B"/>
              </a:solidFill>
              <a:latin typeface="Arial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252752" y="6488668"/>
            <a:ext cx="60666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http://alexhwilliams.info/itsneuronalblog/2016/03/27/pca/</a:t>
            </a:r>
            <a:endParaRPr lang="en-US" dirty="0">
              <a:solidFill>
                <a:srgbClr val="9A044B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43" y="1120083"/>
            <a:ext cx="1923950" cy="288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793" y="1143024"/>
            <a:ext cx="2986813" cy="288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938" y="1143024"/>
            <a:ext cx="2286939" cy="28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1738" y="1149206"/>
            <a:ext cx="14401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Voxels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 rot="16200000">
            <a:off x="-479176" y="2544536"/>
            <a:ext cx="26196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Scans (Time/Subjects)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4139952" y="1116940"/>
            <a:ext cx="191318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Spatial “networks”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 rot="16200000">
            <a:off x="2033393" y="2549768"/>
            <a:ext cx="26196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Temporal “profile”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8560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225" y="3866193"/>
            <a:ext cx="4788384" cy="2624210"/>
          </a:xfrm>
          <a:prstGeom prst="rect">
            <a:avLst/>
          </a:prstGeom>
        </p:spPr>
      </p:pic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250532" y="6475309"/>
            <a:ext cx="60666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http://alexhwilliams.info/itsneuronalblog/2016/03/27/pca/</a:t>
            </a:r>
            <a:endParaRPr lang="en-US" dirty="0">
              <a:solidFill>
                <a:srgbClr val="9A044B"/>
              </a:solidFill>
              <a:latin typeface="Arial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43" y="1120083"/>
            <a:ext cx="1923950" cy="288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793" y="1143024"/>
            <a:ext cx="2986813" cy="2880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938" y="1143024"/>
            <a:ext cx="2286939" cy="288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298" y="1135732"/>
            <a:ext cx="3198639" cy="28010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861818" y="4753484"/>
                <a:ext cx="375424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GB" baseline="-25000" dirty="0" smtClean="0"/>
                  <a:t>1</a:t>
                </a:r>
                <a:endParaRPr lang="en-GB" baseline="-25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818" y="4753484"/>
                <a:ext cx="375424" cy="362984"/>
              </a:xfrm>
              <a:prstGeom prst="rect">
                <a:avLst/>
              </a:prstGeom>
              <a:blipFill>
                <a:blip r:embed="rId7"/>
                <a:stretch>
                  <a:fillRect b="-254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497500" y="4724392"/>
                <a:ext cx="375424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GB" baseline="-25000" dirty="0" smtClean="0"/>
                  <a:t>2</a:t>
                </a:r>
                <a:endParaRPr lang="en-GB" baseline="-25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500" y="4724392"/>
                <a:ext cx="375424" cy="362984"/>
              </a:xfrm>
              <a:prstGeom prst="rect">
                <a:avLst/>
              </a:prstGeom>
              <a:blipFill>
                <a:blip r:embed="rId8"/>
                <a:stretch>
                  <a:fillRect b="-2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133183" y="4724392"/>
                <a:ext cx="375424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GB" baseline="-25000" dirty="0" smtClean="0"/>
                  <a:t>3</a:t>
                </a:r>
                <a:endParaRPr lang="en-GB" baseline="-25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183" y="4724392"/>
                <a:ext cx="375424" cy="362984"/>
              </a:xfrm>
              <a:prstGeom prst="rect">
                <a:avLst/>
              </a:prstGeom>
              <a:blipFill>
                <a:blip r:embed="rId9"/>
                <a:stretch>
                  <a:fillRect b="-2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41738" y="1149206"/>
            <a:ext cx="14401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Voxels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-479176" y="2544536"/>
            <a:ext cx="26196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Scans (Time/Subjects)</a:t>
            </a:r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4139952" y="1116940"/>
            <a:ext cx="191318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Spatial “networks”</a:t>
            </a:r>
            <a:endParaRPr lang="en-GB" dirty="0"/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323849" y="65806"/>
            <a:ext cx="392411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3200" dirty="0" smtClean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Matrix Factorisation (</a:t>
            </a:r>
            <a:r>
              <a:rPr lang="en-GB" sz="3200" dirty="0" err="1" smtClean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eg</a:t>
            </a:r>
            <a:r>
              <a:rPr lang="en-GB" sz="3200" dirty="0" smtClean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, SVD)</a:t>
            </a:r>
            <a:endParaRPr lang="en-US" sz="3200" dirty="0">
              <a:solidFill>
                <a:srgbClr val="9A044B"/>
              </a:solidFill>
              <a:latin typeface="Arial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 rot="16200000">
            <a:off x="1970678" y="2549768"/>
            <a:ext cx="26196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Temporal “profile”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957264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0" y="1484784"/>
            <a:ext cx="8856663" cy="4790604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PCA is an SVD of a covariance matrix, assuming </a:t>
            </a:r>
            <a:r>
              <a:rPr lang="en-GB" altLang="en-US" sz="2000" i="1" dirty="0" smtClean="0">
                <a:latin typeface="Arial Unicode MS" pitchFamily="34" charset="-128"/>
              </a:rPr>
              <a:t>orthogonal</a:t>
            </a:r>
            <a:r>
              <a:rPr lang="en-GB" altLang="en-US" sz="2000" dirty="0" smtClean="0">
                <a:latin typeface="Arial Unicode MS" pitchFamily="34" charset="-128"/>
              </a:rPr>
              <a:t> components (</a:t>
            </a:r>
            <a:r>
              <a:rPr lang="en-GB" altLang="en-US" sz="2000" dirty="0" err="1" smtClean="0">
                <a:latin typeface="Arial Unicode MS" pitchFamily="34" charset="-128"/>
              </a:rPr>
              <a:t>e.g</a:t>
            </a:r>
            <a:r>
              <a:rPr lang="en-GB" altLang="en-US" sz="2000" dirty="0" smtClean="0">
                <a:latin typeface="Arial Unicode MS" pitchFamily="34" charset="-128"/>
              </a:rPr>
              <a:t>, spatial patterns across voxels)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ICA assumes components are </a:t>
            </a:r>
            <a:r>
              <a:rPr lang="en-GB" altLang="en-US" sz="2000" i="1" dirty="0" smtClean="0">
                <a:latin typeface="Arial Unicode MS" pitchFamily="34" charset="-128"/>
              </a:rPr>
              <a:t>independent</a:t>
            </a:r>
            <a:r>
              <a:rPr lang="en-GB" altLang="en-US" sz="2000" dirty="0" smtClean="0">
                <a:latin typeface="Arial Unicode MS" pitchFamily="34" charset="-128"/>
              </a:rPr>
              <a:t> (usually across space with fMRI, but could be across time) and has been shown more effective in (re)producing characteristic resting-state networks (RSNs), and separating signal from noise</a:t>
            </a: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  <a:buNone/>
            </a:pPr>
            <a:endParaRPr lang="en-GB" altLang="en-US" sz="2000" dirty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de-CH" altLang="en-US" sz="2000" dirty="0" smtClean="0">
              <a:latin typeface="Arial Unicode MS" pitchFamily="34" charset="-128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3646748" cy="954360"/>
          </a:xfrm>
        </p:spPr>
        <p:txBody>
          <a:bodyPr/>
          <a:lstStyle/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Multivariate fC</a:t>
            </a:r>
            <a:endParaRPr lang="en-US" altLang="en-US" sz="36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367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52636"/>
            <a:ext cx="3466728" cy="814102"/>
          </a:xfrm>
        </p:spPr>
        <p:txBody>
          <a:bodyPr/>
          <a:lstStyle/>
          <a:p>
            <a:r>
              <a:rPr lang="en-GB" dirty="0" smtClean="0"/>
              <a:t>PCA vs ICA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49" y="1639141"/>
            <a:ext cx="8183301" cy="357971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380878" y="4872049"/>
            <a:ext cx="0" cy="468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80878" y="5358357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0040" y="5376614"/>
            <a:ext cx="632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solidFill>
                  <a:srgbClr val="00B0F0"/>
                </a:solidFill>
              </a:rPr>
              <a:t>Voxel 1</a:t>
            </a:r>
            <a:endParaRPr lang="en-GB" sz="12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99715" y="4975053"/>
            <a:ext cx="632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solidFill>
                  <a:srgbClr val="00B0F0"/>
                </a:solidFill>
              </a:rPr>
              <a:t>Voxel 2</a:t>
            </a:r>
            <a:endParaRPr lang="en-GB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39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0" y="1484784"/>
            <a:ext cx="8856663" cy="4790604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PCA is an SVD of a covariance matrix, assuming </a:t>
            </a:r>
            <a:r>
              <a:rPr lang="en-GB" altLang="en-US" sz="2000" i="1" dirty="0" smtClean="0">
                <a:latin typeface="Arial Unicode MS" pitchFamily="34" charset="-128"/>
              </a:rPr>
              <a:t>orthogonal</a:t>
            </a:r>
            <a:r>
              <a:rPr lang="en-GB" altLang="en-US" sz="2000" dirty="0" smtClean="0">
                <a:latin typeface="Arial Unicode MS" pitchFamily="34" charset="-128"/>
              </a:rPr>
              <a:t> components (</a:t>
            </a:r>
            <a:r>
              <a:rPr lang="en-GB" altLang="en-US" sz="2000" dirty="0" err="1" smtClean="0">
                <a:latin typeface="Arial Unicode MS" pitchFamily="34" charset="-128"/>
              </a:rPr>
              <a:t>e.g</a:t>
            </a:r>
            <a:r>
              <a:rPr lang="en-GB" altLang="en-US" sz="2000" dirty="0" smtClean="0">
                <a:latin typeface="Arial Unicode MS" pitchFamily="34" charset="-128"/>
              </a:rPr>
              <a:t>, spatial patterns across voxels)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ICA assumes components are </a:t>
            </a:r>
            <a:r>
              <a:rPr lang="en-GB" altLang="en-US" sz="2000" i="1" dirty="0" smtClean="0">
                <a:latin typeface="Arial Unicode MS" pitchFamily="34" charset="-128"/>
              </a:rPr>
              <a:t>independent</a:t>
            </a:r>
            <a:r>
              <a:rPr lang="en-GB" altLang="en-US" sz="2000" dirty="0" smtClean="0">
                <a:latin typeface="Arial Unicode MS" pitchFamily="34" charset="-128"/>
              </a:rPr>
              <a:t> (usually across space with fMRI, but could be across time) and has been shown more effective in (re)producing characteristic resting-state networks (RSNs), and separating signal from noise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There are other types of matrix factorisation (e.g., non-negative, tensor-based) that have been tried, as well as various clustering techniques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Incidentally, while PCA is an SVD of the data covariance matrix (Y’Y), other techniques like CCA and PLS are SVDs of data-model covariance (Y’X)…</a:t>
            </a: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  <a:buNone/>
            </a:pPr>
            <a:endParaRPr lang="en-GB" altLang="en-US" sz="2000" dirty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de-CH" altLang="en-US" sz="2000" dirty="0" smtClean="0">
              <a:latin typeface="Arial Unicode MS" pitchFamily="34" charset="-128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3646748" cy="954360"/>
          </a:xfrm>
        </p:spPr>
        <p:txBody>
          <a:bodyPr/>
          <a:lstStyle/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Multivariate fC</a:t>
            </a:r>
            <a:endParaRPr lang="en-US" altLang="en-US" sz="36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506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uiExpand="1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636"/>
            <a:ext cx="3574740" cy="562074"/>
          </a:xfrm>
        </p:spPr>
        <p:txBody>
          <a:bodyPr/>
          <a:lstStyle/>
          <a:p>
            <a:r>
              <a:rPr lang="en-GB" dirty="0" smtClean="0"/>
              <a:t>ICA RSNs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81" y="816886"/>
            <a:ext cx="3960440" cy="5569606"/>
          </a:xfrm>
        </p:spPr>
      </p:pic>
      <p:sp>
        <p:nvSpPr>
          <p:cNvPr id="5" name="TextBox 4"/>
          <p:cNvSpPr txBox="1"/>
          <p:nvPr/>
        </p:nvSpPr>
        <p:spPr>
          <a:xfrm>
            <a:off x="3239852" y="6488668"/>
            <a:ext cx="1910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open.win.ox.ac.uk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89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636"/>
            <a:ext cx="3574740" cy="562074"/>
          </a:xfrm>
        </p:spPr>
        <p:txBody>
          <a:bodyPr/>
          <a:lstStyle/>
          <a:p>
            <a:r>
              <a:rPr lang="en-GB" dirty="0" smtClean="0"/>
              <a:t>ICA RSNs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81" y="816886"/>
            <a:ext cx="3960440" cy="5569606"/>
          </a:xfrm>
        </p:spPr>
      </p:pic>
      <p:sp>
        <p:nvSpPr>
          <p:cNvPr id="5" name="TextBox 4"/>
          <p:cNvSpPr txBox="1"/>
          <p:nvPr/>
        </p:nvSpPr>
        <p:spPr>
          <a:xfrm>
            <a:off x="3239852" y="6488668"/>
            <a:ext cx="1910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open.win.ox.ac.uk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138" y="2420888"/>
            <a:ext cx="6096000" cy="3514725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499992" y="1807726"/>
            <a:ext cx="4284476" cy="56207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sz="3200" dirty="0" smtClean="0"/>
              <a:t>ICA Noise components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27162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7524" y="1412776"/>
            <a:ext cx="8568505" cy="4790604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Group ICA, concatenate subjects or </a:t>
            </a:r>
            <a:r>
              <a:rPr lang="en-GB" altLang="en-US" sz="2000" dirty="0">
                <a:latin typeface="Arial Unicode MS" pitchFamily="34" charset="-128"/>
              </a:rPr>
              <a:t>used Tensor ICA (e.g., , </a:t>
            </a:r>
            <a:r>
              <a:rPr lang="en-GB" altLang="en-US" sz="2000" dirty="0" err="1">
                <a:latin typeface="Arial Unicode MS" pitchFamily="34" charset="-128"/>
              </a:rPr>
              <a:t>eg</a:t>
            </a:r>
            <a:r>
              <a:rPr lang="en-GB" altLang="en-US" sz="2000" dirty="0">
                <a:latin typeface="Arial Unicode MS" pitchFamily="34" charset="-128"/>
              </a:rPr>
              <a:t> MELODIC in </a:t>
            </a:r>
            <a:r>
              <a:rPr lang="en-GB" altLang="en-US" sz="2000" dirty="0" smtClean="0">
                <a:latin typeface="Arial Unicode MS" pitchFamily="34" charset="-128"/>
              </a:rPr>
              <a:t>FSL: </a:t>
            </a:r>
            <a:r>
              <a:rPr lang="en-GB" altLang="en-US" sz="2000" dirty="0" smtClean="0">
                <a:latin typeface="Arial Unicode MS" pitchFamily="34" charset="-128"/>
                <a:hlinkClick r:id="rId3"/>
              </a:rPr>
              <a:t>https</a:t>
            </a:r>
            <a:r>
              <a:rPr lang="en-GB" altLang="en-US" sz="2000" dirty="0">
                <a:latin typeface="Arial Unicode MS" pitchFamily="34" charset="-128"/>
                <a:hlinkClick r:id="rId3"/>
              </a:rPr>
              <a:t>://</a:t>
            </a:r>
            <a:r>
              <a:rPr lang="en-GB" altLang="en-US" sz="2000" dirty="0" smtClean="0">
                <a:latin typeface="Arial Unicode MS" pitchFamily="34" charset="-128"/>
                <a:hlinkClick r:id="rId3"/>
              </a:rPr>
              <a:t>fsl.fmrib.ox.ac.uk/fsl/fslwiki/MELODIC</a:t>
            </a:r>
            <a:r>
              <a:rPr lang="en-GB" altLang="en-US" sz="2000" dirty="0" smtClean="0">
                <a:latin typeface="Arial Unicode MS" pitchFamily="34" charset="-128"/>
              </a:rPr>
              <a:t>). 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What signal/noise – </a:t>
            </a:r>
            <a:r>
              <a:rPr lang="en-GB" altLang="en-US" sz="2000" dirty="0" err="1" smtClean="0">
                <a:latin typeface="Arial Unicode MS" pitchFamily="34" charset="-128"/>
              </a:rPr>
              <a:t>eg</a:t>
            </a:r>
            <a:r>
              <a:rPr lang="en-GB" altLang="en-US" sz="2000" dirty="0" smtClean="0">
                <a:latin typeface="Arial Unicode MS" pitchFamily="34" charset="-128"/>
              </a:rPr>
              <a:t> FSL’s “FIX”, trained to separate signal and noise (or use multi-echo EPI and remove ICs that not linearly dependent on TE)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For resting-state, temporal ICs are arbitrary; for subjects performing same task, can correlate the temporal ICs with predicted </a:t>
            </a:r>
            <a:r>
              <a:rPr lang="en-GB" altLang="en-US" sz="2000" dirty="0" err="1" smtClean="0">
                <a:latin typeface="Arial Unicode MS" pitchFamily="34" charset="-128"/>
              </a:rPr>
              <a:t>regressors</a:t>
            </a:r>
            <a:r>
              <a:rPr lang="en-GB" altLang="en-US" sz="2000" dirty="0" smtClean="0">
                <a:latin typeface="Arial Unicode MS" pitchFamily="34" charset="-128"/>
              </a:rPr>
              <a:t> from design matrix (to get network-level maps)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For some very stimulating tasks like movie-watching (assumed to activate most of brain), one can correlate the </a:t>
            </a:r>
            <a:r>
              <a:rPr lang="en-GB" altLang="en-US" sz="2000" dirty="0" err="1" smtClean="0">
                <a:latin typeface="Arial Unicode MS" pitchFamily="34" charset="-128"/>
              </a:rPr>
              <a:t>timeseries</a:t>
            </a:r>
            <a:r>
              <a:rPr lang="en-GB" altLang="en-US" sz="2000" dirty="0" smtClean="0">
                <a:latin typeface="Arial Unicode MS" pitchFamily="34" charset="-128"/>
              </a:rPr>
              <a:t> across subjects for “inter-subject correlation” (ISC), or even “functional normalisation” of brains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en-GB" altLang="en-US" sz="2000" dirty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de-CH" altLang="en-US" sz="2000" dirty="0" smtClean="0">
              <a:latin typeface="Arial Unicode MS" pitchFamily="34" charset="-128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3502732" cy="954360"/>
          </a:xfrm>
        </p:spPr>
        <p:txBody>
          <a:bodyPr/>
          <a:lstStyle/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Multivariate fC</a:t>
            </a:r>
            <a:endParaRPr lang="en-US" altLang="en-US" sz="36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43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500" y="1088740"/>
            <a:ext cx="8856663" cy="828092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Rather than using a multivariate technique across all voxels, we can calculate pairwise </a:t>
            </a:r>
            <a:r>
              <a:rPr lang="en-GB" altLang="en-US" sz="2000" dirty="0" err="1" smtClean="0">
                <a:latin typeface="Arial Unicode MS" pitchFamily="34" charset="-128"/>
              </a:rPr>
              <a:t>fC</a:t>
            </a:r>
            <a:r>
              <a:rPr lang="en-GB" altLang="en-US" sz="2000" dirty="0" smtClean="0">
                <a:latin typeface="Arial Unicode MS" pitchFamily="34" charset="-128"/>
              </a:rPr>
              <a:t> between every pair of voxels or ROIs…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Such as from a “seed” to rest of brain:</a:t>
            </a: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  <a:buNone/>
            </a:pPr>
            <a:endParaRPr lang="en-GB" altLang="en-US" sz="2000" dirty="0" smtClean="0">
              <a:latin typeface="Arial Unicode MS" pitchFamily="34" charset="-128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215516" y="124053"/>
            <a:ext cx="4176464" cy="954360"/>
          </a:xfrm>
        </p:spPr>
        <p:txBody>
          <a:bodyPr/>
          <a:lstStyle/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ROI-based fC</a:t>
            </a:r>
            <a:endParaRPr lang="en-US" altLang="en-US" sz="3600" b="1" dirty="0" smtClean="0">
              <a:latin typeface="Arial Unicode MS" pitchFamily="34" charset="-128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528900"/>
            <a:ext cx="7013279" cy="43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7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500" y="1088740"/>
            <a:ext cx="8856663" cy="828092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Rather than using a multivariate technique across all voxels, we can calculate pairwise </a:t>
            </a:r>
            <a:r>
              <a:rPr lang="en-GB" altLang="en-US" sz="2000" dirty="0" err="1" smtClean="0">
                <a:latin typeface="Arial Unicode MS" pitchFamily="34" charset="-128"/>
              </a:rPr>
              <a:t>fC</a:t>
            </a:r>
            <a:r>
              <a:rPr lang="en-GB" altLang="en-US" sz="2000" dirty="0" smtClean="0">
                <a:latin typeface="Arial Unicode MS" pitchFamily="34" charset="-128"/>
              </a:rPr>
              <a:t> between every pair of voxels or ROIs…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Or between every pair of ROIs in an Atlas, to construct a “connectome”:</a:t>
            </a: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  <a:buNone/>
            </a:pPr>
            <a:endParaRPr lang="en-GB" altLang="en-US" sz="2000" dirty="0" smtClean="0">
              <a:latin typeface="Arial Unicode MS" pitchFamily="34" charset="-128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215516" y="124053"/>
            <a:ext cx="4176464" cy="954360"/>
          </a:xfrm>
        </p:spPr>
        <p:txBody>
          <a:bodyPr/>
          <a:lstStyle/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ROI-based fC</a:t>
            </a:r>
            <a:endParaRPr lang="en-US" altLang="en-US" sz="3600" b="1" dirty="0" smtClean="0">
              <a:latin typeface="Arial Unicode MS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79" y="3068960"/>
            <a:ext cx="8582503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uiExpand="1" build="p" bldLvl="5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500" y="1088740"/>
            <a:ext cx="8856663" cy="828092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Rather than using a multivariate technique across all voxels, we can calculate pairwise </a:t>
            </a:r>
            <a:r>
              <a:rPr lang="en-GB" altLang="en-US" sz="2000" dirty="0" err="1" smtClean="0">
                <a:latin typeface="Arial Unicode MS" pitchFamily="34" charset="-128"/>
              </a:rPr>
              <a:t>fC</a:t>
            </a:r>
            <a:r>
              <a:rPr lang="en-GB" altLang="en-US" sz="2000" dirty="0" smtClean="0">
                <a:latin typeface="Arial Unicode MS" pitchFamily="34" charset="-128"/>
              </a:rPr>
              <a:t> between every pair of voxels or ROIs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A common measure of </a:t>
            </a:r>
            <a:r>
              <a:rPr lang="en-GB" altLang="en-US" sz="2000" dirty="0" err="1" smtClean="0">
                <a:latin typeface="Arial Unicode MS" pitchFamily="34" charset="-128"/>
              </a:rPr>
              <a:t>fC</a:t>
            </a:r>
            <a:r>
              <a:rPr lang="en-GB" altLang="en-US" sz="2000" dirty="0" smtClean="0">
                <a:latin typeface="Arial Unicode MS" pitchFamily="34" charset="-128"/>
              </a:rPr>
              <a:t> is Pearson’s correlation coefficient (though other alternatives include partial correlation, mutual information, Granger, multi-dimensional similarity…)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However, the </a:t>
            </a:r>
            <a:r>
              <a:rPr lang="en-GB" altLang="en-US" sz="2000" dirty="0" err="1" smtClean="0">
                <a:latin typeface="Arial Unicode MS" pitchFamily="34" charset="-128"/>
              </a:rPr>
              <a:t>timeseries</a:t>
            </a:r>
            <a:r>
              <a:rPr lang="en-GB" altLang="en-US" sz="2000" dirty="0" smtClean="0">
                <a:latin typeface="Arial Unicode MS" pitchFamily="34" charset="-128"/>
              </a:rPr>
              <a:t> for any pair of voxels/ROIs can have a high correlation owing to non-interesting confounds like motion, breathing, etc…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…so we often need to “clean” the data first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215516" y="124053"/>
            <a:ext cx="4176464" cy="954360"/>
          </a:xfrm>
        </p:spPr>
        <p:txBody>
          <a:bodyPr/>
          <a:lstStyle/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ROI-based fC</a:t>
            </a:r>
            <a:endParaRPr lang="en-US" altLang="en-US" sz="36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458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uiExpand="1" build="p" bldLvl="5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68044" y="5597463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CSF</a:t>
            </a:r>
            <a:endParaRPr lang="en-GB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659" y="1556791"/>
            <a:ext cx="4241044" cy="40317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5130181" y="3117555"/>
            <a:ext cx="37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solidFill>
                  <a:srgbClr val="0000FF"/>
                </a:solidFill>
              </a:rPr>
              <a:t>TR</a:t>
            </a:r>
          </a:p>
        </p:txBody>
      </p:sp>
      <p:sp>
        <p:nvSpPr>
          <p:cNvPr id="9" name="Rectangle 8"/>
          <p:cNvSpPr/>
          <p:nvPr/>
        </p:nvSpPr>
        <p:spPr>
          <a:xfrm>
            <a:off x="5775908" y="5193196"/>
            <a:ext cx="3152576" cy="2476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/>
          <p:cNvCxnSpPr>
            <a:stCxn id="6" idx="0"/>
          </p:cNvCxnSpPr>
          <p:nvPr/>
        </p:nvCxnSpPr>
        <p:spPr>
          <a:xfrm flipV="1">
            <a:off x="5190220" y="5193196"/>
            <a:ext cx="585688" cy="404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69377" y="5740942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WM</a:t>
            </a:r>
            <a:endParaRPr lang="en-GB" sz="1400" dirty="0"/>
          </a:p>
        </p:txBody>
      </p:sp>
      <p:cxnSp>
        <p:nvCxnSpPr>
          <p:cNvPr id="13" name="Straight Arrow Connector 12"/>
          <p:cNvCxnSpPr>
            <a:stCxn id="12" idx="0"/>
          </p:cNvCxnSpPr>
          <p:nvPr/>
        </p:nvCxnSpPr>
        <p:spPr>
          <a:xfrm flipV="1">
            <a:off x="5718805" y="5193196"/>
            <a:ext cx="249427" cy="547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25213" y="5771490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GS</a:t>
            </a:r>
            <a:endParaRPr lang="en-GB" sz="1400" dirty="0"/>
          </a:p>
        </p:txBody>
      </p:sp>
      <p:cxnSp>
        <p:nvCxnSpPr>
          <p:cNvPr id="18" name="Straight Arrow Connector 17"/>
          <p:cNvCxnSpPr>
            <a:stCxn id="17" idx="0"/>
          </p:cNvCxnSpPr>
          <p:nvPr/>
        </p:nvCxnSpPr>
        <p:spPr>
          <a:xfrm flipH="1" flipV="1">
            <a:off x="6151031" y="5201488"/>
            <a:ext cx="64298" cy="570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83474" y="5529673"/>
            <a:ext cx="915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6 motions</a:t>
            </a:r>
            <a:endParaRPr lang="en-GB" sz="1400" dirty="0"/>
          </a:p>
        </p:txBody>
      </p:sp>
      <p:sp>
        <p:nvSpPr>
          <p:cNvPr id="24" name="Right Brace 23"/>
          <p:cNvSpPr/>
          <p:nvPr/>
        </p:nvSpPr>
        <p:spPr>
          <a:xfrm rot="5400000">
            <a:off x="6655408" y="4792330"/>
            <a:ext cx="344135" cy="110567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7287656" y="5523293"/>
            <a:ext cx="798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3 spikes</a:t>
            </a:r>
            <a:endParaRPr lang="en-GB" sz="1400" dirty="0"/>
          </a:p>
        </p:txBody>
      </p:sp>
      <p:sp>
        <p:nvSpPr>
          <p:cNvPr id="26" name="Right Brace 25"/>
          <p:cNvSpPr/>
          <p:nvPr/>
        </p:nvSpPr>
        <p:spPr>
          <a:xfrm rot="5400000">
            <a:off x="7514651" y="5075134"/>
            <a:ext cx="344135" cy="5400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8104871" y="5531317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 smtClean="0"/>
              <a:t>Highpass</a:t>
            </a:r>
            <a:endParaRPr lang="en-GB" sz="1400" dirty="0"/>
          </a:p>
        </p:txBody>
      </p:sp>
      <p:sp>
        <p:nvSpPr>
          <p:cNvPr id="28" name="Right Brace 27"/>
          <p:cNvSpPr/>
          <p:nvPr/>
        </p:nvSpPr>
        <p:spPr>
          <a:xfrm rot="5400000">
            <a:off x="8298533" y="4898991"/>
            <a:ext cx="344135" cy="9491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12" y="66637"/>
            <a:ext cx="3587400" cy="670086"/>
          </a:xfrm>
        </p:spPr>
        <p:txBody>
          <a:bodyPr/>
          <a:lstStyle/>
          <a:p>
            <a:r>
              <a:rPr lang="en-GB" sz="3600" dirty="0" smtClean="0"/>
              <a:t>Motion Artefacts</a:t>
            </a:r>
            <a:endParaRPr lang="en-GB" sz="36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2512" y="945425"/>
            <a:ext cx="5385200" cy="466820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Add </a:t>
            </a:r>
            <a:r>
              <a:rPr lang="en-GB" sz="1800" dirty="0" smtClean="0"/>
              <a:t>low (band-pass) </a:t>
            </a:r>
            <a:r>
              <a:rPr lang="en-GB" sz="1800" dirty="0"/>
              <a:t>filter (</a:t>
            </a:r>
            <a:r>
              <a:rPr lang="en-GB" sz="1800" dirty="0" err="1"/>
              <a:t>eg</a:t>
            </a:r>
            <a:r>
              <a:rPr lang="en-GB" sz="1800" dirty="0"/>
              <a:t> </a:t>
            </a:r>
            <a:r>
              <a:rPr lang="en-GB" sz="1800" dirty="0" smtClean="0"/>
              <a:t>0.1 Hz</a:t>
            </a:r>
            <a:r>
              <a:rPr lang="en-GB" sz="1800" dirty="0"/>
              <a:t>)?</a:t>
            </a:r>
          </a:p>
          <a:p>
            <a:endParaRPr lang="en-GB" sz="1800" dirty="0" smtClean="0"/>
          </a:p>
          <a:p>
            <a:r>
              <a:rPr lang="en-GB" sz="1800" dirty="0" err="1" smtClean="0"/>
              <a:t>Covary</a:t>
            </a:r>
            <a:r>
              <a:rPr lang="en-GB" sz="1800" dirty="0" smtClean="0"/>
              <a:t> WM/CSF/Global Signal</a:t>
            </a:r>
          </a:p>
          <a:p>
            <a:endParaRPr lang="en-GB" sz="1800" dirty="0"/>
          </a:p>
          <a:p>
            <a:r>
              <a:rPr lang="en-GB" sz="1800" dirty="0" smtClean="0"/>
              <a:t>“Scrubbing” (removing volumes with high motion), but ignores temporal autocorrelation</a:t>
            </a:r>
          </a:p>
          <a:p>
            <a:endParaRPr lang="en-GB" sz="1800" dirty="0"/>
          </a:p>
          <a:p>
            <a:r>
              <a:rPr lang="en-GB" sz="1800" dirty="0" smtClean="0"/>
              <a:t>Rather than remove data, regress out motion parameters, including derivatives, second-order expansions (</a:t>
            </a:r>
            <a:r>
              <a:rPr lang="en-GB" sz="1800" dirty="0" err="1" smtClean="0"/>
              <a:t>Volterra</a:t>
            </a:r>
            <a:r>
              <a:rPr lang="en-GB" sz="1800" dirty="0" smtClean="0"/>
              <a:t> expansion), </a:t>
            </a:r>
            <a:r>
              <a:rPr lang="en-GB" sz="1800" dirty="0" err="1" smtClean="0"/>
              <a:t>etc</a:t>
            </a:r>
            <a:endParaRPr lang="en-GB" sz="1800" dirty="0" smtClean="0"/>
          </a:p>
          <a:p>
            <a:endParaRPr lang="en-GB" sz="1800" dirty="0"/>
          </a:p>
          <a:p>
            <a:r>
              <a:rPr lang="en-GB" sz="1800" dirty="0" smtClean="0"/>
              <a:t>Spikes = extreme values (high order expansion) – model as separate </a:t>
            </a:r>
            <a:r>
              <a:rPr lang="en-GB" sz="1800" dirty="0" err="1" smtClean="0"/>
              <a:t>regressors</a:t>
            </a:r>
            <a:endParaRPr lang="en-GB" sz="1800" dirty="0" smtClean="0"/>
          </a:p>
          <a:p>
            <a:pPr marL="0" indent="0">
              <a:buNone/>
            </a:pPr>
            <a:endParaRPr lang="en-GB" sz="1800" dirty="0"/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78657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2" grpId="0"/>
      <p:bldP spid="17" grpId="0"/>
      <p:bldP spid="21" grpId="0"/>
      <p:bldP spid="24" grpId="0" animBg="1"/>
      <p:bldP spid="25" grpId="0"/>
      <p:bldP spid="26" grpId="0" animBg="1"/>
      <p:bldP spid="27" grpId="0"/>
      <p:bldP spid="28" grpId="0" animBg="1"/>
      <p:bldP spid="5" grpId="0" build="p" bldLvl="5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196" y="1072932"/>
            <a:ext cx="2028571" cy="5438095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92512" y="945425"/>
            <a:ext cx="5459608" cy="466820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Add low-pass filter (</a:t>
            </a:r>
            <a:r>
              <a:rPr lang="en-GB" sz="1800" dirty="0" err="1"/>
              <a:t>eg</a:t>
            </a:r>
            <a:r>
              <a:rPr lang="en-GB" sz="1800" dirty="0"/>
              <a:t> 0.1Hz)?</a:t>
            </a:r>
          </a:p>
          <a:p>
            <a:endParaRPr lang="en-GB" sz="1800" dirty="0" smtClean="0"/>
          </a:p>
          <a:p>
            <a:r>
              <a:rPr lang="en-GB" sz="1800" dirty="0" err="1"/>
              <a:t>Covary</a:t>
            </a:r>
            <a:r>
              <a:rPr lang="en-GB" sz="1800" dirty="0"/>
              <a:t> WM/CSF/Global Signal</a:t>
            </a:r>
          </a:p>
          <a:p>
            <a:endParaRPr lang="en-GB" sz="1800" dirty="0" smtClean="0"/>
          </a:p>
          <a:p>
            <a:r>
              <a:rPr lang="en-GB" sz="1800" dirty="0" smtClean="0"/>
              <a:t>“Scrubbing” (removing volumes with high motion), but ignores temporal autocorrelation</a:t>
            </a:r>
          </a:p>
          <a:p>
            <a:endParaRPr lang="en-GB" sz="1800" dirty="0"/>
          </a:p>
          <a:p>
            <a:r>
              <a:rPr lang="en-GB" sz="1800" dirty="0" smtClean="0"/>
              <a:t>Rather than remove data, regress out motion parameters, including derivatives, second-order expansions (</a:t>
            </a:r>
            <a:r>
              <a:rPr lang="en-GB" sz="1800" dirty="0" err="1" smtClean="0"/>
              <a:t>Volterra</a:t>
            </a:r>
            <a:r>
              <a:rPr lang="en-GB" sz="1800" dirty="0" smtClean="0"/>
              <a:t> expansion), </a:t>
            </a:r>
            <a:r>
              <a:rPr lang="en-GB" sz="1800" dirty="0" err="1" smtClean="0"/>
              <a:t>etc</a:t>
            </a:r>
            <a:endParaRPr lang="en-GB" sz="1800" dirty="0" smtClean="0"/>
          </a:p>
          <a:p>
            <a:endParaRPr lang="en-GB" sz="1800" dirty="0"/>
          </a:p>
          <a:p>
            <a:r>
              <a:rPr lang="en-GB" sz="1800" dirty="0" smtClean="0"/>
              <a:t>Spikes = extreme values (high order expansion) – model as separate </a:t>
            </a:r>
            <a:r>
              <a:rPr lang="en-GB" sz="1800" dirty="0" err="1" smtClean="0"/>
              <a:t>regressors</a:t>
            </a:r>
            <a:endParaRPr lang="en-GB" sz="1800" dirty="0" smtClean="0"/>
          </a:p>
          <a:p>
            <a:endParaRPr lang="en-GB" sz="1800" dirty="0"/>
          </a:p>
          <a:p>
            <a:r>
              <a:rPr lang="en-GB" sz="1800" dirty="0" smtClean="0"/>
              <a:t>Or define spikes in wavelet domain (but what threshold?)</a:t>
            </a:r>
          </a:p>
          <a:p>
            <a:endParaRPr lang="en-GB" sz="1800" dirty="0"/>
          </a:p>
          <a:p>
            <a:endParaRPr lang="en-GB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5510248" y="6362388"/>
            <a:ext cx="3633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Patel &amp; Bullmore (2014) </a:t>
            </a:r>
            <a:r>
              <a:rPr lang="en-GB" dirty="0" err="1" smtClean="0">
                <a:solidFill>
                  <a:schemeClr val="bg1">
                    <a:lumMod val="75000"/>
                  </a:schemeClr>
                </a:solidFill>
              </a:rPr>
              <a:t>Neuroimage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76156" y="5403031"/>
            <a:ext cx="6158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solidFill>
                  <a:srgbClr val="0000FF"/>
                </a:solidFill>
              </a:rPr>
              <a:t>Signal</a:t>
            </a:r>
          </a:p>
          <a:p>
            <a:endParaRPr lang="en-GB" sz="14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GB" sz="1400" dirty="0" smtClean="0">
                <a:solidFill>
                  <a:schemeClr val="bg1">
                    <a:lumMod val="75000"/>
                  </a:schemeClr>
                </a:solidFill>
              </a:rPr>
              <a:t>Noise</a:t>
            </a:r>
            <a:endParaRPr lang="en-GB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2512" y="66637"/>
            <a:ext cx="3587400" cy="670086"/>
          </a:xfrm>
        </p:spPr>
        <p:txBody>
          <a:bodyPr/>
          <a:lstStyle/>
          <a:p>
            <a:r>
              <a:rPr lang="en-GB" sz="3600" dirty="0" smtClean="0"/>
              <a:t>Motion Artefacts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94280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960" y="152636"/>
            <a:ext cx="4068452" cy="670086"/>
          </a:xfrm>
        </p:spPr>
        <p:txBody>
          <a:bodyPr/>
          <a:lstStyle/>
          <a:p>
            <a:r>
              <a:rPr lang="en-GB" sz="3200" dirty="0" smtClean="0"/>
              <a:t>Physiological Artefacts</a:t>
            </a:r>
            <a:endParaRPr lang="en-GB" sz="32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15516" y="1376772"/>
            <a:ext cx="8718696" cy="466820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 smtClean="0"/>
              <a:t>High-pass filter, </a:t>
            </a:r>
            <a:r>
              <a:rPr lang="en-GB" sz="1800" dirty="0" err="1" smtClean="0"/>
              <a:t>eg</a:t>
            </a:r>
            <a:r>
              <a:rPr lang="en-GB" sz="1800" dirty="0" smtClean="0"/>
              <a:t> to 0.01Hz (since many biorhythms aliased to lower frequency)</a:t>
            </a:r>
          </a:p>
          <a:p>
            <a:endParaRPr lang="en-GB" sz="1800" dirty="0" smtClean="0"/>
          </a:p>
          <a:p>
            <a:r>
              <a:rPr lang="en-GB" sz="1800" dirty="0" smtClean="0"/>
              <a:t>If recorded physiological signals (</a:t>
            </a:r>
            <a:r>
              <a:rPr lang="en-GB" sz="1800" dirty="0" err="1" smtClean="0"/>
              <a:t>eg</a:t>
            </a:r>
            <a:r>
              <a:rPr lang="en-GB" sz="1800" dirty="0" smtClean="0"/>
              <a:t> cardiac, respiratory), then can adjust for (Fourier expansion of) those signals (RETROICOR)</a:t>
            </a:r>
          </a:p>
          <a:p>
            <a:pPr lvl="1">
              <a:spcBef>
                <a:spcPts val="1800"/>
              </a:spcBef>
            </a:pPr>
            <a:r>
              <a:rPr lang="en-GB" sz="1400" dirty="0" err="1" smtClean="0"/>
              <a:t>PhysIO</a:t>
            </a:r>
            <a:r>
              <a:rPr lang="en-GB" sz="1400" dirty="0" smtClean="0"/>
              <a:t> toolbox </a:t>
            </a:r>
            <a:r>
              <a:rPr lang="en-GB" sz="1400" dirty="0" smtClean="0">
                <a:hlinkClick r:id="rId2"/>
              </a:rPr>
              <a:t>https</a:t>
            </a:r>
            <a:r>
              <a:rPr lang="en-GB" sz="1400" dirty="0">
                <a:hlinkClick r:id="rId2"/>
              </a:rPr>
              <a:t>://</a:t>
            </a:r>
            <a:r>
              <a:rPr lang="en-GB" sz="1400" dirty="0" smtClean="0">
                <a:hlinkClick r:id="rId2"/>
              </a:rPr>
              <a:t>www.tnu.ethz.ch/en/software/tapas/documentations/physio-toolbox</a:t>
            </a:r>
            <a:endParaRPr lang="en-GB" sz="1400" dirty="0" smtClean="0"/>
          </a:p>
          <a:p>
            <a:endParaRPr lang="en-GB" sz="1800" dirty="0"/>
          </a:p>
          <a:p>
            <a:r>
              <a:rPr lang="en-GB" sz="1800" dirty="0" smtClean="0"/>
              <a:t>Or can use mean (or first few principal components) of signal in CSF/WM (though care not correlated with GM signal)</a:t>
            </a:r>
          </a:p>
          <a:p>
            <a:pPr lvl="1">
              <a:spcBef>
                <a:spcPts val="1800"/>
              </a:spcBef>
            </a:pPr>
            <a:r>
              <a:rPr lang="en-GB" sz="1400" dirty="0" smtClean="0"/>
              <a:t>CONN toolbox (</a:t>
            </a:r>
            <a:r>
              <a:rPr lang="en-GB" sz="1400" dirty="0" err="1" smtClean="0"/>
              <a:t>Matlab</a:t>
            </a:r>
            <a:r>
              <a:rPr lang="en-GB" sz="1400" dirty="0"/>
              <a:t>/SPM): </a:t>
            </a:r>
            <a:r>
              <a:rPr lang="en-GB" sz="1400" dirty="0">
                <a:hlinkClick r:id="rId3"/>
              </a:rPr>
              <a:t>https://web.conn-toolbox.org</a:t>
            </a:r>
            <a:r>
              <a:rPr lang="en-GB" sz="1400" dirty="0" smtClean="0">
                <a:hlinkClick r:id="rId3"/>
              </a:rPr>
              <a:t>/</a:t>
            </a:r>
            <a:r>
              <a:rPr lang="en-GB" sz="1400" dirty="0" smtClean="0"/>
              <a:t> </a:t>
            </a:r>
          </a:p>
          <a:p>
            <a:endParaRPr lang="en-GB" sz="1800" dirty="0" smtClean="0"/>
          </a:p>
          <a:p>
            <a:r>
              <a:rPr lang="en-GB" sz="1800" dirty="0" smtClean="0"/>
              <a:t>“Global” </a:t>
            </a:r>
            <a:r>
              <a:rPr lang="en-GB" sz="1800" dirty="0" err="1" smtClean="0"/>
              <a:t>artifacts</a:t>
            </a:r>
            <a:r>
              <a:rPr lang="en-GB" sz="1800" dirty="0" smtClean="0"/>
              <a:t>, using “global signal regression” (</a:t>
            </a:r>
            <a:r>
              <a:rPr lang="en-GB" sz="1800" dirty="0" err="1" smtClean="0"/>
              <a:t>eg</a:t>
            </a:r>
            <a:r>
              <a:rPr lang="en-GB" sz="1800" dirty="0" smtClean="0"/>
              <a:t> across all ROIs)</a:t>
            </a:r>
            <a:endParaRPr lang="en-GB" sz="1800" dirty="0"/>
          </a:p>
          <a:p>
            <a:pPr lvl="1">
              <a:spcBef>
                <a:spcPts val="1800"/>
              </a:spcBef>
            </a:pPr>
            <a:r>
              <a:rPr lang="en-GB" sz="1400" dirty="0" smtClean="0"/>
              <a:t>Pros/Cons discussed in </a:t>
            </a:r>
            <a:r>
              <a:rPr lang="en-GB" sz="1400" dirty="0" smtClean="0">
                <a:hlinkClick r:id="rId4"/>
              </a:rPr>
              <a:t>https://doi.org/10.1016/j.neuroimage.2016.11.052</a:t>
            </a:r>
            <a:r>
              <a:rPr lang="en-GB" sz="1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573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5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1" y="1484784"/>
            <a:ext cx="8748526" cy="4790604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One way minimise confounds is to compare </a:t>
            </a:r>
            <a:r>
              <a:rPr lang="en-GB" altLang="en-US" sz="2000" dirty="0" err="1" smtClean="0">
                <a:latin typeface="Arial Unicode MS" pitchFamily="34" charset="-128"/>
              </a:rPr>
              <a:t>fC</a:t>
            </a:r>
            <a:r>
              <a:rPr lang="en-GB" altLang="en-US" sz="2000" dirty="0" smtClean="0">
                <a:latin typeface="Arial Unicode MS" pitchFamily="34" charset="-128"/>
              </a:rPr>
              <a:t> across two or more tasks/conditions. Two main approaches:</a:t>
            </a:r>
          </a:p>
          <a:p>
            <a:pPr marL="914400" lvl="1" indent="-514350" eaLnBrk="1" hangingPunct="1">
              <a:lnSpc>
                <a:spcPct val="120000"/>
              </a:lnSpc>
              <a:spcBef>
                <a:spcPct val="80000"/>
              </a:spcBef>
              <a:buFont typeface="+mj-lt"/>
              <a:buAutoNum type="romanUcPeriod"/>
            </a:pPr>
            <a:r>
              <a:rPr lang="en-GB" altLang="en-US" sz="1600" dirty="0" smtClean="0">
                <a:latin typeface="Arial Unicode MS" pitchFamily="34" charset="-128"/>
              </a:rPr>
              <a:t>Beta-Series Correlation/Regression (BSR): correlate Betas (trial-wise parameter estimates from single-trial model) across ROIs, and compare correlation coefficients/regression slopes across conditions</a:t>
            </a:r>
          </a:p>
          <a:p>
            <a:pPr marL="914400" lvl="1" indent="-514350" eaLnBrk="1" hangingPunct="1">
              <a:lnSpc>
                <a:spcPct val="120000"/>
              </a:lnSpc>
              <a:spcBef>
                <a:spcPct val="80000"/>
              </a:spcBef>
              <a:buFont typeface="+mj-lt"/>
              <a:buAutoNum type="romanUcPeriod"/>
            </a:pPr>
            <a:r>
              <a:rPr lang="en-GB" altLang="en-US" sz="1600" dirty="0" smtClean="0">
                <a:latin typeface="Arial Unicode MS" pitchFamily="34" charset="-128"/>
              </a:rPr>
              <a:t>Psycho-Physiological Interactions (PPIs): construct a model (GLM) of fMRI </a:t>
            </a:r>
            <a:r>
              <a:rPr lang="en-GB" altLang="en-US" sz="1600" dirty="0" err="1" smtClean="0">
                <a:latin typeface="Arial Unicode MS" pitchFamily="34" charset="-128"/>
              </a:rPr>
              <a:t>timeseries</a:t>
            </a:r>
            <a:r>
              <a:rPr lang="en-GB" altLang="en-US" sz="1600" dirty="0" smtClean="0">
                <a:latin typeface="Arial Unicode MS" pitchFamily="34" charset="-128"/>
              </a:rPr>
              <a:t> with </a:t>
            </a:r>
            <a:r>
              <a:rPr lang="en-GB" altLang="en-US" sz="1600" dirty="0" err="1" smtClean="0">
                <a:latin typeface="Arial Unicode MS" pitchFamily="34" charset="-128"/>
              </a:rPr>
              <a:t>regressors</a:t>
            </a:r>
            <a:r>
              <a:rPr lang="en-GB" altLang="en-US" sz="1600" dirty="0" smtClean="0">
                <a:latin typeface="Arial Unicode MS" pitchFamily="34" charset="-128"/>
              </a:rPr>
              <a:t> for 1) conditions (“psychological”), 2) </a:t>
            </a:r>
            <a:r>
              <a:rPr lang="en-GB" altLang="en-US" sz="1600" dirty="0" err="1" smtClean="0">
                <a:latin typeface="Arial Unicode MS" pitchFamily="34" charset="-128"/>
              </a:rPr>
              <a:t>timeseries</a:t>
            </a:r>
            <a:r>
              <a:rPr lang="en-GB" altLang="en-US" sz="1600" dirty="0" smtClean="0">
                <a:latin typeface="Arial Unicode MS" pitchFamily="34" charset="-128"/>
              </a:rPr>
              <a:t> from one ROI (seed) (“physiological”) and 3) the interaction between 1+2 (the key PPI term), and test significance of interaction term</a:t>
            </a:r>
          </a:p>
          <a:p>
            <a:pPr marL="400050" lvl="1" indent="0" eaLnBrk="1" hangingPunct="1">
              <a:lnSpc>
                <a:spcPct val="120000"/>
              </a:lnSpc>
              <a:spcBef>
                <a:spcPct val="80000"/>
              </a:spcBef>
              <a:buNone/>
            </a:pPr>
            <a:endParaRPr lang="en-GB" altLang="en-US" sz="1600" dirty="0" smtClean="0">
              <a:latin typeface="Arial Unicode MS" pitchFamily="34" charset="-128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  <a:buNone/>
            </a:pPr>
            <a:r>
              <a:rPr lang="en-GB" altLang="en-US" sz="2000" dirty="0" smtClean="0">
                <a:latin typeface="Arial Unicode MS" pitchFamily="34" charset="-128"/>
              </a:rPr>
              <a:t>		See </a:t>
            </a:r>
            <a:r>
              <a:rPr lang="en-GB" altLang="en-US" sz="2000" dirty="0" err="1" smtClean="0">
                <a:latin typeface="Arial Unicode MS" pitchFamily="34" charset="-128"/>
              </a:rPr>
              <a:t>Masharipov</a:t>
            </a:r>
            <a:r>
              <a:rPr lang="en-GB" altLang="en-US" sz="2000" dirty="0" smtClean="0">
                <a:latin typeface="Arial Unicode MS" pitchFamily="34" charset="-128"/>
              </a:rPr>
              <a:t> et al 2024 for comparison: 				</a:t>
            </a:r>
            <a:r>
              <a:rPr lang="en-GB" altLang="en-US" sz="2000" dirty="0" smtClean="0">
                <a:latin typeface="Arial Unicode MS" pitchFamily="34" charset="-128"/>
                <a:hlinkClick r:id="rId3"/>
              </a:rPr>
              <a:t>https</a:t>
            </a:r>
            <a:r>
              <a:rPr lang="en-GB" altLang="en-US" sz="2000" dirty="0">
                <a:latin typeface="Arial Unicode MS" pitchFamily="34" charset="-128"/>
                <a:hlinkClick r:id="rId3"/>
              </a:rPr>
              <a:t>://</a:t>
            </a:r>
            <a:r>
              <a:rPr lang="en-GB" altLang="en-US" sz="2000" dirty="0" smtClean="0">
                <a:latin typeface="Arial Unicode MS" pitchFamily="34" charset="-128"/>
                <a:hlinkClick r:id="rId3"/>
              </a:rPr>
              <a:t>www.nature.com/articles/s42003-024-07088-3</a:t>
            </a:r>
            <a:r>
              <a:rPr lang="en-GB" altLang="en-US" sz="2000" dirty="0" smtClean="0">
                <a:latin typeface="Arial Unicode MS" pitchFamily="34" charset="-128"/>
              </a:rPr>
              <a:t> </a:t>
            </a:r>
            <a:endParaRPr lang="en-GB" altLang="en-US" sz="2000" dirty="0">
              <a:latin typeface="Arial Unicode MS" pitchFamily="34" charset="-128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107950" y="188640"/>
            <a:ext cx="3995998" cy="954360"/>
          </a:xfrm>
        </p:spPr>
        <p:txBody>
          <a:bodyPr/>
          <a:lstStyle/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Task-based fC</a:t>
            </a:r>
            <a:endParaRPr lang="en-US" altLang="en-US" sz="36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585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uiExpand="1" build="p" bldLvl="5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7563" y="980728"/>
            <a:ext cx="8748526" cy="584223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One problem with BSR is how to estimate single-trial responses for event-related designs with short SOAs: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en-GB" altLang="en-US" sz="2000" dirty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en-GB" altLang="en-US" sz="2000" dirty="0" smtClean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en-GB" altLang="en-US" sz="2000" dirty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en-GB" altLang="en-US" sz="2000" dirty="0" smtClean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en-GB" altLang="en-US" sz="2000" dirty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en-GB" altLang="en-US" sz="2000" dirty="0" smtClean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GB" altLang="en-US" sz="2000" dirty="0" smtClean="0">
                <a:latin typeface="Arial Unicode MS" pitchFamily="34" charset="-128"/>
              </a:rPr>
              <a:t>Bottom line: LSS better when scan noise higher than trial variability (normally the case); LSA better when trial variability higher than scan noise (see “efficiency” notebook)</a:t>
            </a: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  <a:buNone/>
            </a:pPr>
            <a:endParaRPr lang="en-GB" altLang="en-US" sz="1600" dirty="0" smtClean="0">
              <a:latin typeface="Arial Unicode MS" pitchFamily="34" charset="-128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80000"/>
              </a:spcBef>
              <a:buNone/>
            </a:pPr>
            <a:endParaRPr lang="en-GB" altLang="en-US" sz="2000" dirty="0">
              <a:latin typeface="Arial Unicode MS" pitchFamily="34" charset="-128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107950" y="188640"/>
            <a:ext cx="3995998" cy="954360"/>
          </a:xfrm>
        </p:spPr>
        <p:txBody>
          <a:bodyPr/>
          <a:lstStyle/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1. BSR</a:t>
            </a:r>
            <a:endParaRPr lang="en-US" altLang="en-US" sz="3600" b="1" dirty="0" smtClean="0">
              <a:latin typeface="Arial Unicode MS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64" y="1808820"/>
            <a:ext cx="7485823" cy="37084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66152" y="6561348"/>
            <a:ext cx="33778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dirty="0">
                <a:solidFill>
                  <a:srgbClr val="0000FF"/>
                </a:solidFill>
                <a:latin typeface="AdvTT5235d5a9"/>
              </a:rPr>
              <a:t>http://dx.doi.org/10.1016/j.neuroimage.2015.11.009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917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734450" y="1304764"/>
            <a:ext cx="4079631" cy="4895850"/>
            <a:chOff x="3120" y="979"/>
            <a:chExt cx="2784" cy="3084"/>
          </a:xfrm>
        </p:grpSpPr>
        <p:pic>
          <p:nvPicPr>
            <p:cNvPr id="26653" name="Picture 3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979"/>
              <a:ext cx="2784" cy="3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892" name="Rectangle 4"/>
            <p:cNvSpPr>
              <a:spLocks noChangeArrowheads="1"/>
            </p:cNvSpPr>
            <p:nvPr/>
          </p:nvSpPr>
          <p:spPr bwMode="auto">
            <a:xfrm>
              <a:off x="4959" y="1234"/>
              <a:ext cx="60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160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SPM{Z}</a:t>
              </a:r>
            </a:p>
          </p:txBody>
        </p:sp>
      </p:grpSp>
      <p:sp>
        <p:nvSpPr>
          <p:cNvPr id="421894" name="Line 6"/>
          <p:cNvSpPr>
            <a:spLocks noChangeShapeType="1"/>
          </p:cNvSpPr>
          <p:nvPr/>
        </p:nvSpPr>
        <p:spPr bwMode="auto">
          <a:xfrm>
            <a:off x="1888431" y="4966717"/>
            <a:ext cx="7620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958769" y="3582417"/>
            <a:ext cx="1606062" cy="1524000"/>
            <a:chOff x="1252" y="2060"/>
            <a:chExt cx="1096" cy="960"/>
          </a:xfrm>
        </p:grpSpPr>
        <p:sp>
          <p:nvSpPr>
            <p:cNvPr id="26650" name="Oval 8"/>
            <p:cNvSpPr>
              <a:spLocks noChangeArrowheads="1"/>
            </p:cNvSpPr>
            <p:nvPr/>
          </p:nvSpPr>
          <p:spPr bwMode="auto">
            <a:xfrm>
              <a:off x="1252" y="2060"/>
              <a:ext cx="1096" cy="52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1pPr>
              <a:lvl2pPr marL="742950" indent="-28575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2pPr>
              <a:lvl3pPr marL="11430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3pPr>
              <a:lvl4pPr marL="16002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4pPr>
              <a:lvl5pPr marL="20574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9pPr>
            </a:lstStyle>
            <a:p>
              <a:endParaRPr lang="en-GB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897" name="Rectangle 9"/>
            <p:cNvSpPr>
              <a:spLocks noChangeArrowheads="1"/>
            </p:cNvSpPr>
            <p:nvPr/>
          </p:nvSpPr>
          <p:spPr bwMode="auto">
            <a:xfrm>
              <a:off x="1425" y="2135"/>
              <a:ext cx="746" cy="4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</a:t>
              </a:r>
            </a:p>
            <a:p>
              <a:pPr algn="ctr">
                <a:defRPr/>
              </a:pP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psy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52" name="Line 10"/>
            <p:cNvSpPr>
              <a:spLocks noChangeShapeType="1"/>
            </p:cNvSpPr>
            <p:nvPr/>
          </p:nvSpPr>
          <p:spPr bwMode="auto">
            <a:xfrm flipH="1">
              <a:off x="1484" y="2564"/>
              <a:ext cx="168" cy="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86816" y="4426967"/>
            <a:ext cx="1266092" cy="914400"/>
            <a:chOff x="384" y="2592"/>
            <a:chExt cx="864" cy="576"/>
          </a:xfrm>
        </p:grpSpPr>
        <p:sp>
          <p:nvSpPr>
            <p:cNvPr id="26648" name="Oval 12"/>
            <p:cNvSpPr>
              <a:spLocks noChangeArrowheads="1"/>
            </p:cNvSpPr>
            <p:nvPr/>
          </p:nvSpPr>
          <p:spPr bwMode="auto">
            <a:xfrm>
              <a:off x="384" y="2592"/>
              <a:ext cx="864" cy="576"/>
            </a:xfrm>
            <a:prstGeom prst="ellipse">
              <a:avLst/>
            </a:prstGeom>
            <a:gradFill rotWithShape="0">
              <a:gsLst>
                <a:gs pos="0">
                  <a:srgbClr val="00B7A5"/>
                </a:gs>
                <a:gs pos="100000">
                  <a:srgbClr val="00373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1pPr>
              <a:lvl2pPr marL="742950" indent="-28575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2pPr>
              <a:lvl3pPr marL="11430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3pPr>
              <a:lvl4pPr marL="16002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4pPr>
              <a:lvl5pPr marL="20574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9pPr>
            </a:lstStyle>
            <a:p>
              <a:endParaRPr lang="en-GB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901" name="Rectangle 13"/>
            <p:cNvSpPr>
              <a:spLocks noChangeArrowheads="1"/>
            </p:cNvSpPr>
            <p:nvPr/>
          </p:nvSpPr>
          <p:spPr bwMode="auto">
            <a:xfrm>
              <a:off x="533" y="2644"/>
              <a:ext cx="523" cy="4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ctr">
                <a:defRPr/>
              </a:pPr>
              <a:r>
                <a:rPr lang="en-US" sz="2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V1</a:t>
              </a:r>
            </a:p>
            <a:p>
              <a:pPr algn="ctr">
                <a:defRPr/>
              </a:pPr>
              <a:r>
                <a:rPr lang="en-US" sz="2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20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phy</a:t>
              </a:r>
              <a:r>
                <a:rPr lang="en-US" sz="2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2656293" y="5036567"/>
            <a:ext cx="773723" cy="609600"/>
            <a:chOff x="1728" y="2976"/>
            <a:chExt cx="528" cy="384"/>
          </a:xfrm>
        </p:grpSpPr>
        <p:sp>
          <p:nvSpPr>
            <p:cNvPr id="26646" name="Oval 15"/>
            <p:cNvSpPr>
              <a:spLocks noChangeArrowheads="1"/>
            </p:cNvSpPr>
            <p:nvPr/>
          </p:nvSpPr>
          <p:spPr bwMode="auto">
            <a:xfrm>
              <a:off x="1728" y="2976"/>
              <a:ext cx="528" cy="384"/>
            </a:xfrm>
            <a:prstGeom prst="ellipse">
              <a:avLst/>
            </a:prstGeom>
            <a:gradFill rotWithShape="0">
              <a:gsLst>
                <a:gs pos="0">
                  <a:srgbClr val="00B7A5"/>
                </a:gs>
                <a:gs pos="100000">
                  <a:srgbClr val="00373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1pPr>
              <a:lvl2pPr marL="742950" indent="-28575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2pPr>
              <a:lvl3pPr marL="11430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3pPr>
              <a:lvl4pPr marL="16002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4pPr>
              <a:lvl5pPr marL="20574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9pPr>
            </a:lstStyle>
            <a:p>
              <a:endParaRPr lang="en-GB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904" name="Rectangle 16"/>
            <p:cNvSpPr>
              <a:spLocks noChangeArrowheads="1"/>
            </p:cNvSpPr>
            <p:nvPr/>
          </p:nvSpPr>
          <p:spPr bwMode="auto">
            <a:xfrm>
              <a:off x="1807" y="3050"/>
              <a:ext cx="317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V5</a:t>
              </a:r>
            </a:p>
          </p:txBody>
        </p:sp>
      </p:grpSp>
      <p:sp>
        <p:nvSpPr>
          <p:cNvPr id="421905" name="Rectangle 17"/>
          <p:cNvSpPr>
            <a:spLocks noChangeArrowheads="1"/>
          </p:cNvSpPr>
          <p:nvPr/>
        </p:nvSpPr>
        <p:spPr bwMode="auto">
          <a:xfrm>
            <a:off x="6831416" y="4236876"/>
            <a:ext cx="969818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1906" name="Rectangle 18"/>
          <p:cNvSpPr>
            <a:spLocks noChangeArrowheads="1"/>
          </p:cNvSpPr>
          <p:nvPr/>
        </p:nvSpPr>
        <p:spPr bwMode="auto">
          <a:xfrm>
            <a:off x="7253447" y="4922676"/>
            <a:ext cx="1255153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attention</a:t>
            </a:r>
          </a:p>
        </p:txBody>
      </p:sp>
      <p:sp>
        <p:nvSpPr>
          <p:cNvPr id="421907" name="Rectangle 19"/>
          <p:cNvSpPr>
            <a:spLocks noChangeArrowheads="1"/>
          </p:cNvSpPr>
          <p:nvPr/>
        </p:nvSpPr>
        <p:spPr bwMode="auto">
          <a:xfrm>
            <a:off x="5917016" y="5846601"/>
            <a:ext cx="1629508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V1 </a:t>
            </a:r>
            <a:r>
              <a:rPr lang="en-US" sz="16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endParaRPr lang="en-US" sz="1600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1908" name="Rectangle 20"/>
          <p:cNvSpPr>
            <a:spLocks noChangeArrowheads="1"/>
          </p:cNvSpPr>
          <p:nvPr/>
        </p:nvSpPr>
        <p:spPr bwMode="auto">
          <a:xfrm rot="-5400000">
            <a:off x="4271786" y="4605458"/>
            <a:ext cx="1117295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V5 activity</a:t>
            </a:r>
          </a:p>
        </p:txBody>
      </p:sp>
      <p:sp>
        <p:nvSpPr>
          <p:cNvPr id="421909" name="Rectangle 21"/>
          <p:cNvSpPr>
            <a:spLocks noChangeArrowheads="1"/>
          </p:cNvSpPr>
          <p:nvPr/>
        </p:nvSpPr>
        <p:spPr bwMode="auto">
          <a:xfrm>
            <a:off x="6139755" y="3411376"/>
            <a:ext cx="570670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60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421910" name="Rectangle 22"/>
          <p:cNvSpPr>
            <a:spLocks noChangeArrowheads="1"/>
          </p:cNvSpPr>
          <p:nvPr/>
        </p:nvSpPr>
        <p:spPr bwMode="auto">
          <a:xfrm rot="-5400000">
            <a:off x="4506247" y="2294058"/>
            <a:ext cx="1117295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 </a:t>
            </a:r>
            <a:r>
              <a:rPr lang="en-US" alt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1912" name="Text Box 24"/>
          <p:cNvSpPr txBox="1">
            <a:spLocks noChangeArrowheads="1"/>
          </p:cNvSpPr>
          <p:nvPr/>
        </p:nvSpPr>
        <p:spPr bwMode="auto">
          <a:xfrm>
            <a:off x="339276" y="1631749"/>
            <a:ext cx="4622309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Parametric, factorial design, in which one factor is </a:t>
            </a:r>
            <a:r>
              <a:rPr lang="en-GB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psychological </a:t>
            </a: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attention)</a:t>
            </a:r>
            <a:endParaRPr lang="en-GB" altLang="en-US" sz="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altLang="en-US" sz="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...and other is </a:t>
            </a:r>
            <a:r>
              <a:rPr lang="en-GB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physiological </a:t>
            </a:r>
            <a:r>
              <a:rPr lang="en-GB" altLang="en-US" sz="1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(viz. activity extracted from a brain region of interest)</a:t>
            </a:r>
            <a:endParaRPr lang="en-GB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7278358" y="2646201"/>
            <a:ext cx="621323" cy="533400"/>
            <a:chOff x="4856" y="1824"/>
            <a:chExt cx="424" cy="336"/>
          </a:xfrm>
        </p:grpSpPr>
        <p:sp>
          <p:nvSpPr>
            <p:cNvPr id="26644" name="Oval 26"/>
            <p:cNvSpPr>
              <a:spLocks noChangeArrowheads="1"/>
            </p:cNvSpPr>
            <p:nvPr/>
          </p:nvSpPr>
          <p:spPr bwMode="auto">
            <a:xfrm>
              <a:off x="5184" y="2064"/>
              <a:ext cx="96" cy="96"/>
            </a:xfrm>
            <a:prstGeom prst="ellips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1pPr>
              <a:lvl2pPr marL="742950" indent="-28575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2pPr>
              <a:lvl3pPr marL="11430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3pPr>
              <a:lvl4pPr marL="16002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4pPr>
              <a:lvl5pPr marL="20574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9pPr>
            </a:lstStyle>
            <a:p>
              <a:endParaRPr lang="en-GB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45" name="Line 27"/>
            <p:cNvSpPr>
              <a:spLocks noChangeShapeType="1"/>
            </p:cNvSpPr>
            <p:nvPr/>
          </p:nvSpPr>
          <p:spPr bwMode="auto">
            <a:xfrm flipH="1" flipV="1">
              <a:off x="4856" y="1824"/>
              <a:ext cx="336" cy="24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7489373" y="3001801"/>
            <a:ext cx="140677" cy="1016000"/>
            <a:chOff x="5000" y="2048"/>
            <a:chExt cx="96" cy="640"/>
          </a:xfrm>
        </p:grpSpPr>
        <p:sp>
          <p:nvSpPr>
            <p:cNvPr id="26642" name="Line 29"/>
            <p:cNvSpPr>
              <a:spLocks noChangeShapeType="1"/>
            </p:cNvSpPr>
            <p:nvPr/>
          </p:nvSpPr>
          <p:spPr bwMode="auto">
            <a:xfrm>
              <a:off x="5040" y="2160"/>
              <a:ext cx="0" cy="52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43" name="Oval 30"/>
            <p:cNvSpPr>
              <a:spLocks noChangeArrowheads="1"/>
            </p:cNvSpPr>
            <p:nvPr/>
          </p:nvSpPr>
          <p:spPr bwMode="auto">
            <a:xfrm>
              <a:off x="5000" y="2048"/>
              <a:ext cx="96" cy="96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1pPr>
              <a:lvl2pPr marL="742950" indent="-28575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2pPr>
              <a:lvl3pPr marL="11430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3pPr>
              <a:lvl4pPr marL="16002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4pPr>
              <a:lvl5pPr marL="20574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9pPr>
            </a:lstStyle>
            <a:p>
              <a:endParaRPr lang="en-GB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0" y="80628"/>
            <a:ext cx="4427984" cy="106237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2. PPIs</a:t>
            </a:r>
            <a:endParaRPr lang="en-US" altLang="en-US" sz="36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49924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9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4" grpId="0" animBg="1"/>
      <p:bldP spid="421905" grpId="0" autoUpdateAnimBg="0"/>
      <p:bldP spid="421906" grpId="0" autoUpdateAnimBg="0"/>
      <p:bldP spid="421907" grpId="0" autoUpdateAnimBg="0"/>
      <p:bldP spid="421908" grpId="0" autoUpdateAnimBg="0"/>
      <p:bldP spid="421909" grpId="0" autoUpdateAnimBg="0"/>
      <p:bldP spid="421910" grpId="0" autoUpdateAnimBg="0"/>
      <p:bldP spid="421912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4572000" y="1554163"/>
            <a:ext cx="4079631" cy="4895850"/>
            <a:chOff x="3120" y="979"/>
            <a:chExt cx="2784" cy="3084"/>
          </a:xfrm>
        </p:grpSpPr>
        <p:pic>
          <p:nvPicPr>
            <p:cNvPr id="27676" name="Picture 3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979"/>
              <a:ext cx="2784" cy="3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2916" name="Rectangle 4"/>
            <p:cNvSpPr>
              <a:spLocks noChangeArrowheads="1"/>
            </p:cNvSpPr>
            <p:nvPr/>
          </p:nvSpPr>
          <p:spPr bwMode="auto">
            <a:xfrm>
              <a:off x="4959" y="1234"/>
              <a:ext cx="58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SPM{Z}</a:t>
              </a:r>
            </a:p>
          </p:txBody>
        </p:sp>
      </p:grp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6668966" y="4486275"/>
            <a:ext cx="99065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800"/>
              <a:t>attention</a:t>
            </a:r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7090997" y="5172075"/>
            <a:ext cx="12791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800"/>
              <a:t>no attention</a:t>
            </a:r>
          </a:p>
        </p:txBody>
      </p:sp>
      <p:sp>
        <p:nvSpPr>
          <p:cNvPr id="422919" name="Rectangle 7"/>
          <p:cNvSpPr>
            <a:spLocks noChangeArrowheads="1"/>
          </p:cNvSpPr>
          <p:nvPr/>
        </p:nvSpPr>
        <p:spPr bwMode="auto">
          <a:xfrm>
            <a:off x="5754566" y="6096000"/>
            <a:ext cx="1629508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>
              <a:defRPr/>
            </a:pPr>
            <a:r>
              <a:rPr lang="en-U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V1 activity</a:t>
            </a:r>
          </a:p>
        </p:txBody>
      </p:sp>
      <p:sp>
        <p:nvSpPr>
          <p:cNvPr id="27654" name="Rectangle 8"/>
          <p:cNvSpPr>
            <a:spLocks noChangeArrowheads="1"/>
          </p:cNvSpPr>
          <p:nvPr/>
        </p:nvSpPr>
        <p:spPr bwMode="auto">
          <a:xfrm rot="-5400000">
            <a:off x="4060445" y="4839468"/>
            <a:ext cx="121507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800"/>
              <a:t>V5 activity</a:t>
            </a:r>
          </a:p>
        </p:txBody>
      </p:sp>
      <p:sp>
        <p:nvSpPr>
          <p:cNvPr id="422921" name="Rectangle 9"/>
          <p:cNvSpPr>
            <a:spLocks noChangeArrowheads="1"/>
          </p:cNvSpPr>
          <p:nvPr/>
        </p:nvSpPr>
        <p:spPr bwMode="auto">
          <a:xfrm>
            <a:off x="5977305" y="3660775"/>
            <a:ext cx="612348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time</a:t>
            </a:r>
          </a:p>
        </p:txBody>
      </p:sp>
      <p:sp>
        <p:nvSpPr>
          <p:cNvPr id="27656" name="Rectangle 10"/>
          <p:cNvSpPr>
            <a:spLocks noChangeArrowheads="1"/>
          </p:cNvSpPr>
          <p:nvPr/>
        </p:nvSpPr>
        <p:spPr bwMode="auto">
          <a:xfrm rot="-5400000">
            <a:off x="4294906" y="2528068"/>
            <a:ext cx="121507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800"/>
              <a:t>V1 activity</a:t>
            </a:r>
          </a:p>
        </p:txBody>
      </p:sp>
      <p:grpSp>
        <p:nvGrpSpPr>
          <p:cNvPr id="27658" name="Group 12"/>
          <p:cNvGrpSpPr>
            <a:grpSpLocks/>
          </p:cNvGrpSpPr>
          <p:nvPr/>
        </p:nvGrpSpPr>
        <p:grpSpPr bwMode="auto">
          <a:xfrm>
            <a:off x="7115908" y="2895600"/>
            <a:ext cx="621323" cy="533400"/>
            <a:chOff x="4856" y="1824"/>
            <a:chExt cx="424" cy="336"/>
          </a:xfrm>
        </p:grpSpPr>
        <p:sp>
          <p:nvSpPr>
            <p:cNvPr id="27674" name="Oval 13"/>
            <p:cNvSpPr>
              <a:spLocks noChangeArrowheads="1"/>
            </p:cNvSpPr>
            <p:nvPr/>
          </p:nvSpPr>
          <p:spPr bwMode="auto">
            <a:xfrm>
              <a:off x="5184" y="2064"/>
              <a:ext cx="96" cy="96"/>
            </a:xfrm>
            <a:prstGeom prst="ellips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1pPr>
              <a:lvl2pPr marL="742950" indent="-28575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2pPr>
              <a:lvl3pPr marL="11430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3pPr>
              <a:lvl4pPr marL="16002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4pPr>
              <a:lvl5pPr marL="20574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9pPr>
            </a:lstStyle>
            <a:p>
              <a:endParaRPr lang="en-GB" altLang="en-US"/>
            </a:p>
          </p:txBody>
        </p:sp>
        <p:sp>
          <p:nvSpPr>
            <p:cNvPr id="27675" name="Line 14"/>
            <p:cNvSpPr>
              <a:spLocks noChangeShapeType="1"/>
            </p:cNvSpPr>
            <p:nvPr/>
          </p:nvSpPr>
          <p:spPr bwMode="auto">
            <a:xfrm flipH="1" flipV="1">
              <a:off x="4856" y="1824"/>
              <a:ext cx="336" cy="24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7659" name="Group 15"/>
          <p:cNvGrpSpPr>
            <a:grpSpLocks/>
          </p:cNvGrpSpPr>
          <p:nvPr/>
        </p:nvGrpSpPr>
        <p:grpSpPr bwMode="auto">
          <a:xfrm>
            <a:off x="7326923" y="3251200"/>
            <a:ext cx="140677" cy="1016000"/>
            <a:chOff x="5000" y="2048"/>
            <a:chExt cx="96" cy="640"/>
          </a:xfrm>
        </p:grpSpPr>
        <p:sp>
          <p:nvSpPr>
            <p:cNvPr id="27672" name="Line 16"/>
            <p:cNvSpPr>
              <a:spLocks noChangeShapeType="1"/>
            </p:cNvSpPr>
            <p:nvPr/>
          </p:nvSpPr>
          <p:spPr bwMode="auto">
            <a:xfrm>
              <a:off x="5040" y="2160"/>
              <a:ext cx="0" cy="52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73" name="Oval 17"/>
            <p:cNvSpPr>
              <a:spLocks noChangeArrowheads="1"/>
            </p:cNvSpPr>
            <p:nvPr/>
          </p:nvSpPr>
          <p:spPr bwMode="auto">
            <a:xfrm>
              <a:off x="5000" y="2048"/>
              <a:ext cx="96" cy="96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1pPr>
              <a:lvl2pPr marL="742950" indent="-28575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2pPr>
              <a:lvl3pPr marL="11430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3pPr>
              <a:lvl4pPr marL="16002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4pPr>
              <a:lvl5pPr marL="20574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9pPr>
            </a:lstStyle>
            <a:p>
              <a:endParaRPr lang="en-GB" altLang="en-US"/>
            </a:p>
          </p:txBody>
        </p:sp>
      </p:grpSp>
      <p:pic>
        <p:nvPicPr>
          <p:cNvPr id="27661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158" y="1779588"/>
            <a:ext cx="2923442" cy="344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0" name="Line 21"/>
          <p:cNvSpPr>
            <a:spLocks noChangeShapeType="1"/>
          </p:cNvSpPr>
          <p:nvPr/>
        </p:nvSpPr>
        <p:spPr bwMode="auto">
          <a:xfrm flipV="1">
            <a:off x="1522536" y="5293616"/>
            <a:ext cx="10258" cy="49045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27671" name="Text Box 22"/>
          <p:cNvSpPr txBox="1">
            <a:spLocks noChangeArrowheads="1"/>
          </p:cNvSpPr>
          <p:nvPr/>
        </p:nvSpPr>
        <p:spPr bwMode="auto">
          <a:xfrm>
            <a:off x="1115616" y="5820099"/>
            <a:ext cx="76816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</a:p>
          <a:p>
            <a:pPr algn="ctr"/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</a:t>
            </a: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68" name="Line 24"/>
          <p:cNvSpPr>
            <a:spLocks noChangeShapeType="1"/>
          </p:cNvSpPr>
          <p:nvPr/>
        </p:nvSpPr>
        <p:spPr bwMode="auto">
          <a:xfrm flipV="1">
            <a:off x="2187818" y="5293614"/>
            <a:ext cx="10258" cy="49045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27669" name="Text Box 25"/>
          <p:cNvSpPr txBox="1">
            <a:spLocks noChangeArrowheads="1"/>
          </p:cNvSpPr>
          <p:nvPr/>
        </p:nvSpPr>
        <p:spPr bwMode="auto">
          <a:xfrm>
            <a:off x="1802044" y="5820097"/>
            <a:ext cx="7537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en-GB" alt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</a:t>
            </a:r>
            <a:r>
              <a:rPr lang="en-GB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2520461" y="5293611"/>
            <a:ext cx="1068265" cy="1234271"/>
            <a:chOff x="1669" y="3521"/>
            <a:chExt cx="729" cy="1062"/>
          </a:xfrm>
        </p:grpSpPr>
        <p:sp>
          <p:nvSpPr>
            <p:cNvPr id="27666" name="Line 27"/>
            <p:cNvSpPr>
              <a:spLocks noChangeShapeType="1"/>
            </p:cNvSpPr>
            <p:nvPr/>
          </p:nvSpPr>
          <p:spPr bwMode="auto">
            <a:xfrm flipV="1">
              <a:off x="1941" y="3521"/>
              <a:ext cx="7" cy="42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67" name="Text Box 28"/>
            <p:cNvSpPr txBox="1">
              <a:spLocks noChangeArrowheads="1"/>
            </p:cNvSpPr>
            <p:nvPr/>
          </p:nvSpPr>
          <p:spPr bwMode="auto">
            <a:xfrm>
              <a:off x="1669" y="3974"/>
              <a:ext cx="729" cy="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1pPr>
              <a:lvl2pPr marL="742950" indent="-28575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2pPr>
              <a:lvl3pPr marL="11430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3pPr>
              <a:lvl4pPr marL="16002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4pPr>
              <a:lvl5pPr marL="2057400" indent="-228600"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bg2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dirty="0">
                  <a:solidFill>
                    <a:schemeClr val="hlin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V1 x </a:t>
              </a:r>
              <a:r>
                <a:rPr lang="en-GB" altLang="en-US" dirty="0" err="1" smtClean="0">
                  <a:solidFill>
                    <a:schemeClr val="hlin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</a:t>
              </a:r>
              <a:endParaRPr lang="en-GB" altLang="en-US" dirty="0" smtClean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GB" altLang="en-US" dirty="0" smtClean="0">
                  <a:solidFill>
                    <a:schemeClr val="hlin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(PPI)</a:t>
              </a:r>
              <a:endParaRPr lang="en-US" altLang="en-US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2941" name="Text Box 29"/>
          <p:cNvSpPr txBox="1">
            <a:spLocks noChangeArrowheads="1"/>
          </p:cNvSpPr>
          <p:nvPr/>
        </p:nvSpPr>
        <p:spPr bwMode="auto">
          <a:xfrm>
            <a:off x="1248508" y="1341438"/>
            <a:ext cx="18774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bg2"/>
                </a:solidFill>
                <a:latin typeface="Times New Roman" pitchFamily="18" charset="0"/>
              </a:defRPr>
            </a:lvl1pPr>
            <a:lvl2pPr marL="742950" indent="-285750">
              <a:defRPr sz="2000">
                <a:solidFill>
                  <a:schemeClr val="bg2"/>
                </a:solidFill>
                <a:latin typeface="Times New Roman" pitchFamily="18" charset="0"/>
              </a:defRPr>
            </a:lvl2pPr>
            <a:lvl3pPr marL="11430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3pPr>
            <a:lvl4pPr marL="16002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4pPr>
            <a:lvl5pPr marL="2057400" indent="-228600">
              <a:defRPr sz="2000">
                <a:solidFill>
                  <a:schemeClr val="bg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2"/>
                </a:solidFill>
                <a:latin typeface="Times New Roman" pitchFamily="18" charset="0"/>
              </a:defRPr>
            </a:lvl9pPr>
          </a:lstStyle>
          <a:p>
            <a:r>
              <a:rPr lang="en-GB" altLang="en-US" sz="2400" dirty="0">
                <a:solidFill>
                  <a:schemeClr val="tx1"/>
                </a:solidFill>
              </a:rPr>
              <a:t> 0       </a:t>
            </a:r>
            <a:r>
              <a:rPr lang="en-GB" altLang="en-US" sz="2400" dirty="0" smtClean="0">
                <a:solidFill>
                  <a:schemeClr val="tx1"/>
                </a:solidFill>
              </a:rPr>
              <a:t> </a:t>
            </a:r>
            <a:r>
              <a:rPr lang="en-GB" altLang="en-US" sz="2400" dirty="0">
                <a:solidFill>
                  <a:schemeClr val="tx1"/>
                </a:solidFill>
              </a:rPr>
              <a:t>0    </a:t>
            </a:r>
            <a:r>
              <a:rPr lang="en-GB" altLang="en-US" sz="2400" dirty="0" smtClean="0">
                <a:solidFill>
                  <a:schemeClr val="tx1"/>
                </a:solidFill>
              </a:rPr>
              <a:t>   </a:t>
            </a:r>
            <a:r>
              <a:rPr lang="en-GB" altLang="en-US" sz="2400" dirty="0">
                <a:solidFill>
                  <a:schemeClr val="tx1"/>
                </a:solidFill>
              </a:rPr>
              <a:t>1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0" y="80628"/>
            <a:ext cx="4427984" cy="106237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2. PPIs</a:t>
            </a:r>
            <a:endParaRPr lang="en-US" altLang="en-US" sz="36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93424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0" grpId="0" animBg="1"/>
      <p:bldP spid="27671" grpId="0"/>
      <p:bldP spid="27668" grpId="0" animBg="1"/>
      <p:bldP spid="27669" grpId="0"/>
      <p:bldP spid="4229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"/>
          <p:cNvSpPr txBox="1">
            <a:spLocks noChangeArrowheads="1"/>
          </p:cNvSpPr>
          <p:nvPr/>
        </p:nvSpPr>
        <p:spPr>
          <a:xfrm>
            <a:off x="103641" y="1412776"/>
            <a:ext cx="5972074" cy="5184576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eaLnBrk="1" hangingPunct="1">
              <a:lnSpc>
                <a:spcPct val="120000"/>
              </a:lnSpc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1"/>
                </a:solidFill>
                <a:latin typeface="Arial Unicode MS" pitchFamily="34" charset="-128"/>
              </a:rPr>
              <a:t>PPI term is: </a:t>
            </a:r>
          </a:p>
          <a:p>
            <a:pPr marL="342900" indent="-342900" algn="l" eaLnBrk="1" hangingPunct="1">
              <a:lnSpc>
                <a:spcPct val="120000"/>
              </a:lnSpc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1"/>
                </a:solidFill>
                <a:latin typeface="Arial Unicode MS" pitchFamily="34" charset="-128"/>
              </a:rPr>
              <a:t>True neural interaction is: </a:t>
            </a:r>
          </a:p>
          <a:p>
            <a:pPr marL="342900" indent="-342900" algn="l" eaLnBrk="1" hangingPunct="1">
              <a:lnSpc>
                <a:spcPct val="120000"/>
              </a:lnSpc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1"/>
                </a:solidFill>
                <a:latin typeface="Arial Unicode MS" pitchFamily="34" charset="-128"/>
              </a:rPr>
              <a:t>While:</a:t>
            </a:r>
            <a:endParaRPr lang="en-GB" altLang="en-US" sz="1800" dirty="0">
              <a:solidFill>
                <a:schemeClr val="tx1"/>
              </a:solidFill>
              <a:latin typeface="Arial Unicode MS" pitchFamily="34" charset="-128"/>
            </a:endParaRPr>
          </a:p>
          <a:p>
            <a:pPr marL="360000" algn="l" eaLnBrk="1" hangingPunct="1">
              <a:lnSpc>
                <a:spcPct val="120000"/>
              </a:lnSpc>
              <a:spcBef>
                <a:spcPts val="4800"/>
              </a:spcBef>
            </a:pPr>
            <a:r>
              <a:rPr lang="en-GB" altLang="en-US" sz="1800" dirty="0" smtClean="0">
                <a:solidFill>
                  <a:schemeClr val="tx1"/>
                </a:solidFill>
                <a:latin typeface="Arial Unicode MS" pitchFamily="34" charset="-128"/>
              </a:rPr>
              <a:t>when          is low-frequency (</a:t>
            </a:r>
            <a:r>
              <a:rPr lang="en-GB" altLang="en-US" sz="1800" dirty="0" err="1" smtClean="0">
                <a:solidFill>
                  <a:schemeClr val="tx1"/>
                </a:solidFill>
                <a:latin typeface="Arial Unicode MS" pitchFamily="34" charset="-128"/>
              </a:rPr>
              <a:t>e.g</a:t>
            </a:r>
            <a:r>
              <a:rPr lang="en-GB" altLang="en-US" sz="1800" dirty="0" smtClean="0">
                <a:solidFill>
                  <a:schemeClr val="tx1"/>
                </a:solidFill>
                <a:latin typeface="Arial Unicode MS" pitchFamily="34" charset="-128"/>
              </a:rPr>
              <a:t>, blocked)...</a:t>
            </a:r>
          </a:p>
          <a:p>
            <a:pPr marL="360000" algn="l" eaLnBrk="1" hangingPunct="1">
              <a:lnSpc>
                <a:spcPct val="120000"/>
              </a:lnSpc>
              <a:spcBef>
                <a:spcPts val="0"/>
              </a:spcBef>
            </a:pPr>
            <a:r>
              <a:rPr lang="en-GB" altLang="en-US" sz="1800" dirty="0" smtClean="0">
                <a:solidFill>
                  <a:schemeClr val="tx1"/>
                </a:solidFill>
                <a:latin typeface="Arial Unicode MS" pitchFamily="34" charset="-128"/>
              </a:rPr>
              <a:t>...not case when high-frequency (e.g., event-related)</a:t>
            </a:r>
          </a:p>
          <a:p>
            <a:pPr marL="342900" indent="-342900" algn="l" eaLnBrk="1" hangingPunct="1">
              <a:lnSpc>
                <a:spcPct val="120000"/>
              </a:lnSpc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1"/>
                </a:solidFill>
                <a:latin typeface="Arial Unicode MS" pitchFamily="34" charset="-128"/>
              </a:rPr>
              <a:t>So PPI only really suitable for slow (blocked) designs (“</a:t>
            </a:r>
            <a:r>
              <a:rPr lang="en-GB" altLang="en-US" sz="1800" dirty="0" err="1" smtClean="0">
                <a:solidFill>
                  <a:schemeClr val="tx1"/>
                </a:solidFill>
                <a:latin typeface="Arial Unicode MS" pitchFamily="34" charset="-128"/>
              </a:rPr>
              <a:t>gPPI</a:t>
            </a:r>
            <a:r>
              <a:rPr lang="en-GB" altLang="en-US" sz="1800" dirty="0" smtClean="0">
                <a:solidFill>
                  <a:schemeClr val="tx1"/>
                </a:solidFill>
                <a:latin typeface="Arial Unicode MS" pitchFamily="34" charset="-128"/>
              </a:rPr>
              <a:t>” option, but no true deconvolution – need forward model like in DCM...)</a:t>
            </a:r>
            <a:endParaRPr lang="en-GB" altLang="en-US" sz="1800" dirty="0">
              <a:solidFill>
                <a:schemeClr val="tx1"/>
              </a:solidFill>
              <a:latin typeface="Arial Unicode MS" pitchFamily="34" charset="-128"/>
            </a:endParaRPr>
          </a:p>
          <a:p>
            <a:pPr marL="342900" indent="-342900" algn="l" eaLnBrk="1" hangingPunct="1">
              <a:lnSpc>
                <a:spcPct val="120000"/>
              </a:lnSpc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1"/>
                </a:solidFill>
                <a:latin typeface="Arial Unicode MS" pitchFamily="34" charset="-128"/>
              </a:rPr>
              <a:t>(Similar problem with “Beta-series regression” – where short SOAs make separation of neural activity tricky...)</a:t>
            </a:r>
          </a:p>
          <a:p>
            <a:pPr marL="342900" indent="-342900" algn="l" eaLnBrk="1" hangingPunct="1">
              <a:lnSpc>
                <a:spcPct val="120000"/>
              </a:lnSpc>
              <a:spcBef>
                <a:spcPct val="80000"/>
              </a:spcBef>
              <a:buFont typeface="Arial" panose="020B0604020202020204" pitchFamily="34" charset="0"/>
              <a:buChar char="•"/>
            </a:pPr>
            <a:endParaRPr lang="de-CH" altLang="en-US" sz="1800" dirty="0" smtClean="0">
              <a:solidFill>
                <a:schemeClr val="tx1"/>
              </a:solidFill>
              <a:latin typeface="Arial Unicode MS" pitchFamily="34" charset="-128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103641" y="0"/>
            <a:ext cx="4252335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de-CH" altLang="en-US" sz="2800" b="1" dirty="0">
                <a:latin typeface="Arial Unicode MS" pitchFamily="34" charset="-128"/>
              </a:rPr>
              <a:t>2</a:t>
            </a:r>
            <a:r>
              <a:rPr lang="de-CH" altLang="en-US" sz="2800" b="1" dirty="0" smtClean="0">
                <a:latin typeface="Arial Unicode MS" pitchFamily="34" charset="-128"/>
              </a:rPr>
              <a:t>. PPI problem with brief psychological factors...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87824" y="1508383"/>
                <a:ext cx="334746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𝑃h𝑦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𝐻𝑅𝐹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)×(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𝑃𝑠𝑦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𝐻𝑅𝐹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1508383"/>
                <a:ext cx="3347464" cy="276999"/>
              </a:xfrm>
              <a:prstGeom prst="rect">
                <a:avLst/>
              </a:prstGeom>
              <a:blipFill>
                <a:blip r:embed="rId2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03848" y="2023686"/>
                <a:ext cx="205222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𝑃h𝑦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𝑃𝑠𝑦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𝐻𝑅𝐹</m:t>
                      </m:r>
                    </m:oMath>
                  </m:oMathPara>
                </a14:m>
                <a:endParaRPr lang="en-GB" dirty="0" smtClean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2023686"/>
                <a:ext cx="2052228" cy="276999"/>
              </a:xfrm>
              <a:prstGeom prst="rect">
                <a:avLst/>
              </a:prstGeom>
              <a:blipFill>
                <a:blip r:embed="rId3"/>
                <a:stretch>
                  <a:fillRect l="-893" t="-2222" b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6230" y="3055294"/>
                <a:ext cx="553369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𝑃h𝑦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𝐻𝑅𝐹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)×(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𝑃𝑠𝑦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𝐻𝑅𝐹</m:t>
                          </m:r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𝑃h𝑦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𝑃𝑠𝑦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𝐻𝑅𝐹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30" y="3055294"/>
                <a:ext cx="5533692" cy="553998"/>
              </a:xfrm>
              <a:prstGeom prst="rect">
                <a:avLst/>
              </a:prstGeom>
              <a:blipFill>
                <a:blip r:embed="rId4"/>
                <a:stretch>
                  <a:fillRect t="-10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43608" y="3542141"/>
                <a:ext cx="67569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𝑃𝑠𝑦</m:t>
                      </m:r>
                    </m:oMath>
                  </m:oMathPara>
                </a14:m>
                <a:endParaRPr lang="en-GB" dirty="0" smtClean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542141"/>
                <a:ext cx="675692" cy="276999"/>
              </a:xfrm>
              <a:prstGeom prst="rect">
                <a:avLst/>
              </a:prstGeom>
              <a:blipFill>
                <a:blip r:embed="rId5"/>
                <a:stretch>
                  <a:fillRect b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172" y="4222093"/>
            <a:ext cx="3016940" cy="22312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715" y="1521699"/>
            <a:ext cx="3016940" cy="22312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1521793"/>
            <a:ext cx="3016940" cy="22312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060" y="4222093"/>
            <a:ext cx="3016940" cy="223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630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 bldLvl="5" autoUpdateAnimBg="0"/>
      <p:bldP spid="7" grpId="0"/>
      <p:bldP spid="8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424863" cy="4070350"/>
          </a:xfrm>
          <a:solidFill>
            <a:schemeClr val="bg1"/>
          </a:solidFill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>
                <a:latin typeface="Arial Unicode MS" pitchFamily="34" charset="-128"/>
              </a:rPr>
              <a:t>Direct experimental interventions (</a:t>
            </a:r>
            <a:r>
              <a:rPr lang="en-US" altLang="en-US" sz="2400" dirty="0" err="1">
                <a:latin typeface="Arial Unicode MS" pitchFamily="34" charset="-128"/>
              </a:rPr>
              <a:t>e.g</a:t>
            </a:r>
            <a:r>
              <a:rPr lang="en-US" altLang="en-US" sz="2400" dirty="0">
                <a:latin typeface="Arial Unicode MS" pitchFamily="34" charset="-128"/>
              </a:rPr>
              <a:t>, lesion, drugs)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Indirect </a:t>
            </a:r>
            <a:r>
              <a:rPr lang="en-US" altLang="en-US" sz="2400" dirty="0">
                <a:solidFill>
                  <a:srgbClr val="FF0000"/>
                </a:solidFill>
                <a:latin typeface="Arial Unicode MS" pitchFamily="34" charset="-128"/>
              </a:rPr>
              <a:t>experimental manipulations (</a:t>
            </a:r>
            <a:r>
              <a:rPr lang="en-US" altLang="en-US" sz="2400" dirty="0" err="1">
                <a:solidFill>
                  <a:srgbClr val="FF0000"/>
                </a:solidFill>
                <a:latin typeface="Arial Unicode MS" pitchFamily="34" charset="-128"/>
              </a:rPr>
              <a:t>e.g</a:t>
            </a:r>
            <a:r>
              <a:rPr lang="en-US" altLang="en-US" sz="2400" dirty="0">
                <a:solidFill>
                  <a:srgbClr val="FF0000"/>
                </a:solidFill>
                <a:latin typeface="Arial Unicode MS" pitchFamily="34" charset="-128"/>
              </a:rPr>
              <a:t>, PPI, DCM)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Network model inference (</a:t>
            </a:r>
            <a:r>
              <a:rPr lang="en-US" altLang="en-US" sz="2400" dirty="0" err="1" smtClean="0">
                <a:solidFill>
                  <a:srgbClr val="FF0000"/>
                </a:solidFill>
                <a:latin typeface="Arial Unicode MS" pitchFamily="34" charset="-128"/>
              </a:rPr>
              <a:t>e.g</a:t>
            </a: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, SEM, DCM)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  <a:latin typeface="Arial Unicode MS" pitchFamily="34" charset="-128"/>
              </a:rPr>
              <a:t>Temporal precedence (</a:t>
            </a:r>
            <a:r>
              <a:rPr lang="en-US" altLang="en-US" sz="2400" dirty="0" err="1">
                <a:solidFill>
                  <a:srgbClr val="FF0000"/>
                </a:solidFill>
                <a:latin typeface="Arial Unicode MS" pitchFamily="34" charset="-128"/>
              </a:rPr>
              <a:t>e.g</a:t>
            </a:r>
            <a:r>
              <a:rPr lang="en-US" altLang="en-US" sz="2400" dirty="0">
                <a:solidFill>
                  <a:srgbClr val="FF0000"/>
                </a:solidFill>
                <a:latin typeface="Arial Unicode MS" pitchFamily="34" charset="-128"/>
              </a:rPr>
              <a:t>, Granger Causality, DCM)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 smtClean="0">
                <a:latin typeface="Arial Unicode MS" pitchFamily="34" charset="-128"/>
              </a:rPr>
              <a:t>…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xfrm>
            <a:off x="107504" y="188913"/>
            <a:ext cx="4140460" cy="1143000"/>
          </a:xfrm>
        </p:spPr>
        <p:txBody>
          <a:bodyPr/>
          <a:lstStyle/>
          <a:p>
            <a:pPr eaLnBrk="1" hangingPunct="1"/>
            <a:r>
              <a:rPr lang="de-CH" altLang="en-US" sz="2800" b="1" dirty="0" smtClean="0">
                <a:latin typeface="Arial Unicode MS" pitchFamily="34" charset="-128"/>
              </a:rPr>
              <a:t>Effective-connectivity:</a:t>
            </a:r>
            <a:br>
              <a:rPr lang="de-CH" altLang="en-US" sz="2800" b="1" dirty="0" smtClean="0">
                <a:latin typeface="Arial Unicode MS" pitchFamily="34" charset="-128"/>
              </a:rPr>
            </a:br>
            <a:r>
              <a:rPr lang="de-CH" altLang="en-US" sz="2800" b="1" dirty="0" smtClean="0">
                <a:latin typeface="Arial Unicode MS" pitchFamily="34" charset="-128"/>
              </a:rPr>
              <a:t>Definitions of Causality?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603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2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424863" cy="4070350"/>
          </a:xfrm>
          <a:solidFill>
            <a:schemeClr val="bg1"/>
          </a:solidFill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Direct experimental interventions (</a:t>
            </a:r>
            <a:r>
              <a:rPr lang="en-US" altLang="en-US" sz="2400" dirty="0" err="1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e.g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, lesion, drugs)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Indirect 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experimental manipulations (</a:t>
            </a:r>
            <a:r>
              <a:rPr lang="en-US" altLang="en-US" sz="2400" dirty="0" err="1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e.g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, PPI, DCM)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Network model inference (</a:t>
            </a:r>
            <a:r>
              <a:rPr lang="en-US" altLang="en-US" sz="2400" dirty="0" err="1" smtClean="0">
                <a:solidFill>
                  <a:srgbClr val="FF0000"/>
                </a:solidFill>
                <a:latin typeface="Arial Unicode MS" pitchFamily="34" charset="-128"/>
              </a:rPr>
              <a:t>e.g</a:t>
            </a: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, SEM, DCM)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Temporal precedence (</a:t>
            </a:r>
            <a:r>
              <a:rPr lang="en-US" altLang="en-US" sz="2400" dirty="0" err="1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e.g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, Granger Causality, DCM)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 smtClean="0">
                <a:latin typeface="Arial Unicode MS" pitchFamily="34" charset="-128"/>
              </a:rPr>
              <a:t>…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107504" y="188913"/>
            <a:ext cx="4140460" cy="1143000"/>
          </a:xfrm>
        </p:spPr>
        <p:txBody>
          <a:bodyPr/>
          <a:lstStyle/>
          <a:p>
            <a:pPr eaLnBrk="1" hangingPunct="1"/>
            <a:r>
              <a:rPr lang="de-CH" altLang="en-US" sz="2800" b="1" dirty="0" smtClean="0">
                <a:latin typeface="Arial Unicode MS" pitchFamily="34" charset="-128"/>
              </a:rPr>
              <a:t>Effective-connectivity:</a:t>
            </a:r>
            <a:br>
              <a:rPr lang="de-CH" altLang="en-US" sz="2800" b="1" dirty="0" smtClean="0">
                <a:latin typeface="Arial Unicode MS" pitchFamily="34" charset="-128"/>
              </a:rPr>
            </a:br>
            <a:r>
              <a:rPr lang="de-CH" altLang="en-US" sz="2800" b="1" dirty="0" smtClean="0">
                <a:latin typeface="Arial Unicode MS" pitchFamily="34" charset="-128"/>
              </a:rPr>
              <a:t>Definitions of Causality?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527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27038" y="1587500"/>
            <a:ext cx="4041774" cy="215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GB" altLang="en-US" sz="2000" dirty="0"/>
              <a:t>No connection between B and C,</a:t>
            </a:r>
          </a:p>
          <a:p>
            <a:r>
              <a:rPr lang="en-GB" altLang="en-US" sz="2000" dirty="0"/>
              <a:t>yet B and C correlated because of common input from A, </a:t>
            </a:r>
            <a:r>
              <a:rPr lang="en-GB" altLang="en-US" sz="2000" dirty="0" err="1"/>
              <a:t>eg</a:t>
            </a:r>
            <a:r>
              <a:rPr lang="en-GB" altLang="en-US" sz="2000" dirty="0"/>
              <a:t>:</a:t>
            </a:r>
          </a:p>
          <a:p>
            <a:endParaRPr lang="en-GB" altLang="en-US" sz="2000" dirty="0"/>
          </a:p>
          <a:p>
            <a:r>
              <a:rPr lang="en-US" altLang="en-US" dirty="0"/>
              <a:t>A = V1 fMRI time-series</a:t>
            </a:r>
          </a:p>
          <a:p>
            <a:r>
              <a:rPr lang="en-US" altLang="en-US" dirty="0"/>
              <a:t>B = 0.5 * A + e1</a:t>
            </a:r>
          </a:p>
          <a:p>
            <a:r>
              <a:rPr lang="en-US" altLang="en-US" dirty="0"/>
              <a:t>C = 0.3 * A + e2</a:t>
            </a: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6873875" y="1514475"/>
            <a:ext cx="23368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2000">
                <a:latin typeface="Arial Rounded MT Bold" pitchFamily="34" charset="0"/>
              </a:rPr>
              <a:t>Correlations: </a:t>
            </a:r>
          </a:p>
          <a:p>
            <a:endParaRPr lang="en-US" altLang="en-US" sz="2000">
              <a:latin typeface="Arial Rounded MT Bold" pitchFamily="34" charset="0"/>
            </a:endParaRPr>
          </a:p>
          <a:p>
            <a:r>
              <a:rPr lang="en-US" altLang="en-US" sz="2000">
                <a:latin typeface="Arial Rounded MT Bold" pitchFamily="34" charset="0"/>
              </a:rPr>
              <a:t>A	B	C</a:t>
            </a:r>
          </a:p>
          <a:p>
            <a:r>
              <a:rPr lang="en-US" altLang="en-US" sz="2000">
                <a:latin typeface="Arial Rounded MT Bold" pitchFamily="34" charset="0"/>
              </a:rPr>
              <a:t>1	</a:t>
            </a:r>
          </a:p>
          <a:p>
            <a:r>
              <a:rPr lang="en-US" altLang="en-US" sz="2000">
                <a:latin typeface="Arial Rounded MT Bold" pitchFamily="34" charset="0"/>
              </a:rPr>
              <a:t>0.49	1</a:t>
            </a:r>
          </a:p>
          <a:p>
            <a:r>
              <a:rPr lang="en-US" altLang="en-US" sz="2000">
                <a:latin typeface="Arial Rounded MT Bold" pitchFamily="34" charset="0"/>
              </a:rPr>
              <a:t>0.30	0.12	1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562225" y="3124200"/>
            <a:ext cx="3803650" cy="3111500"/>
            <a:chOff x="1614" y="1968"/>
            <a:chExt cx="2396" cy="1960"/>
          </a:xfrm>
        </p:grpSpPr>
        <p:grpSp>
          <p:nvGrpSpPr>
            <p:cNvPr id="30740" name="Group 8"/>
            <p:cNvGrpSpPr>
              <a:grpSpLocks/>
            </p:cNvGrpSpPr>
            <p:nvPr/>
          </p:nvGrpSpPr>
          <p:grpSpPr bwMode="auto">
            <a:xfrm>
              <a:off x="1614" y="2528"/>
              <a:ext cx="732" cy="560"/>
              <a:chOff x="128" y="2744"/>
              <a:chExt cx="760" cy="560"/>
            </a:xfrm>
          </p:grpSpPr>
          <p:sp>
            <p:nvSpPr>
              <p:cNvPr id="30751" name="Oval 9"/>
              <p:cNvSpPr>
                <a:spLocks noChangeArrowheads="1"/>
              </p:cNvSpPr>
              <p:nvPr/>
            </p:nvSpPr>
            <p:spPr bwMode="auto">
              <a:xfrm>
                <a:off x="128" y="2744"/>
                <a:ext cx="760" cy="560"/>
              </a:xfrm>
              <a:prstGeom prst="ellipse">
                <a:avLst/>
              </a:prstGeom>
              <a:gradFill rotWithShape="0">
                <a:gsLst>
                  <a:gs pos="0">
                    <a:srgbClr val="00DFCA"/>
                  </a:gs>
                  <a:gs pos="100000">
                    <a:srgbClr val="002D28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2" name="Rectangle 10"/>
              <p:cNvSpPr>
                <a:spLocks noChangeArrowheads="1"/>
              </p:cNvSpPr>
              <p:nvPr/>
            </p:nvSpPr>
            <p:spPr bwMode="auto">
              <a:xfrm>
                <a:off x="344" y="2819"/>
                <a:ext cx="318" cy="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r>
                  <a:rPr lang="en-US" altLang="en-US" sz="3600">
                    <a:solidFill>
                      <a:srgbClr val="FAFD00"/>
                    </a:solidFill>
                  </a:rPr>
                  <a:t>A</a:t>
                </a:r>
              </a:p>
            </p:txBody>
          </p:sp>
        </p:grpSp>
        <p:grpSp>
          <p:nvGrpSpPr>
            <p:cNvPr id="30741" name="Group 11"/>
            <p:cNvGrpSpPr>
              <a:grpSpLocks/>
            </p:cNvGrpSpPr>
            <p:nvPr/>
          </p:nvGrpSpPr>
          <p:grpSpPr bwMode="auto">
            <a:xfrm>
              <a:off x="3278" y="1968"/>
              <a:ext cx="732" cy="560"/>
              <a:chOff x="1856" y="2184"/>
              <a:chExt cx="760" cy="560"/>
            </a:xfrm>
          </p:grpSpPr>
          <p:sp>
            <p:nvSpPr>
              <p:cNvPr id="30749" name="Oval 12"/>
              <p:cNvSpPr>
                <a:spLocks noChangeArrowheads="1"/>
              </p:cNvSpPr>
              <p:nvPr/>
            </p:nvSpPr>
            <p:spPr bwMode="auto">
              <a:xfrm>
                <a:off x="1856" y="2184"/>
                <a:ext cx="760" cy="560"/>
              </a:xfrm>
              <a:prstGeom prst="ellipse">
                <a:avLst/>
              </a:prstGeom>
              <a:gradFill rotWithShape="0">
                <a:gsLst>
                  <a:gs pos="0">
                    <a:srgbClr val="00DFCA"/>
                  </a:gs>
                  <a:gs pos="100000">
                    <a:srgbClr val="002D28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0" name="Rectangle 13"/>
              <p:cNvSpPr>
                <a:spLocks noChangeArrowheads="1"/>
              </p:cNvSpPr>
              <p:nvPr/>
            </p:nvSpPr>
            <p:spPr bwMode="auto">
              <a:xfrm>
                <a:off x="2072" y="2259"/>
                <a:ext cx="318" cy="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r>
                  <a:rPr lang="en-US" altLang="en-US" sz="3600">
                    <a:solidFill>
                      <a:srgbClr val="FAFD00"/>
                    </a:solidFill>
                  </a:rPr>
                  <a:t>B</a:t>
                </a:r>
              </a:p>
            </p:txBody>
          </p:sp>
        </p:grpSp>
        <p:grpSp>
          <p:nvGrpSpPr>
            <p:cNvPr id="30742" name="Group 14"/>
            <p:cNvGrpSpPr>
              <a:grpSpLocks/>
            </p:cNvGrpSpPr>
            <p:nvPr/>
          </p:nvGrpSpPr>
          <p:grpSpPr bwMode="auto">
            <a:xfrm>
              <a:off x="2731" y="3368"/>
              <a:ext cx="732" cy="560"/>
              <a:chOff x="1288" y="3584"/>
              <a:chExt cx="760" cy="560"/>
            </a:xfrm>
          </p:grpSpPr>
          <p:sp>
            <p:nvSpPr>
              <p:cNvPr id="30747" name="Oval 15"/>
              <p:cNvSpPr>
                <a:spLocks noChangeArrowheads="1"/>
              </p:cNvSpPr>
              <p:nvPr/>
            </p:nvSpPr>
            <p:spPr bwMode="auto">
              <a:xfrm>
                <a:off x="1288" y="3584"/>
                <a:ext cx="760" cy="560"/>
              </a:xfrm>
              <a:prstGeom prst="ellipse">
                <a:avLst/>
              </a:prstGeom>
              <a:gradFill rotWithShape="0">
                <a:gsLst>
                  <a:gs pos="0">
                    <a:srgbClr val="00DFCA"/>
                  </a:gs>
                  <a:gs pos="100000">
                    <a:srgbClr val="002D28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48" name="Rectangle 16"/>
              <p:cNvSpPr>
                <a:spLocks noChangeArrowheads="1"/>
              </p:cNvSpPr>
              <p:nvPr/>
            </p:nvSpPr>
            <p:spPr bwMode="auto">
              <a:xfrm>
                <a:off x="1504" y="3659"/>
                <a:ext cx="338" cy="4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r>
                  <a:rPr lang="en-US" altLang="en-US" sz="3600">
                    <a:solidFill>
                      <a:srgbClr val="FAFD00"/>
                    </a:solidFill>
                  </a:rPr>
                  <a:t>C</a:t>
                </a:r>
              </a:p>
            </p:txBody>
          </p:sp>
        </p:grpSp>
        <p:sp>
          <p:nvSpPr>
            <p:cNvPr id="30743" name="Line 17"/>
            <p:cNvSpPr>
              <a:spLocks noChangeShapeType="1"/>
            </p:cNvSpPr>
            <p:nvPr/>
          </p:nvSpPr>
          <p:spPr bwMode="auto">
            <a:xfrm flipV="1">
              <a:off x="2454" y="2352"/>
              <a:ext cx="693" cy="296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44" name="Line 18"/>
            <p:cNvSpPr>
              <a:spLocks noChangeShapeType="1"/>
            </p:cNvSpPr>
            <p:nvPr/>
          </p:nvSpPr>
          <p:spPr bwMode="auto">
            <a:xfrm>
              <a:off x="2346" y="3048"/>
              <a:ext cx="331" cy="376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45" name="Rectangle 19"/>
            <p:cNvSpPr>
              <a:spLocks noChangeArrowheads="1"/>
            </p:cNvSpPr>
            <p:nvPr/>
          </p:nvSpPr>
          <p:spPr bwMode="auto">
            <a:xfrm>
              <a:off x="2426" y="2200"/>
              <a:ext cx="4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r>
                <a:rPr lang="en-US" altLang="en-US" sz="2000"/>
                <a:t>0.49</a:t>
              </a:r>
            </a:p>
          </p:txBody>
        </p:sp>
        <p:sp>
          <p:nvSpPr>
            <p:cNvPr id="30746" name="Rectangle 20"/>
            <p:cNvSpPr>
              <a:spLocks noChangeArrowheads="1"/>
            </p:cNvSpPr>
            <p:nvPr/>
          </p:nvSpPr>
          <p:spPr bwMode="auto">
            <a:xfrm>
              <a:off x="2010" y="3312"/>
              <a:ext cx="4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r>
                <a:rPr lang="en-US" altLang="en-US" sz="2000"/>
                <a:t>0.31</a:t>
              </a:r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5276852" y="4292600"/>
            <a:ext cx="1163638" cy="1039813"/>
            <a:chOff x="3324" y="2704"/>
            <a:chExt cx="733" cy="655"/>
          </a:xfrm>
        </p:grpSpPr>
        <p:sp>
          <p:nvSpPr>
            <p:cNvPr id="30737" name="Line 22"/>
            <p:cNvSpPr>
              <a:spLocks noChangeShapeType="1"/>
            </p:cNvSpPr>
            <p:nvPr/>
          </p:nvSpPr>
          <p:spPr bwMode="auto">
            <a:xfrm flipH="1">
              <a:off x="3324" y="2704"/>
              <a:ext cx="270" cy="520"/>
            </a:xfrm>
            <a:prstGeom prst="line">
              <a:avLst/>
            </a:prstGeom>
            <a:noFill/>
            <a:ln w="50800">
              <a:solidFill>
                <a:srgbClr val="C1CE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38" name="Rectangle 23"/>
            <p:cNvSpPr>
              <a:spLocks noChangeArrowheads="1"/>
            </p:cNvSpPr>
            <p:nvPr/>
          </p:nvSpPr>
          <p:spPr bwMode="auto">
            <a:xfrm>
              <a:off x="3443" y="2888"/>
              <a:ext cx="4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C1CEFF"/>
                  </a:solidFill>
                </a:rPr>
                <a:t>-0.02</a:t>
              </a:r>
            </a:p>
          </p:txBody>
        </p:sp>
        <p:sp>
          <p:nvSpPr>
            <p:cNvPr id="30739" name="Rectangle 24"/>
            <p:cNvSpPr>
              <a:spLocks noChangeArrowheads="1"/>
            </p:cNvSpPr>
            <p:nvPr/>
          </p:nvSpPr>
          <p:spPr bwMode="auto">
            <a:xfrm>
              <a:off x="3458" y="3186"/>
              <a:ext cx="59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r>
                <a:rPr lang="en-US" altLang="en-US" sz="1200">
                  <a:solidFill>
                    <a:srgbClr val="C1CEFF"/>
                  </a:solidFill>
                </a:rPr>
                <a:t></a:t>
              </a:r>
              <a:r>
                <a:rPr lang="en-US" altLang="en-US" sz="1200" baseline="30000">
                  <a:solidFill>
                    <a:srgbClr val="C1CEFF"/>
                  </a:solidFill>
                </a:rPr>
                <a:t>2</a:t>
              </a:r>
              <a:r>
                <a:rPr lang="en-US" altLang="en-US" sz="1200">
                  <a:solidFill>
                    <a:srgbClr val="C1CEFF"/>
                  </a:solidFill>
                </a:rPr>
                <a:t>=0.5, ns.</a:t>
              </a:r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5481638" y="3025775"/>
            <a:ext cx="3203575" cy="2759075"/>
            <a:chOff x="3453" y="1906"/>
            <a:chExt cx="2018" cy="1738"/>
          </a:xfrm>
        </p:grpSpPr>
        <p:sp>
          <p:nvSpPr>
            <p:cNvPr id="30733" name="Oval 26"/>
            <p:cNvSpPr>
              <a:spLocks noChangeArrowheads="1"/>
            </p:cNvSpPr>
            <p:nvPr/>
          </p:nvSpPr>
          <p:spPr bwMode="auto">
            <a:xfrm>
              <a:off x="4881" y="1906"/>
              <a:ext cx="478" cy="296"/>
            </a:xfrm>
            <a:prstGeom prst="ellips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734" name="Arc 27"/>
            <p:cNvSpPr>
              <a:spLocks/>
            </p:cNvSpPr>
            <p:nvPr/>
          </p:nvSpPr>
          <p:spPr bwMode="auto">
            <a:xfrm rot="-6660000">
              <a:off x="3447" y="2734"/>
              <a:ext cx="916" cy="904"/>
            </a:xfrm>
            <a:custGeom>
              <a:avLst/>
              <a:gdLst>
                <a:gd name="T0" fmla="*/ 2 w 21600"/>
                <a:gd name="T1" fmla="*/ 2 h 21600"/>
                <a:gd name="T2" fmla="*/ 0 w 21600"/>
                <a:gd name="T3" fmla="*/ 0 h 21600"/>
                <a:gd name="T4" fmla="*/ 2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9050">
              <a:solidFill>
                <a:schemeClr val="hlink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532" name="Rectangle 28"/>
            <p:cNvSpPr>
              <a:spLocks noChangeArrowheads="1"/>
            </p:cNvSpPr>
            <p:nvPr/>
          </p:nvSpPr>
          <p:spPr bwMode="auto">
            <a:xfrm>
              <a:off x="4093" y="2979"/>
              <a:ext cx="1378" cy="52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defRPr/>
              </a:pPr>
              <a:r>
                <a:rPr lang="en-US" sz="2400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Functional connectivity</a:t>
              </a:r>
            </a:p>
          </p:txBody>
        </p:sp>
        <p:sp>
          <p:nvSpPr>
            <p:cNvPr id="30736" name="Arc 29"/>
            <p:cNvSpPr>
              <a:spLocks/>
            </p:cNvSpPr>
            <p:nvPr/>
          </p:nvSpPr>
          <p:spPr bwMode="auto">
            <a:xfrm rot="-6660000">
              <a:off x="4593" y="2215"/>
              <a:ext cx="585" cy="1105"/>
            </a:xfrm>
            <a:custGeom>
              <a:avLst/>
              <a:gdLst>
                <a:gd name="T0" fmla="*/ 1 w 16088"/>
                <a:gd name="T1" fmla="*/ 3 h 21600"/>
                <a:gd name="T2" fmla="*/ 0 w 16088"/>
                <a:gd name="T3" fmla="*/ 2 h 21600"/>
                <a:gd name="T4" fmla="*/ 1 w 16088"/>
                <a:gd name="T5" fmla="*/ 0 h 21600"/>
                <a:gd name="T6" fmla="*/ 0 60000 65536"/>
                <a:gd name="T7" fmla="*/ 0 60000 65536"/>
                <a:gd name="T8" fmla="*/ 0 60000 65536"/>
                <a:gd name="T9" fmla="*/ 0 w 16088"/>
                <a:gd name="T10" fmla="*/ 0 h 21600"/>
                <a:gd name="T11" fmla="*/ 16088 w 160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088" h="21600" fill="none" extrusionOk="0">
                  <a:moveTo>
                    <a:pt x="16088" y="21600"/>
                  </a:moveTo>
                  <a:cubicBezTo>
                    <a:pt x="9947" y="21600"/>
                    <a:pt x="4097" y="18986"/>
                    <a:pt x="-1" y="14413"/>
                  </a:cubicBezTo>
                </a:path>
                <a:path w="16088" h="21600" stroke="0" extrusionOk="0">
                  <a:moveTo>
                    <a:pt x="16088" y="21600"/>
                  </a:moveTo>
                  <a:cubicBezTo>
                    <a:pt x="9947" y="21600"/>
                    <a:pt x="4097" y="18986"/>
                    <a:pt x="-1" y="14413"/>
                  </a:cubicBezTo>
                  <a:lnTo>
                    <a:pt x="16088" y="0"/>
                  </a:lnTo>
                  <a:close/>
                </a:path>
              </a:pathLst>
            </a:custGeom>
            <a:noFill/>
            <a:ln w="19050">
              <a:solidFill>
                <a:schemeClr val="hlink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520700" y="4108451"/>
            <a:ext cx="3705225" cy="2238376"/>
            <a:chOff x="328" y="2588"/>
            <a:chExt cx="2334" cy="1410"/>
          </a:xfrm>
        </p:grpSpPr>
        <p:sp>
          <p:nvSpPr>
            <p:cNvPr id="149535" name="Rectangle 31"/>
            <p:cNvSpPr>
              <a:spLocks noChangeArrowheads="1"/>
            </p:cNvSpPr>
            <p:nvPr/>
          </p:nvSpPr>
          <p:spPr bwMode="auto">
            <a:xfrm>
              <a:off x="328" y="3709"/>
              <a:ext cx="1926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sz="2400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Effective connectivity</a:t>
              </a:r>
            </a:p>
          </p:txBody>
        </p:sp>
        <p:sp>
          <p:nvSpPr>
            <p:cNvPr id="30731" name="Line 32"/>
            <p:cNvSpPr>
              <a:spLocks noChangeShapeType="1"/>
            </p:cNvSpPr>
            <p:nvPr/>
          </p:nvSpPr>
          <p:spPr bwMode="auto">
            <a:xfrm flipV="1">
              <a:off x="1663" y="2588"/>
              <a:ext cx="999" cy="1146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32" name="Line 33"/>
            <p:cNvSpPr>
              <a:spLocks noChangeShapeType="1"/>
            </p:cNvSpPr>
            <p:nvPr/>
          </p:nvSpPr>
          <p:spPr bwMode="auto">
            <a:xfrm flipV="1">
              <a:off x="1655" y="3236"/>
              <a:ext cx="861" cy="506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107504" y="116632"/>
            <a:ext cx="4284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de-CH" altLang="en-US" sz="2800" b="1" dirty="0" smtClean="0">
                <a:latin typeface="Arial Unicode MS" pitchFamily="34" charset="-128"/>
              </a:rPr>
              <a:t>Functional vs Effective connectivity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6365875" y="6120735"/>
            <a:ext cx="2707344" cy="705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GB" altLang="en-US" sz="2000" i="1" dirty="0" smtClean="0">
                <a:solidFill>
                  <a:srgbClr val="FF0000"/>
                </a:solidFill>
              </a:rPr>
              <a:t>Partial</a:t>
            </a:r>
            <a:r>
              <a:rPr lang="en-GB" altLang="en-US" sz="2000" dirty="0" smtClean="0">
                <a:solidFill>
                  <a:srgbClr val="FF0000"/>
                </a:solidFill>
              </a:rPr>
              <a:t> Correlation is approximate way</a:t>
            </a:r>
            <a:endParaRPr lang="en-US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8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79036" y="1143000"/>
            <a:ext cx="8856663" cy="514985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 smtClean="0">
                <a:latin typeface="Arial Unicode MS" pitchFamily="34" charset="-128"/>
              </a:rPr>
              <a:t>(Bivariate) correlations do not use an explicit network (graph) model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 smtClean="0">
                <a:latin typeface="Arial Unicode MS" pitchFamily="34" charset="-128"/>
              </a:rPr>
              <a:t>Can use </a:t>
            </a:r>
            <a:r>
              <a:rPr lang="de-CH" altLang="en-US" sz="2000" b="1" i="1" dirty="0" smtClean="0">
                <a:latin typeface="Arial Unicode MS" pitchFamily="34" charset="-128"/>
              </a:rPr>
              <a:t>partial</a:t>
            </a:r>
            <a:r>
              <a:rPr lang="de-CH" altLang="en-US" sz="2000" dirty="0" smtClean="0">
                <a:latin typeface="Arial Unicode MS" pitchFamily="34" charset="-128"/>
              </a:rPr>
              <a:t> correlation to adjust for all other connections within a </a:t>
            </a:r>
            <a:r>
              <a:rPr lang="de-CH" altLang="en-US" sz="2000" dirty="0">
                <a:latin typeface="Arial Unicode MS" pitchFamily="34" charset="-128"/>
              </a:rPr>
              <a:t>graph (Smith et al, </a:t>
            </a:r>
            <a:r>
              <a:rPr lang="de-CH" altLang="en-US" sz="2000" dirty="0" smtClean="0">
                <a:latin typeface="Arial Unicode MS" pitchFamily="34" charset="-128"/>
              </a:rPr>
              <a:t>2011; but often requires regularisation and can remove true connections)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de-CH" altLang="en-US" sz="2000" dirty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 smtClean="0">
                <a:latin typeface="Arial Unicode MS" pitchFamily="34" charset="-128"/>
              </a:rPr>
              <a:t>Multivariate methods like Structural Equation Modelling (SEM) can test different network models, by simply comparing </a:t>
            </a:r>
            <a:r>
              <a:rPr lang="de-CH" altLang="en-US" sz="2000" i="1" dirty="0" smtClean="0">
                <a:latin typeface="Arial Unicode MS" pitchFamily="34" charset="-128"/>
              </a:rPr>
              <a:t>predicted</a:t>
            </a:r>
            <a:r>
              <a:rPr lang="de-CH" altLang="en-US" sz="2000" dirty="0" smtClean="0">
                <a:latin typeface="Arial Unicode MS" pitchFamily="34" charset="-128"/>
              </a:rPr>
              <a:t> with </a:t>
            </a:r>
            <a:r>
              <a:rPr lang="de-CH" altLang="en-US" sz="2000" i="1" dirty="0" smtClean="0">
                <a:latin typeface="Arial Unicode MS" pitchFamily="34" charset="-128"/>
              </a:rPr>
              <a:t>observed</a:t>
            </a:r>
            <a:r>
              <a:rPr lang="de-CH" altLang="en-US" sz="2000" dirty="0" smtClean="0">
                <a:latin typeface="Arial Unicode MS" pitchFamily="34" charset="-128"/>
              </a:rPr>
              <a:t> covariance matrices, but...</a:t>
            </a:r>
          </a:p>
          <a:p>
            <a:pPr lvl="1" eaLnBrk="1" hangingPunct="1">
              <a:spcBef>
                <a:spcPts val="600"/>
              </a:spcBef>
            </a:pPr>
            <a:r>
              <a:rPr lang="de-CH" altLang="en-US" sz="1800" dirty="0" smtClean="0">
                <a:latin typeface="Arial Unicode MS" pitchFamily="34" charset="-128"/>
              </a:rPr>
              <a:t>has no dynamical model (stationary covariances)</a:t>
            </a:r>
          </a:p>
          <a:p>
            <a:pPr lvl="1" eaLnBrk="1" hangingPunct="1">
              <a:spcBef>
                <a:spcPts val="600"/>
              </a:spcBef>
            </a:pPr>
            <a:r>
              <a:rPr lang="de-CH" altLang="en-US" sz="1800" dirty="0" smtClean="0">
                <a:latin typeface="Arial Unicode MS" pitchFamily="34" charset="-128"/>
              </a:rPr>
              <a:t>has no neural-BOLD model</a:t>
            </a:r>
          </a:p>
          <a:p>
            <a:pPr lvl="1" eaLnBrk="1" hangingPunct="1">
              <a:spcBef>
                <a:spcPts val="600"/>
              </a:spcBef>
            </a:pPr>
            <a:r>
              <a:rPr lang="de-CH" altLang="en-US" sz="1800" dirty="0" smtClean="0">
                <a:latin typeface="Arial Unicode MS" pitchFamily="34" charset="-128"/>
              </a:rPr>
              <a:t>cannot test some graphs, eg loops (no temporal definition of direction)</a:t>
            </a:r>
          </a:p>
          <a:p>
            <a:pPr lvl="1" eaLnBrk="1" hangingPunct="1">
              <a:spcBef>
                <a:spcPts val="600"/>
              </a:spcBef>
            </a:pPr>
            <a:r>
              <a:rPr lang="de-CH" altLang="en-US" sz="1800" dirty="0" smtClean="0">
                <a:latin typeface="Arial Unicode MS" pitchFamily="34" charset="-128"/>
              </a:rPr>
              <a:t>restricted to classical inference comparing nested models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3754760" cy="1143000"/>
          </a:xfrm>
        </p:spPr>
        <p:txBody>
          <a:bodyPr/>
          <a:lstStyle/>
          <a:p>
            <a:pPr eaLnBrk="1" hangingPunct="1"/>
            <a:r>
              <a:rPr lang="de-CH" altLang="en-US" sz="2800" b="1" dirty="0">
                <a:latin typeface="Arial Unicode MS" pitchFamily="34" charset="-128"/>
              </a:rPr>
              <a:t>3</a:t>
            </a:r>
            <a:r>
              <a:rPr lang="de-CH" altLang="en-US" sz="2800" b="1" dirty="0" smtClean="0">
                <a:latin typeface="Arial Unicode MS" pitchFamily="34" charset="-128"/>
              </a:rPr>
              <a:t>. Explicit Network Models of Causality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943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424863" cy="4070350"/>
          </a:xfrm>
          <a:solidFill>
            <a:schemeClr val="bg1"/>
          </a:solidFill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Direct experimental interventions (</a:t>
            </a:r>
            <a:r>
              <a:rPr lang="en-US" altLang="en-US" sz="2400" dirty="0" err="1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e.g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, lesion, drugs)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Indirect 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experimental manipulations (</a:t>
            </a:r>
            <a:r>
              <a:rPr lang="en-US" altLang="en-US" sz="2400" dirty="0" err="1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e.g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, PPI, DCM)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Network model inference (</a:t>
            </a:r>
            <a:r>
              <a:rPr lang="en-US" altLang="en-US" sz="2400" dirty="0" err="1" smtClean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e.g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Arial Unicode MS" pitchFamily="34" charset="-128"/>
              </a:rPr>
              <a:t>, SEM, DCM)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  <a:latin typeface="Arial Unicode MS" pitchFamily="34" charset="-128"/>
              </a:rPr>
              <a:t>Temporal precedence (</a:t>
            </a:r>
            <a:r>
              <a:rPr lang="en-US" altLang="en-US" sz="2400" dirty="0" err="1">
                <a:solidFill>
                  <a:srgbClr val="FF0000"/>
                </a:solidFill>
                <a:latin typeface="Arial Unicode MS" pitchFamily="34" charset="-128"/>
              </a:rPr>
              <a:t>e.g</a:t>
            </a:r>
            <a:r>
              <a:rPr lang="en-US" altLang="en-US" sz="2400" dirty="0">
                <a:solidFill>
                  <a:srgbClr val="FF0000"/>
                </a:solidFill>
                <a:latin typeface="Arial Unicode MS" pitchFamily="34" charset="-128"/>
              </a:rPr>
              <a:t>, Granger Causality, DCM)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dirty="0" smtClean="0">
                <a:latin typeface="Arial Unicode MS" pitchFamily="34" charset="-128"/>
              </a:rPr>
              <a:t>…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107504" y="188913"/>
            <a:ext cx="4140460" cy="1143000"/>
          </a:xfrm>
        </p:spPr>
        <p:txBody>
          <a:bodyPr/>
          <a:lstStyle/>
          <a:p>
            <a:pPr eaLnBrk="1" hangingPunct="1"/>
            <a:r>
              <a:rPr lang="de-CH" altLang="en-US" sz="2800" b="1" dirty="0" smtClean="0">
                <a:latin typeface="Arial Unicode MS" pitchFamily="34" charset="-128"/>
              </a:rPr>
              <a:t>Effective-connectivity:</a:t>
            </a:r>
            <a:br>
              <a:rPr lang="de-CH" altLang="en-US" sz="2800" b="1" dirty="0" smtClean="0">
                <a:latin typeface="Arial Unicode MS" pitchFamily="34" charset="-128"/>
              </a:rPr>
            </a:br>
            <a:r>
              <a:rPr lang="de-CH" altLang="en-US" sz="2800" b="1" dirty="0" smtClean="0">
                <a:latin typeface="Arial Unicode MS" pitchFamily="34" charset="-128"/>
              </a:rPr>
              <a:t>Definitions of Causality?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095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205038"/>
            <a:ext cx="28575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55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988" y="2205038"/>
            <a:ext cx="3552825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Rectangle 8"/>
          <p:cNvSpPr>
            <a:spLocks noGrp="1" noChangeArrowheads="1"/>
          </p:cNvSpPr>
          <p:nvPr>
            <p:ph type="title"/>
          </p:nvPr>
        </p:nvSpPr>
        <p:spPr>
          <a:xfrm>
            <a:off x="359532" y="18256"/>
            <a:ext cx="3923928" cy="1143000"/>
          </a:xfrm>
          <a:noFill/>
        </p:spPr>
        <p:txBody>
          <a:bodyPr/>
          <a:lstStyle/>
          <a:p>
            <a:pPr eaLnBrk="1" hangingPunct="1"/>
            <a:r>
              <a:rPr lang="de-CH" alt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4. Temporal definition of Causality</a:t>
            </a:r>
            <a:endParaRPr lang="en-US" altLang="en-US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187450" y="1196975"/>
            <a:ext cx="2808288" cy="936625"/>
          </a:xfrm>
          <a:solidFill>
            <a:schemeClr val="bg1"/>
          </a:solidFill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 sz="2000" smtClean="0"/>
              <a:t>Stationary</a:t>
            </a:r>
          </a:p>
          <a:p>
            <a:pPr algn="ctr" eaLnBrk="1" hangingPunct="1">
              <a:buFontTx/>
              <a:buNone/>
            </a:pPr>
            <a:r>
              <a:rPr lang="en-US" altLang="en-US" sz="2000" smtClean="0"/>
              <a:t>(correlations, SEM)</a:t>
            </a:r>
          </a:p>
        </p:txBody>
      </p:sp>
      <p:sp>
        <p:nvSpPr>
          <p:cNvPr id="151562" name="Rectangle 10"/>
          <p:cNvSpPr>
            <a:spLocks noChangeArrowheads="1"/>
          </p:cNvSpPr>
          <p:nvPr/>
        </p:nvSpPr>
        <p:spPr bwMode="auto">
          <a:xfrm>
            <a:off x="5484813" y="1196975"/>
            <a:ext cx="2808287" cy="936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2000"/>
              <a:t>Dynamic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altLang="en-US" sz="2000"/>
              <a:t>(Granger, DCM)</a:t>
            </a:r>
          </a:p>
        </p:txBody>
      </p:sp>
      <p:sp>
        <p:nvSpPr>
          <p:cNvPr id="33799" name="Line 11"/>
          <p:cNvSpPr>
            <a:spLocks noChangeShapeType="1"/>
          </p:cNvSpPr>
          <p:nvPr/>
        </p:nvSpPr>
        <p:spPr bwMode="auto">
          <a:xfrm>
            <a:off x="539750" y="2492375"/>
            <a:ext cx="0" cy="33845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00" name="Text Box 12"/>
          <p:cNvSpPr txBox="1">
            <a:spLocks noChangeArrowheads="1"/>
          </p:cNvSpPr>
          <p:nvPr/>
        </p:nvSpPr>
        <p:spPr bwMode="auto">
          <a:xfrm rot="-5400000">
            <a:off x="-54768" y="3952081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GB" altLang="en-US"/>
              <a:t>Time</a:t>
            </a:r>
          </a:p>
        </p:txBody>
      </p:sp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1943100" y="6469950"/>
            <a:ext cx="7200900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7782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0"/>
              </a:spcBef>
            </a:pPr>
            <a:r>
              <a:rPr lang="en-GB" altLang="en-US">
                <a:solidFill>
                  <a:srgbClr val="FF0000"/>
                </a:solidFill>
                <a:latin typeface="Arial Unicode MS" pitchFamily="34" charset="-128"/>
              </a:rPr>
              <a:t>(“unfolding” in time is one way to infer direction of connectivity)</a:t>
            </a:r>
          </a:p>
        </p:txBody>
      </p:sp>
    </p:spTree>
    <p:extLst>
      <p:ext uri="{BB962C8B-B14F-4D97-AF65-F5344CB8AC3E}">
        <p14:creationId xmlns:p14="http://schemas.microsoft.com/office/powerpoint/2010/main" val="304399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2" grpId="0" build="p" autoUpdateAnimBg="0"/>
      <p:bldP spid="15156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1412875"/>
            <a:ext cx="8856663" cy="514985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 smtClean="0">
                <a:latin typeface="Arial Unicode MS" pitchFamily="34" charset="-128"/>
              </a:rPr>
              <a:t>Problem with time-based measures of connectivity arises with fMRI: </a:t>
            </a:r>
            <a:r>
              <a:rPr lang="de-CH" altLang="en-US" sz="2000" dirty="0" smtClean="0">
                <a:solidFill>
                  <a:srgbClr val="FF0000"/>
                </a:solidFill>
                <a:latin typeface="Arial Unicode MS" pitchFamily="34" charset="-128"/>
              </a:rPr>
              <a:t>BOLD</a:t>
            </a:r>
            <a:r>
              <a:rPr lang="de-CH" altLang="en-US" sz="2000" dirty="0" smtClean="0">
                <a:latin typeface="Arial Unicode MS" pitchFamily="34" charset="-128"/>
              </a:rPr>
              <a:t> timeseries is not direct reflection of </a:t>
            </a:r>
            <a:r>
              <a:rPr lang="de-CH" altLang="en-US" sz="2000" dirty="0" smtClean="0">
                <a:solidFill>
                  <a:srgbClr val="FF0000"/>
                </a:solidFill>
                <a:latin typeface="Arial Unicode MS" pitchFamily="34" charset="-128"/>
              </a:rPr>
              <a:t>Neural</a:t>
            </a:r>
            <a:r>
              <a:rPr lang="de-CH" altLang="en-US" sz="2000" dirty="0" smtClean="0">
                <a:latin typeface="Arial Unicode MS" pitchFamily="34" charset="-128"/>
              </a:rPr>
              <a:t> timeseries </a:t>
            </a:r>
          </a:p>
          <a:p>
            <a:pPr lvl="1"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1800" dirty="0" smtClean="0">
                <a:latin typeface="Arial Unicode MS" pitchFamily="34" charset="-128"/>
              </a:rPr>
              <a:t>(e.g, peak BOLD response in motor cortex can precede that in visual cortex in a visually-cued motor task, owing to different neural-BOLD mappings)</a:t>
            </a:r>
          </a:p>
          <a:p>
            <a:pPr lvl="1" eaLnBrk="1" hangingPunct="1">
              <a:lnSpc>
                <a:spcPct val="120000"/>
              </a:lnSpc>
              <a:spcBef>
                <a:spcPct val="80000"/>
              </a:spcBef>
            </a:pPr>
            <a:endParaRPr lang="de-CH" altLang="en-US" sz="1800" dirty="0" smtClean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 smtClean="0">
                <a:latin typeface="Arial Unicode MS" pitchFamily="34" charset="-128"/>
              </a:rPr>
              <a:t>This compromises methods like Granger Causality and Multivariate Auto-Regressive models (MAR) that operate directly on fMRI data 		</a:t>
            </a:r>
            <a:r>
              <a:rPr lang="de-CH" altLang="en-US" sz="1800" dirty="0" smtClean="0">
                <a:latin typeface="Arial Unicode MS" pitchFamily="34" charset="-128"/>
              </a:rPr>
              <a:t>(Friston, 2010; Smith et al, 2011)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endParaRPr lang="de-CH" altLang="en-US" sz="1800" dirty="0" smtClean="0">
              <a:latin typeface="Arial Unicode MS" pitchFamily="34" charset="-128"/>
            </a:endParaRP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de-CH" altLang="en-US" sz="2000" dirty="0" smtClean="0">
                <a:latin typeface="Arial Unicode MS" pitchFamily="34" charset="-128"/>
              </a:rPr>
              <a:t>(Note that this does not preclude these methods (eg MAR) for MEG/EEG timeseries, assuming these are more direct measures of neural activity)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142875" y="0"/>
            <a:ext cx="4213101" cy="1143000"/>
          </a:xfrm>
        </p:spPr>
        <p:txBody>
          <a:bodyPr/>
          <a:lstStyle/>
          <a:p>
            <a:pPr eaLnBrk="1" hangingPunct="1"/>
            <a:r>
              <a:rPr lang="de-CH" altLang="en-US" sz="3200" b="1" dirty="0" smtClean="0">
                <a:latin typeface="Arial Unicode MS" pitchFamily="34" charset="-128"/>
              </a:rPr>
              <a:t>4. Note on temporal causality and fMRI</a:t>
            </a:r>
            <a:endParaRPr lang="en-US" altLang="en-US" sz="32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781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4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4313" y="1519238"/>
            <a:ext cx="8713787" cy="5186126"/>
          </a:xfrm>
          <a:solidFill>
            <a:schemeClr val="bg1"/>
          </a:solidFill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AutoNum type="arabicPeriod"/>
            </a:pPr>
            <a:r>
              <a:rPr lang="en-US" altLang="en-US" sz="2400" i="1" dirty="0" smtClean="0">
                <a:solidFill>
                  <a:srgbClr val="FF0000"/>
                </a:solidFill>
                <a:latin typeface="Arial Unicode MS" pitchFamily="34" charset="-128"/>
              </a:rPr>
              <a:t>Dynamic:</a:t>
            </a: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 based on first-order differential equations </a:t>
            </a:r>
          </a:p>
          <a:p>
            <a:pPr marL="990600" lvl="1" indent="-533400" eaLnBrk="1" hangingPunct="1">
              <a:lnSpc>
                <a:spcPct val="120000"/>
              </a:lnSpc>
              <a:spcBef>
                <a:spcPct val="40000"/>
              </a:spcBef>
              <a:buFontTx/>
              <a:buNone/>
            </a:pP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	</a:t>
            </a:r>
            <a:r>
              <a:rPr lang="en-US" altLang="en-US" sz="1800" dirty="0" smtClean="0">
                <a:solidFill>
                  <a:srgbClr val="FF0000"/>
                </a:solidFill>
                <a:latin typeface="Arial Unicode MS" pitchFamily="34" charset="-128"/>
              </a:rPr>
              <a:t>- at level of neural activity, with separate </a:t>
            </a:r>
            <a:r>
              <a:rPr lang="en-US" altLang="en-US" sz="1800" dirty="0" err="1" smtClean="0">
                <a:solidFill>
                  <a:srgbClr val="FF0000"/>
                </a:solidFill>
                <a:latin typeface="Arial Unicode MS" pitchFamily="34" charset="-128"/>
              </a:rPr>
              <a:t>haemodynamic</a:t>
            </a:r>
            <a:r>
              <a:rPr lang="en-US" altLang="en-US" sz="1800" dirty="0" smtClean="0">
                <a:solidFill>
                  <a:srgbClr val="FF0000"/>
                </a:solidFill>
                <a:latin typeface="Arial Unicode MS" pitchFamily="34" charset="-128"/>
              </a:rPr>
              <a:t> model for fMRI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120000"/>
              </a:spcBef>
              <a:buFontTx/>
              <a:buAutoNum type="arabicPeriod"/>
            </a:pPr>
            <a:r>
              <a:rPr lang="en-US" altLang="en-US" sz="2400" i="1" dirty="0" smtClean="0">
                <a:solidFill>
                  <a:srgbClr val="FF0000"/>
                </a:solidFill>
                <a:latin typeface="Arial Unicode MS" pitchFamily="34" charset="-128"/>
              </a:rPr>
              <a:t>Causal:</a:t>
            </a: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 based on explicit directed graph models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120000"/>
              </a:spcBef>
              <a:buFontTx/>
              <a:buAutoNum type="arabicPeriod"/>
            </a:pPr>
            <a:r>
              <a:rPr lang="en-US" altLang="en-US" sz="2400" i="1" dirty="0" smtClean="0">
                <a:solidFill>
                  <a:srgbClr val="FF0000"/>
                </a:solidFill>
                <a:latin typeface="Arial Unicode MS" pitchFamily="34" charset="-128"/>
              </a:rPr>
              <a:t>Modelling:</a:t>
            </a: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 designed to test experimental manipulations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40000"/>
              </a:spcBef>
              <a:buFontTx/>
              <a:buNone/>
            </a:pP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		</a:t>
            </a:r>
            <a:r>
              <a:rPr lang="en-US" altLang="en-US" sz="1800" dirty="0" smtClean="0">
                <a:solidFill>
                  <a:srgbClr val="FF0000"/>
                </a:solidFill>
                <a:latin typeface="Arial Unicode MS" pitchFamily="34" charset="-128"/>
              </a:rPr>
              <a:t>- “bilinear” approximation to interactive dynamics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80000"/>
              </a:spcBef>
              <a:buFontTx/>
              <a:buNone/>
            </a:pPr>
            <a:r>
              <a:rPr lang="en-US" altLang="en-US" sz="2400" dirty="0" smtClean="0">
                <a:latin typeface="Arial Unicode MS" pitchFamily="34" charset="-128"/>
              </a:rPr>
              <a:t>4.</a:t>
            </a:r>
            <a:r>
              <a:rPr lang="en-US" altLang="en-US" sz="2400" dirty="0" smtClean="0">
                <a:solidFill>
                  <a:srgbClr val="FF0000"/>
                </a:solidFill>
                <a:latin typeface="Arial Unicode MS" pitchFamily="34" charset="-128"/>
              </a:rPr>
              <a:t>    </a:t>
            </a:r>
            <a:r>
              <a:rPr lang="en-US" altLang="en-US" sz="2400" dirty="0" smtClean="0">
                <a:latin typeface="Arial Unicode MS" pitchFamily="34" charset="-128"/>
              </a:rPr>
              <a:t>(Estimated in a Bayesian context, allowing regularized estimation through priors, formal comparison of any number/type of models, etc...)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-360548" y="188640"/>
            <a:ext cx="5076564" cy="1143000"/>
          </a:xfrm>
        </p:spPr>
        <p:txBody>
          <a:bodyPr/>
          <a:lstStyle/>
          <a:p>
            <a:pPr eaLnBrk="1" hangingPunct="1"/>
            <a:r>
              <a:rPr lang="de-CH" altLang="en-US" sz="2800" b="1" dirty="0" smtClean="0">
                <a:latin typeface="Arial Unicode MS" pitchFamily="34" charset="-128"/>
              </a:rPr>
              <a:t>=&gt; Development of DCM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187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type="title"/>
          </p:nvPr>
        </p:nvSpPr>
        <p:spPr>
          <a:xfrm>
            <a:off x="317501" y="44450"/>
            <a:ext cx="4002471" cy="1143000"/>
          </a:xfrm>
        </p:spPr>
        <p:txBody>
          <a:bodyPr/>
          <a:lstStyle/>
          <a:p>
            <a:pPr eaLnBrk="1" hangingPunct="1"/>
            <a:r>
              <a:rPr lang="de-CH" altLang="en-US" sz="3200" b="1" dirty="0" smtClean="0">
                <a:latin typeface="Arial Unicode MS" pitchFamily="34" charset="-128"/>
              </a:rPr>
              <a:t>Rough comparison of popular methods?</a:t>
            </a:r>
            <a:endParaRPr lang="en-US" altLang="en-US" sz="3200" b="1" dirty="0" smtClean="0">
              <a:latin typeface="Arial Unicode MS" pitchFamily="34" charset="-128"/>
            </a:endParaRPr>
          </a:p>
        </p:txBody>
      </p:sp>
      <p:graphicFrame>
        <p:nvGraphicFramePr>
          <p:cNvPr id="42065" name="Group 8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9944248"/>
              </p:ext>
            </p:extLst>
          </p:nvPr>
        </p:nvGraphicFramePr>
        <p:xfrm>
          <a:off x="1143000" y="1844636"/>
          <a:ext cx="6417330" cy="3888620"/>
        </p:xfrm>
        <a:graphic>
          <a:graphicData uri="http://schemas.openxmlformats.org/drawingml/2006/table">
            <a:tbl>
              <a:tblPr/>
              <a:tblGrid>
                <a:gridCol w="1283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3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3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3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2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Experimental modulation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Temporal/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Dynamical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Network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model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Haemodynamic Model (for fMRI)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9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Correlation /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ICA / PCA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6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BSR 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PPI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Y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6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Granger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Y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6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SEM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Y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6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DCM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Y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Y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Y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Y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97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0" y="2204863"/>
            <a:ext cx="8856663" cy="3731857"/>
          </a:xfrm>
          <a:solidFill>
            <a:schemeClr val="bg1"/>
          </a:solidFill>
        </p:spPr>
        <p:txBody>
          <a:bodyPr/>
          <a:lstStyle/>
          <a:p>
            <a:pPr lvl="1" eaLnBrk="1" hangingPunct="1">
              <a:lnSpc>
                <a:spcPct val="120000"/>
              </a:lnSpc>
              <a:spcBef>
                <a:spcPct val="80000"/>
              </a:spcBef>
              <a:spcAft>
                <a:spcPts val="1800"/>
              </a:spcAft>
            </a:pPr>
            <a:r>
              <a:rPr lang="en-GB" altLang="en-US" sz="2000" b="1" dirty="0">
                <a:latin typeface="Arial Unicode MS" pitchFamily="34" charset="-128"/>
              </a:rPr>
              <a:t>Multi-dimensional</a:t>
            </a:r>
            <a:r>
              <a:rPr lang="en-GB" altLang="en-US" sz="2000" dirty="0">
                <a:latin typeface="Arial Unicode MS" pitchFamily="34" charset="-128"/>
              </a:rPr>
              <a:t> </a:t>
            </a:r>
            <a:r>
              <a:rPr lang="en-GB" altLang="en-US" sz="2000" dirty="0" smtClean="0">
                <a:latin typeface="Arial Unicode MS" pitchFamily="34" charset="-128"/>
              </a:rPr>
              <a:t>(pattern-based) </a:t>
            </a:r>
            <a:r>
              <a:rPr lang="en-GB" altLang="en-US" sz="2000" dirty="0" err="1" smtClean="0">
                <a:latin typeface="Arial Unicode MS" pitchFamily="34" charset="-128"/>
              </a:rPr>
              <a:t>fC</a:t>
            </a:r>
            <a:r>
              <a:rPr lang="en-GB" altLang="en-US" sz="2000" dirty="0" smtClean="0">
                <a:latin typeface="Arial Unicode MS" pitchFamily="34" charset="-128"/>
              </a:rPr>
              <a:t> (e.g., </a:t>
            </a:r>
            <a:r>
              <a:rPr lang="en-GB" altLang="en-US" sz="2000" dirty="0" err="1" smtClean="0">
                <a:latin typeface="Arial Unicode MS" pitchFamily="34" charset="-128"/>
              </a:rPr>
              <a:t>Basti</a:t>
            </a:r>
            <a:r>
              <a:rPr lang="en-GB" altLang="en-US" sz="2000" dirty="0" smtClean="0">
                <a:latin typeface="Arial Unicode MS" pitchFamily="34" charset="-128"/>
              </a:rPr>
              <a:t> </a:t>
            </a:r>
            <a:r>
              <a:rPr lang="en-GB" altLang="en-US" sz="2000" dirty="0">
                <a:latin typeface="Arial Unicode MS" pitchFamily="34" charset="-128"/>
              </a:rPr>
              <a:t>et al., </a:t>
            </a:r>
            <a:r>
              <a:rPr lang="en-GB" altLang="en-US" sz="2000" dirty="0" smtClean="0">
                <a:latin typeface="Arial Unicode MS" pitchFamily="34" charset="-128"/>
              </a:rPr>
              <a:t>2020, </a:t>
            </a:r>
            <a:r>
              <a:rPr lang="en-GB" altLang="en-US" sz="2000" dirty="0" smtClean="0">
                <a:latin typeface="Arial Unicode MS" pitchFamily="34" charset="-128"/>
                <a:hlinkClick r:id="rId3"/>
              </a:rPr>
              <a:t>https</a:t>
            </a:r>
            <a:r>
              <a:rPr lang="en-GB" altLang="en-US" sz="2000" dirty="0">
                <a:latin typeface="Arial Unicode MS" pitchFamily="34" charset="-128"/>
                <a:hlinkClick r:id="rId3"/>
              </a:rPr>
              <a:t>://</a:t>
            </a:r>
            <a:r>
              <a:rPr lang="en-GB" altLang="en-US" sz="2000" dirty="0" smtClean="0">
                <a:latin typeface="Arial Unicode MS" pitchFamily="34" charset="-128"/>
                <a:hlinkClick r:id="rId3"/>
              </a:rPr>
              <a:t>doi.org/10.1016/j.neuroimage.2020.117179</a:t>
            </a:r>
            <a:r>
              <a:rPr lang="en-GB" altLang="en-US" sz="2000" dirty="0" smtClean="0">
                <a:latin typeface="Arial Unicode MS" pitchFamily="34" charset="-128"/>
              </a:rPr>
              <a:t>)</a:t>
            </a:r>
            <a:endParaRPr lang="en-GB" altLang="en-US" sz="2000" dirty="0">
              <a:latin typeface="Arial Unicode MS" pitchFamily="34" charset="-128"/>
            </a:endParaRPr>
          </a:p>
          <a:p>
            <a:pPr lvl="1" eaLnBrk="1" hangingPunct="1">
              <a:lnSpc>
                <a:spcPct val="120000"/>
              </a:lnSpc>
              <a:spcBef>
                <a:spcPct val="80000"/>
              </a:spcBef>
              <a:spcAft>
                <a:spcPts val="1800"/>
              </a:spcAft>
            </a:pPr>
            <a:r>
              <a:rPr lang="en-GB" altLang="en-US" sz="2000" b="1" dirty="0">
                <a:latin typeface="Arial Unicode MS" pitchFamily="34" charset="-128"/>
              </a:rPr>
              <a:t>Dynamic</a:t>
            </a:r>
            <a:r>
              <a:rPr lang="en-GB" altLang="en-US" sz="2000" dirty="0">
                <a:latin typeface="Arial Unicode MS" pitchFamily="34" charset="-128"/>
              </a:rPr>
              <a:t> </a:t>
            </a:r>
            <a:r>
              <a:rPr lang="en-GB" altLang="en-US" sz="2000" dirty="0" err="1" smtClean="0">
                <a:latin typeface="Arial Unicode MS" pitchFamily="34" charset="-128"/>
              </a:rPr>
              <a:t>fC</a:t>
            </a:r>
            <a:r>
              <a:rPr lang="en-GB" altLang="en-US" sz="2000" dirty="0" smtClean="0">
                <a:latin typeface="Arial Unicode MS" pitchFamily="34" charset="-128"/>
              </a:rPr>
              <a:t> (</a:t>
            </a:r>
            <a:r>
              <a:rPr lang="en-GB" altLang="en-US" sz="2000" dirty="0" err="1" smtClean="0">
                <a:latin typeface="Arial Unicode MS" pitchFamily="34" charset="-128"/>
              </a:rPr>
              <a:t>e.g</a:t>
            </a:r>
            <a:r>
              <a:rPr lang="en-GB" altLang="en-US" sz="2000" dirty="0" smtClean="0">
                <a:latin typeface="Arial Unicode MS" pitchFamily="34" charset="-128"/>
              </a:rPr>
              <a:t> moving windows or Hidden </a:t>
            </a:r>
            <a:r>
              <a:rPr lang="en-GB" altLang="en-US" sz="2000" dirty="0">
                <a:latin typeface="Arial Unicode MS" pitchFamily="34" charset="-128"/>
              </a:rPr>
              <a:t>Markov Models, </a:t>
            </a:r>
            <a:r>
              <a:rPr lang="en-GB" altLang="en-US" sz="2000" dirty="0" err="1" smtClean="0">
                <a:latin typeface="Arial Unicode MS" pitchFamily="34" charset="-128"/>
              </a:rPr>
              <a:t>eg</a:t>
            </a:r>
            <a:r>
              <a:rPr lang="en-GB" altLang="en-US" sz="2000" dirty="0" smtClean="0">
                <a:latin typeface="Arial Unicode MS" pitchFamily="34" charset="-128"/>
              </a:rPr>
              <a:t> review: </a:t>
            </a:r>
            <a:r>
              <a:rPr lang="en-GB" altLang="en-US" sz="2000" dirty="0" smtClean="0">
                <a:latin typeface="Arial Unicode MS" pitchFamily="34" charset="-128"/>
                <a:hlinkClick r:id="rId4"/>
              </a:rPr>
              <a:t>https</a:t>
            </a:r>
            <a:r>
              <a:rPr lang="en-GB" altLang="en-US" sz="2000" dirty="0">
                <a:latin typeface="Arial Unicode MS" pitchFamily="34" charset="-128"/>
                <a:hlinkClick r:id="rId4"/>
              </a:rPr>
              <a:t>://pmc.ncbi.nlm.nih.gov/articles/PMC3807588</a:t>
            </a:r>
            <a:r>
              <a:rPr lang="en-GB" altLang="en-US" sz="2000" dirty="0" smtClean="0">
                <a:latin typeface="Arial Unicode MS" pitchFamily="34" charset="-128"/>
                <a:hlinkClick r:id="rId4"/>
              </a:rPr>
              <a:t>/</a:t>
            </a:r>
            <a:r>
              <a:rPr lang="en-GB" altLang="en-US" sz="2000" dirty="0" smtClean="0">
                <a:latin typeface="Arial Unicode MS" pitchFamily="34" charset="-128"/>
              </a:rPr>
              <a:t>)</a:t>
            </a:r>
            <a:endParaRPr lang="en-GB" altLang="en-US" sz="2000" dirty="0">
              <a:latin typeface="Arial Unicode MS" pitchFamily="34" charset="-128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80000"/>
              </a:spcBef>
              <a:spcAft>
                <a:spcPts val="1800"/>
              </a:spcAft>
              <a:buNone/>
            </a:pPr>
            <a:endParaRPr lang="de-CH" altLang="en-US" sz="1600" dirty="0">
              <a:latin typeface="Arial Unicode MS" pitchFamily="34" charset="-128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3682752" cy="954360"/>
          </a:xfrm>
        </p:spPr>
        <p:txBody>
          <a:bodyPr/>
          <a:lstStyle/>
          <a:p>
            <a:pPr eaLnBrk="1" hangingPunct="1"/>
            <a:r>
              <a:rPr lang="de-CH" altLang="en-US" sz="3600" b="1" dirty="0" smtClean="0">
                <a:latin typeface="Arial Unicode MS" pitchFamily="34" charset="-128"/>
              </a:rPr>
              <a:t>Other types of fC</a:t>
            </a:r>
            <a:br>
              <a:rPr lang="de-CH" altLang="en-US" sz="3600" b="1" dirty="0" smtClean="0">
                <a:latin typeface="Arial Unicode MS" pitchFamily="34" charset="-128"/>
              </a:rPr>
            </a:br>
            <a:r>
              <a:rPr lang="de-CH" altLang="en-US" sz="2800" b="1" dirty="0" smtClean="0">
                <a:latin typeface="Arial Unicode MS" pitchFamily="34" charset="-128"/>
              </a:rPr>
              <a:t>(not covered here)</a:t>
            </a:r>
            <a:endParaRPr lang="en-US" altLang="en-US" sz="2800" b="1" dirty="0" smtClean="0"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880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uiExpand="1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4074</TotalTime>
  <Words>2113</Words>
  <Application>Microsoft Office PowerPoint</Application>
  <PresentationFormat>On-screen Show (4:3)</PresentationFormat>
  <Paragraphs>316</Paragraphs>
  <Slides>34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AdvTT5235d5a9</vt:lpstr>
      <vt:lpstr>Arial</vt:lpstr>
      <vt:lpstr>Arial Rounded MT Bold</vt:lpstr>
      <vt:lpstr>Arial Unicode MS</vt:lpstr>
      <vt:lpstr>Calibri</vt:lpstr>
      <vt:lpstr>Cambria Math</vt:lpstr>
      <vt:lpstr>Times New Roman</vt:lpstr>
      <vt:lpstr>Office Theme</vt:lpstr>
      <vt:lpstr>PowerPoint Presentation</vt:lpstr>
      <vt:lpstr>Structural, functional &amp; effective connectivity</vt:lpstr>
      <vt:lpstr>Structural vs Functional connectivity</vt:lpstr>
      <vt:lpstr>PowerPoint Presentation</vt:lpstr>
      <vt:lpstr>Functional Connectivity (in fMRI)</vt:lpstr>
      <vt:lpstr>PowerPoint Presentation</vt:lpstr>
      <vt:lpstr>PowerPoint Presentation</vt:lpstr>
      <vt:lpstr>Multivariate fC</vt:lpstr>
      <vt:lpstr>PCA vs ICA</vt:lpstr>
      <vt:lpstr>Multivariate fC</vt:lpstr>
      <vt:lpstr>ICA RSNs</vt:lpstr>
      <vt:lpstr>ICA RSNs</vt:lpstr>
      <vt:lpstr>Multivariate fC</vt:lpstr>
      <vt:lpstr>ROI-based fC</vt:lpstr>
      <vt:lpstr>ROI-based fC</vt:lpstr>
      <vt:lpstr>ROI-based fC</vt:lpstr>
      <vt:lpstr>Motion Artefacts</vt:lpstr>
      <vt:lpstr>Motion Artefacts</vt:lpstr>
      <vt:lpstr>Physiological Artefacts</vt:lpstr>
      <vt:lpstr>Task-based fC</vt:lpstr>
      <vt:lpstr>1. BSR</vt:lpstr>
      <vt:lpstr>PowerPoint Presentation</vt:lpstr>
      <vt:lpstr>PowerPoint Presentation</vt:lpstr>
      <vt:lpstr>PowerPoint Presentation</vt:lpstr>
      <vt:lpstr>Effective-connectivity: Definitions of Causality?</vt:lpstr>
      <vt:lpstr>Effective-connectivity: Definitions of Causality?</vt:lpstr>
      <vt:lpstr>PowerPoint Presentation</vt:lpstr>
      <vt:lpstr>3. Explicit Network Models of Causality</vt:lpstr>
      <vt:lpstr>Effective-connectivity: Definitions of Causality?</vt:lpstr>
      <vt:lpstr>4. Temporal definition of Causality</vt:lpstr>
      <vt:lpstr>4. Note on temporal causality and fMRI</vt:lpstr>
      <vt:lpstr>=&gt; Development of DCM</vt:lpstr>
      <vt:lpstr>Rough comparison of popular methods?</vt:lpstr>
      <vt:lpstr>Other types of fC (not covered here)</vt:lpstr>
    </vt:vector>
  </TitlesOfParts>
  <Company>Medical Research Council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Rik Henson</dc:creator>
  <cp:lastModifiedBy>Rik Henson</cp:lastModifiedBy>
  <cp:revision>250</cp:revision>
  <dcterms:created xsi:type="dcterms:W3CDTF">2012-05-24T13:28:14Z</dcterms:created>
  <dcterms:modified xsi:type="dcterms:W3CDTF">2026-07-28T13:36:33Z</dcterms:modified>
</cp:coreProperties>
</file>